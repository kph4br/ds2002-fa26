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8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0"/>
    <p:restoredTop sz="94628"/>
  </p:normalViewPr>
  <p:slideViewPr>
    <p:cSldViewPr snapToGrid="0">
      <p:cViewPr varScale="1">
        <p:scale>
          <a:sx n="108" d="100"/>
          <a:sy n="108" d="100"/>
        </p:scale>
        <p:origin x="232"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Spend about one minute here before opening any code. We are learning how to approach a file we did not create. Pandas provides the methods, but our job is to understand the records and make defensible decisions. The deliverable is a usable dataset and an explanation of what changed. Ask students where files they have worked with have surprised them.</a:t>
            </a:r>
          </a:p>
          <a:p>
            <a:r>
              <a:t>Source: https://github.com/jasontpv/DS2002FA26/blob/main/notebooks/03-pandas-cleaning/2026-09-21%20%E2%80%94%20Data%20Cleaning%20(types%2C%20missing%2C%20duplicates)%20%E2%80%94%20Lecture.ipynb</a:t>
            </a:r>
          </a:p>
          <a:p>
            <a:r>
              <a:t>Notebook sections: What today is about; Why this gets a whole class.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dataset before showing the first DataFrame. The notebook reads a public teaching dataset from the justmarkham/DAT8 GitHub repository, not a live Chipotle sales system. TSV means tab-separated values, so read_csv needs sep="\t". Its five columns are order_id, quantity, item_name, choice_description and item_price. Later we switch briefly to eight synthetic sales rows with deliberately mixed types, naming, missingness, duplicates and dates, then return to the real file.</a:t>
            </a:r>
          </a:p>
          <a:p>
            <a:r>
              <a:t>Dataset: https://raw.githubusercontent.com/justmarkham/DAT8/master/data/chipotle.tsv</a:t>
            </a:r>
          </a:p>
          <a:p>
            <a:r>
              <a:t>Source: https://github.com/jasontpv/DS2002FA26/blob/main/notebooks/03-pandas-cleaning/2026-09-21%20%E2%80%94%20Data%20Cleaning%20(types%2C%20missing%2C%20duplicates)%20%E2%80%94%20Lecture.ipynb</a:t>
            </a:r>
          </a:p>
          <a:p>
            <a:r>
              <a:t>Notebook sections: Part 1 opening; Part 2 eight-row exercise.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work as a business question before a list of pandas methods. Ask: if two analysts report different revenue from the same file, what would you want to inspect? Their definitions, exclusions and duplicate decisions matter. Do not reveal the final cleaned total yet. The existing Today’s work slide follows and describes the sequence: inspect the real file, practice repairs, then finish and save. Keep these three context slides to about three minutes in total.</a:t>
            </a:r>
          </a:p>
          <a:p>
            <a:r>
              <a:t>Source: https://github.com/jasontpv/DS2002FA26/blob/main/notebooks/03-pandas-cleaning/2026-09-21%20%E2%80%94%20Data%20Cleaning%20(types%2C%20missing%2C%20duplicates)%20%E2%80%94%20Lecture.ipynb</a:t>
            </a:r>
          </a:p>
          <a:p>
            <a:r>
              <a:t>Notebook sections: Why this gets a whole class; Part 1 missing values, duplicates and revenue; Part 3 reporting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question: what would you check before answering this money question? Take two student answers. By the end, students should be able to inspect types and missingness, justify a duplicate or missing-value decision, and verify a saved result.</a:t>
            </a:r>
          </a:p>
          <a:p>
            <a:endParaRPr/>
          </a:p>
          <a:p>
            <a:r>
              <a:t>Notebook reference: What today is about</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values from the beginning of the Chipotle example, with spaces omitted for clarity. Ask students to predict what sum does to text before showing the live output. In the real file the result is a 28,862-character string. The lack of an exception is the point.</a:t>
            </a:r>
          </a:p>
          <a:p>
            <a:endParaRPr/>
          </a:p>
          <a:p>
            <a:r>
              <a:t>Notebook reference: Part 1, ask your question and watch it fail</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file is somebody’s record of something. Systems and people make mistakes, but a suspicious value is not proof of an error. In particular, negative quantities may represent refunds. The notebook’s first four quality categories are directly addressable through inspection and cleaning.</a:t>
            </a:r>
          </a:p>
          <a:p>
            <a:endParaRPr/>
          </a:p>
          <a:p>
            <a:r>
              <a:t>Notebook reference: Why this gets a whole class</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notebook, read_csv uses sep="\t" because the file is tab-separated. Run the inspection sequence before trying to fix anything. describe() summarizes numeric columns by default on this mixed table. A numeric order ID is an identifier, so its average does not answer a useful business question.</a:t>
            </a:r>
          </a:p>
          <a:p>
            <a:endParaRPr/>
          </a:p>
          <a:p>
            <a:r>
              <a:t>Notebook reference: Part 1, Steps 1–6</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grain as what a row represents. The first order contains multiple items. Ask what would disappear if we kept only one row for each order_id. The answer is legitimate line items, not duplicate orders. This distinction must precede deduplication.</a:t>
            </a:r>
          </a:p>
          <a:p>
            <a:endParaRPr/>
          </a:p>
          <a:p>
            <a:r>
              <a:t>Notebook reference: Part 1, Step 3 and Step 5</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Chipotle blank descriptions cluster in items such as chips and bottled water. Keep them. Do not generalize that all blanks are harmless. Later, coercion will surface missing quantities in the teaching data. Ask: which of these choices could change revenue?</a:t>
            </a:r>
          </a:p>
          <a:p>
            <a:endParaRPr/>
          </a:p>
          <a:p>
            <a:r>
              <a:t>Notebook reference: Part 1, Step 4; Part 2, Fix 3</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students to argue both interpretations of the exact duplicates. We follow the notebook’s removal policy as a classroom assumption, not a proven fact about the source. drop_duplicates(subset=["order_id"]) would delete 2,788 rows and is inappropriate at this grain.</a:t>
            </a:r>
          </a:p>
          <a:p>
            <a:endParaRPr/>
          </a:p>
          <a:p>
            <a:r>
              <a:t>Notebook reference: Part 1, Step 5; Part 3, duplicate decision</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what the price column name proves. It proves very little. In the notebook, inspecting rows with quantity greater than one reveals that the Chipotle item_price already totals the line. The synthetic exercise uses unit prices. Keep this distinction visible during the switch.</a:t>
            </a:r>
          </a:p>
          <a:p>
            <a:endParaRPr/>
          </a:p>
          <a:p>
            <a:r>
              <a:t>Notebook reference: Part 1, check rows with quantity &gt; 1; Part 2, revenue calculation</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pacing: arrive here after roughly 10–12 minutes. Switch to Part 1 and run it live. Pause after the string sum. Strip the dollar sign, convert price, inspect quantities greater than one, then calculate revenue and average order. Return to slide 11 when introducing the small teaching dataset.</a:t>
            </a:r>
          </a:p>
          <a:p>
            <a:endParaRPr/>
          </a:p>
          <a:p>
            <a:r>
              <a:t>Notebook reference: Part 1</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only a few rows aloud. Invite students to find an exact repeat, a missing quantity, a negative quantity, a text variant, and a blank item. The visible space marker after UVA T-Shirt indicates the trailing space in the source. The table omits ts to keep the rows readable; slide 15 covers dates. pandas normally recognizes NULL as missing during read_csv, so quantity may already be numeric with NaN. Inspect the actual output instead of claiming it must be text.</a:t>
            </a:r>
          </a:p>
          <a:p>
            <a:endParaRPr/>
          </a:p>
          <a:p>
            <a:r>
              <a:t>Notebook reference: Part 2, eight-row raw dataset and inventory</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Part 2 Fixes 2 and 3. For price, the supplied strings can be cleaned and converted with astype(float). For qty, inspect how read_csv already handled NULL, then demonstrate to_numeric(errors="coerce"). Count nulls after conversion. Avoid generic removal of all punctuation: parentheses or minus signs can carry the sign of a value.</a:t>
            </a:r>
          </a:p>
          <a:p>
            <a:endParaRPr/>
          </a:p>
          <a:p>
            <a:r>
              <a:t>Notebook reference: Part 2, Fixes 2–3</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what question are we answering? The notebook treats the negative row as a refund for the exercise. Confirm that meaning in real work. It drops the missing-quantity row and excludes the negative row for gross units. Report both counts. Dropping one of eight rows is a substantial share, so do not call the loss negligible. The code keeps qty &gt; 0, which also excludes zero if present.</a:t>
            </a:r>
          </a:p>
          <a:p>
            <a:endParaRPr/>
          </a:p>
          <a:p>
            <a:r>
              <a:t>Notebook reference: Part 2, Fix 3; Practice 2</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Demonstrate strip, lower and replace. Ask whether apparel must always belong in merch. It depends on the analysis, so the mapping makes that choice reviewable. Normalization can create newly identical rows in other datasets, which is one reason to recheck duplicates afterward.</a:t>
            </a:r>
          </a:p>
          <a:p>
            <a:endParaRPr/>
          </a:p>
          <a:p>
            <a:r>
              <a:t>Notebook reference: Part 2, Fix 4</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format="mixed" handles multiple formats, but it cannot prove the intended meaning of an ambiguous date. The source explicitly uses the US convention. Count NaT and explain whether those rows remain. Demonstrate dt.hour only after parsing. A datetime dtype by itself does not mean every timestamp is present.</a:t>
            </a:r>
          </a:p>
          <a:p>
            <a:endParaRPr/>
          </a:p>
          <a:p>
            <a:r>
              <a:t>Notebook reference: Part 2, Fix 5</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sequence in the small exercise. It is a useful starting point rather than a universal law. Uniqueness may need a second check after normalization. Every removal should have a count, and every mapping should have a reason.</a:t>
            </a:r>
          </a:p>
          <a:p>
            <a:endParaRPr/>
          </a:p>
          <a:p>
            <a:r>
              <a:t>Notebook reference: Part 2, The order matters</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each assertion in plain English. The full notebook also checks datetime dtype and lowercase categories. In the real-file section it asserts nonmissing prices. Distinguish structural checks from proof of real-world correctness. Run assertions again whenever the source or the cleaning rules change.</a:t>
            </a:r>
          </a:p>
          <a:p>
            <a:endParaRPr/>
          </a:p>
          <a:p>
            <a:r>
              <a:t>Notebook reference: Part 2, Prove it; Part 3, assertions</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Return to Part 3. Price conversion already happened. Retain blank choices, remove exact duplicate rows under the stated assumption, normalize hyphens and whitespace, and map Canned Soda to Canned Soft Drink. Revenue changes by about 0.94%. Name consolidation changes group totals and rankings, not total revenue. This is the report students should be able to explain.</a:t>
            </a:r>
          </a:p>
          <a:p>
            <a:endParaRPr/>
          </a:p>
          <a:p>
            <a:r>
              <a:t>Notebook reference: Part 3, finish the real file</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the final save cell. Show the actual output path and row count after readback. CSV stores values without a full dtype schema, so subsequent reads may need type and date handling. Keep the raw source and cleaning code for reproducibility. The notebook uses a temporary directory outside Colab, not a durable course folder.</a:t>
            </a:r>
          </a:p>
          <a:p>
            <a:endParaRPr/>
          </a:p>
          <a:p>
            <a:r>
              <a:t>Notebook reference: Clean once, save it; file persistence</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Practice 1 uses the cleaned synthetic dataset, not food. The category totals from the supplied rules are merch $60.00, raingear $24.00, food $22.50. Gross units are 10 and gross revenue $106.50. Practice 2 keeps the -3 refund and still excludes the missing quantity: net units 7 and net revenue $88.50. Let students find these values themselves. Revenue alone does not settle restocking without cost, margin, stock and demand information.</a:t>
            </a:r>
          </a:p>
          <a:p>
            <a:endParaRPr/>
          </a:p>
          <a:p>
            <a:r>
              <a:t>Notebook reference: Practice 1 and Practice 2</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an exit check. Ask one student to name a change that requires business context and another to name a condition an assertion can verify. Preview independent work in the Cleaning Clinic and larger-file practice in the Cleaning Gauntlet.</a:t>
            </a:r>
          </a:p>
          <a:p>
            <a:endParaRPr/>
          </a:p>
          <a:p>
            <a:r>
              <a:t>Notebook reference: Closing and next sessions</a:t>
            </a:r>
          </a:p>
          <a:p>
            <a:r>
              <a:t>Source: https://github.com/jasontpv/DS2002FA26/blob/main/notebooks/03-pandas-cleaning/2026-09-21%20%E2%80%94%20Data%20Cleaning%20(types%2C%20missing%2C%20duplicates)%20%E2%80%94%20Lecture.ipynb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buNone/>
              <a:defRPr sz="6000">
                <a:solidFill>
                  <a:srgbClr val="24323E"/>
                </a:solidFill>
                <a:latin typeface="Times New Roman"/>
                <a:ea typeface="Times New Roman"/>
                <a:cs typeface="Times New Roman"/>
              </a:defRPr>
            </a:lvl1pPr>
          </a:lstStyle>
          <a:p>
            <a:r>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a:ea typeface="Times New Roman"/>
                <a:cs typeface="Times New Roma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idx="10"/>
          </p:nvPr>
        </p:nvSpPr>
        <p:spPr/>
        <p:txBody>
          <a:bodyPr/>
          <a:lstStyle/>
          <a:p>
            <a:fld id="{507A6976-490E-4B03-A9C3-CCC3E2FE72FE}" type="datetimeFigureOut">
              <a:t>9/21/26</a:t>
            </a:fld>
            <a:endParaRPr/>
          </a:p>
        </p:txBody>
      </p:sp>
      <p:sp>
        <p:nvSpPr>
          <p:cNvPr id="8" name="Rectangle 7">
            <a:extLst>
              <a:ext uri="{FF2B5EF4-FFF2-40B4-BE49-F238E27FC236}">
                <a16:creationId xmlns:a16="http://schemas.microsoft.com/office/drawing/2014/main" id="{4C8F91D3-C175-4E31-94F8-8954545A1943}"/>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Footer Placeholder 4">
            <a:extLst>
              <a:ext uri="{FF2B5EF4-FFF2-40B4-BE49-F238E27FC236}">
                <a16:creationId xmlns:a16="http://schemas.microsoft.com/office/drawing/2014/main" id="{FA02294C-7E6C-45B8-8A66-9C558CA7B94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5869651-5CF9-4A71-BA2D-52C300D681FD}"/>
              </a:ext>
            </a:extLst>
          </p:cNvPr>
          <p:cNvSpPr>
            <a:spLocks noGrp="1"/>
          </p:cNvSpPr>
          <p:nvPr>
            <p:ph type="sldNum" idx="12"/>
          </p:nvPr>
        </p:nvSpPr>
        <p:spPr/>
        <p:txBody>
          <a:bodyPr/>
          <a:lstStyle/>
          <a:p>
            <a:fld id="{D5D0E0BB-C5BC-4E94-AD2F-C01416FBA9AF}" type="slidenum">
              <a:t>‹#›</a:t>
            </a:fld>
            <a:endParaRPr/>
          </a:p>
        </p:txBody>
      </p:sp>
      <p:pic>
        <p:nvPicPr>
          <p:cNvPr id="16" name="Picture 2"/>
          <p:cNvPicPr>
            <a:picLocks noChangeAspect="1"/>
          </p:cNvPicPr>
          <p:nvPr/>
        </p:nvPicPr>
        <p:blipFill>
          <a:blip r:embed="rId2"/>
          <a:srcRect/>
          <a:stretch>
            <a:fillRect/>
          </a:stretch>
        </p:blipFill>
        <p:spPr>
          <a:xfrm>
            <a:off x="418010" y="6356350"/>
            <a:ext cx="3238500" cy="37147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buNone/>
              <a:defRPr sz="6000">
                <a:solidFill>
                  <a:srgbClr val="24323E"/>
                </a:solidFill>
                <a:latin typeface="Times New Roman"/>
                <a:ea typeface="Times New Roman"/>
                <a:cs typeface="Times New Roman"/>
              </a:defRPr>
            </a:lvl1pPr>
          </a:lstStyle>
          <a:p>
            <a:r>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a:ea typeface="Times New Roman"/>
                <a:cs typeface="Times New Roma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idx="10"/>
          </p:nvPr>
        </p:nvSpPr>
        <p:spPr/>
        <p:txBody>
          <a:bodyPr/>
          <a:lstStyle/>
          <a:p>
            <a:fld id="{507A6976-490E-4B03-A9C3-CCC3E2FE72FE}" type="datetimeFigureOut">
              <a:t>9/21/26</a:t>
            </a:fld>
            <a:endParaRPr/>
          </a:p>
        </p:txBody>
      </p:sp>
      <p:sp>
        <p:nvSpPr>
          <p:cNvPr id="8" name="Rectangle 7">
            <a:extLst>
              <a:ext uri="{FF2B5EF4-FFF2-40B4-BE49-F238E27FC236}">
                <a16:creationId xmlns:a16="http://schemas.microsoft.com/office/drawing/2014/main" id="{4C8F91D3-C175-4E31-94F8-8954545A1943}"/>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4" name="Picture 2"/>
          <p:cNvPicPr>
            <a:picLocks noChangeAspect="1"/>
          </p:cNvPicPr>
          <p:nvPr/>
        </p:nvPicPr>
        <p:blipFill>
          <a:blip r:embed="rId2"/>
          <a:srcRect/>
          <a:stretch>
            <a:fillRect/>
          </a:stretch>
        </p:blipFill>
        <p:spPr>
          <a:xfrm>
            <a:off x="8374463" y="6356350"/>
            <a:ext cx="3238500" cy="37147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A6A8-583C-4B61-8542-D7C3862AEDAC}"/>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3" name="Content Placeholder 2">
            <a:extLst>
              <a:ext uri="{FF2B5EF4-FFF2-40B4-BE49-F238E27FC236}">
                <a16:creationId xmlns:a16="http://schemas.microsoft.com/office/drawing/2014/main" id="{BCA15F41-01A7-4EFA-A30D-6156DE46DB72}"/>
              </a:ext>
            </a:extLst>
          </p:cNvPr>
          <p:cNvSpPr>
            <a:spLocks noGrp="1"/>
          </p:cNvSpPr>
          <p:nvPr>
            <p:ph idx="1"/>
          </p:nvPr>
        </p:nvSpPr>
        <p:spPr>
          <a:xfrm>
            <a:off x="425802" y="1551008"/>
            <a:ext cx="11178526" cy="4625955"/>
          </a:xfrm>
        </p:spPr>
        <p:txBody>
          <a:bodyPr/>
          <a:lstStyle>
            <a:lvl1pPr marL="228600" indent="-228600">
              <a:buClr>
                <a:srgbClr val="24323E"/>
              </a:buClr>
              <a:buFont typeface="Wingdings"/>
              <a:buChar char="§"/>
              <a:defRPr>
                <a:solidFill>
                  <a:srgbClr val="24323E"/>
                </a:solidFill>
                <a:latin typeface="Times New Roman"/>
                <a:ea typeface="Times New Roman"/>
                <a:cs typeface="Times New Roman"/>
              </a:defRPr>
            </a:lvl1pPr>
            <a:lvl2pPr marL="685800" indent="-228600">
              <a:buClr>
                <a:srgbClr val="F67132"/>
              </a:buClr>
              <a:buFont typeface="Wingdings"/>
              <a:buChar char="§"/>
              <a:defRPr>
                <a:solidFill>
                  <a:srgbClr val="24323E"/>
                </a:solidFill>
                <a:latin typeface="Times New Roman"/>
                <a:ea typeface="Times New Roman"/>
                <a:cs typeface="Times New Roman"/>
              </a:defRPr>
            </a:lvl2pPr>
            <a:lvl3pPr marL="1143000" indent="-228600">
              <a:buClr>
                <a:srgbClr val="24323E"/>
              </a:buClr>
              <a:buFont typeface="Wingdings"/>
              <a:buChar char="§"/>
              <a:defRPr>
                <a:solidFill>
                  <a:srgbClr val="24323E"/>
                </a:solidFill>
                <a:latin typeface="Times New Roman"/>
                <a:ea typeface="Times New Roman"/>
                <a:cs typeface="Times New Roman"/>
              </a:defRPr>
            </a:lvl3pPr>
            <a:lvl4pPr marL="1600200" indent="-228600">
              <a:buClr>
                <a:srgbClr val="F67132"/>
              </a:buClr>
              <a:buFont typeface="Wingdings"/>
              <a:buChar char="§"/>
              <a:defRPr>
                <a:solidFill>
                  <a:srgbClr val="24323E"/>
                </a:solidFill>
                <a:latin typeface="Times New Roman"/>
                <a:ea typeface="Times New Roman"/>
                <a:cs typeface="Times New Roman"/>
              </a:defRPr>
            </a:lvl4pPr>
            <a:lvl5pPr marL="2057400" indent="-228600">
              <a:buClr>
                <a:srgbClr val="24323E"/>
              </a:buClr>
              <a:buFont typeface="Wingdings"/>
              <a:buChar char="§"/>
              <a:defRPr>
                <a:solidFill>
                  <a:srgbClr val="24323E"/>
                </a:solidFill>
                <a:latin typeface="Times New Roman"/>
                <a:ea typeface="Times New Roman"/>
                <a:cs typeface="Times New Roman"/>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DE138A0-9F3C-4D4E-A5BB-5DB1CA18D5A6}"/>
              </a:ext>
            </a:extLst>
          </p:cNvPr>
          <p:cNvSpPr>
            <a:spLocks noGrp="1"/>
          </p:cNvSpPr>
          <p:nvPr>
            <p:ph type="dt" idx="10"/>
          </p:nvPr>
        </p:nvSpPr>
        <p:spPr/>
        <p:txBody>
          <a:bodyPr/>
          <a:lstStyle/>
          <a:p>
            <a:fld id="{507A6976-490E-4B03-A9C3-CCC3E2FE72FE}" type="datetimeFigureOut">
              <a:t>9/21/26</a:t>
            </a:fld>
            <a:endParaRPr/>
          </a:p>
        </p:txBody>
      </p:sp>
      <p:sp>
        <p:nvSpPr>
          <p:cNvPr id="5" name="Footer Placeholder 4">
            <a:extLst>
              <a:ext uri="{FF2B5EF4-FFF2-40B4-BE49-F238E27FC236}">
                <a16:creationId xmlns:a16="http://schemas.microsoft.com/office/drawing/2014/main" id="{92CBD177-DEE3-487E-963D-9D8E870EE434}"/>
              </a:ext>
            </a:extLst>
          </p:cNvPr>
          <p:cNvSpPr>
            <a:spLocks noGrp="1"/>
          </p:cNvSpPr>
          <p:nvPr>
            <p:ph type="ftr" idx="11"/>
          </p:nvPr>
        </p:nvSpPr>
        <p:spPr/>
        <p:txBody>
          <a:bodyPr/>
          <a:lstStyle/>
          <a:p>
            <a:endParaRPr/>
          </a:p>
        </p:txBody>
      </p:sp>
      <p:sp>
        <p:nvSpPr>
          <p:cNvPr id="8" name="Rectangle 7">
            <a:extLst>
              <a:ext uri="{FF2B5EF4-FFF2-40B4-BE49-F238E27FC236}">
                <a16:creationId xmlns:a16="http://schemas.microsoft.com/office/drawing/2014/main" id="{D05E8E3F-21E7-4D82-AF2E-88E4CEF77843}"/>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Slide Number Placeholder 5">
            <a:extLst>
              <a:ext uri="{FF2B5EF4-FFF2-40B4-BE49-F238E27FC236}">
                <a16:creationId xmlns:a16="http://schemas.microsoft.com/office/drawing/2014/main" id="{AAC36415-0399-430F-A5BD-465C7170F859}"/>
              </a:ext>
            </a:extLst>
          </p:cNvPr>
          <p:cNvSpPr>
            <a:spLocks noGrp="1"/>
          </p:cNvSpPr>
          <p:nvPr>
            <p:ph type="sldNum" idx="12"/>
          </p:nvPr>
        </p:nvSpPr>
        <p:spPr/>
        <p:txBody>
          <a:bodyPr/>
          <a:lstStyle/>
          <a:p>
            <a:fld id="{D5D0E0BB-C5BC-4E94-AD2F-C01416FBA9AF}" type="slidenum">
              <a:t>‹#›</a:t>
            </a:fld>
            <a:endParaRPr/>
          </a:p>
        </p:txBody>
      </p:sp>
      <p:sp>
        <p:nvSpPr>
          <p:cNvPr id="7" name="Rectangle 6">
            <a:extLst>
              <a:ext uri="{FF2B5EF4-FFF2-40B4-BE49-F238E27FC236}">
                <a16:creationId xmlns:a16="http://schemas.microsoft.com/office/drawing/2014/main" id="{A04CB88B-2595-4D36-8F78-87400EF726A3}"/>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1" name="Picture 12"/>
          <p:cNvPicPr>
            <a:picLocks noChangeAspect="1"/>
          </p:cNvPicPr>
          <p:nvPr/>
        </p:nvPicPr>
        <p:blipFill>
          <a:blip r:embed="rId3"/>
          <a:stretch>
            <a:fillRect/>
          </a:stretch>
        </p:blipFill>
        <p:spPr>
          <a:xfrm>
            <a:off x="8632729" y="6356350"/>
            <a:ext cx="3113396" cy="397339"/>
          </a:xfrm>
          <a:prstGeom prst="rect">
            <a:avLst/>
          </a:prstGeom>
        </p:spPr>
      </p:pic>
      <p:sp>
        <p:nvSpPr>
          <p:cNvPr id="19" name="Text Placeholder 1">
            <a:extLst>
              <a:ext uri="{FF2B5EF4-FFF2-40B4-BE49-F238E27FC236}">
                <a16:creationId xmlns:a16="http://schemas.microsoft.com/office/drawing/2014/main" id="{9E59CDD5-C42A-49A7-B529-8E24FDD70315}"/>
              </a:ext>
            </a:extLst>
          </p:cNvPr>
          <p:cNvSpPr>
            <a:spLocks noGrp="1"/>
          </p:cNvSpPr>
          <p:nvPr>
            <p:ph type="body" idx="13"/>
          </p:nvPr>
        </p:nvSpPr>
        <p:spPr>
          <a:xfrm>
            <a:off x="426424" y="939739"/>
            <a:ext cx="10268584" cy="369332"/>
          </a:xfrm>
        </p:spPr>
        <p:txBody>
          <a:bodyPr/>
          <a:lstStyle>
            <a:lvl1pPr marL="0" indent="0">
              <a:buFontTx/>
              <a:buNone/>
              <a:defRPr>
                <a:solidFill>
                  <a:srgbClr val="24323E"/>
                </a:solidFill>
                <a:latin typeface="Times New Roman"/>
                <a:ea typeface="Times New Roman"/>
                <a:cs typeface="Times New Roman"/>
              </a:defRPr>
            </a:lvl1pPr>
          </a:lstStyle>
          <a:p>
            <a:r>
              <a:rPr sz="2400"/>
              <a:t>Full DevOps Capability for Machine Learning Development &amp; Operationalization</a:t>
            </a:r>
          </a:p>
        </p:txBody>
      </p:sp>
      <p:sp>
        <p:nvSpPr>
          <p:cNvPr id="18" name="Oval 17">
            <a:extLst>
              <a:ext uri="{FF2B5EF4-FFF2-40B4-BE49-F238E27FC236}">
                <a16:creationId xmlns:a16="http://schemas.microsoft.com/office/drawing/2014/main" id="{90CA6DF7-67F2-4590-8C5E-D082420E6F59}"/>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4"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9843-407A-43C4-8943-ECDF4278F11F}"/>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751746FA-46B8-40D1-87A2-85412956C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8BB9FEF9-D3D1-4020-A429-5BE1AE937B6A}"/>
              </a:ext>
            </a:extLst>
          </p:cNvPr>
          <p:cNvSpPr>
            <a:spLocks noGrp="1"/>
          </p:cNvSpPr>
          <p:nvPr>
            <p:ph type="dt" idx="10"/>
          </p:nvPr>
        </p:nvSpPr>
        <p:spPr/>
        <p:txBody>
          <a:bodyPr/>
          <a:lstStyle/>
          <a:p>
            <a:fld id="{507A6976-490E-4B03-A9C3-CCC3E2FE72FE}" type="datetimeFigureOut">
              <a:t>9/21/26</a:t>
            </a:fld>
            <a:endParaRPr/>
          </a:p>
        </p:txBody>
      </p:sp>
      <p:sp>
        <p:nvSpPr>
          <p:cNvPr id="5" name="Footer Placeholder 4">
            <a:extLst>
              <a:ext uri="{FF2B5EF4-FFF2-40B4-BE49-F238E27FC236}">
                <a16:creationId xmlns:a16="http://schemas.microsoft.com/office/drawing/2014/main" id="{FE8D5D15-1BF4-49C1-8A7A-416D917E596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C98E9D6-4AB0-4D21-812F-CF16AF25C91E}"/>
              </a:ext>
            </a:extLst>
          </p:cNvPr>
          <p:cNvSpPr>
            <a:spLocks noGrp="1"/>
          </p:cNvSpPr>
          <p:nvPr>
            <p:ph type="sldNum" idx="12"/>
          </p:nvPr>
        </p:nvSpPr>
        <p:spPr/>
        <p:txBody>
          <a:bodyPr/>
          <a:lstStyle/>
          <a:p>
            <a:fld id="{D5D0E0BB-C5BC-4E94-AD2F-C01416FBA9AF}" type="slidenum">
              <a:t>‹#›</a:t>
            </a:fld>
            <a:endParaRPr/>
          </a:p>
        </p:txBody>
      </p:sp>
      <p:sp>
        <p:nvSpPr>
          <p:cNvPr id="7" name="Date Placeholder 3">
            <a:extLst>
              <a:ext uri="{FF2B5EF4-FFF2-40B4-BE49-F238E27FC236}">
                <a16:creationId xmlns:a16="http://schemas.microsoft.com/office/drawing/2014/main" id="{39EC3E30-8BF2-4EDC-A69F-038FADBE04F4}"/>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9/21/26</a:t>
            </a:fld>
            <a:endParaRPr/>
          </a:p>
        </p:txBody>
      </p:sp>
      <p:sp>
        <p:nvSpPr>
          <p:cNvPr id="8" name="Rectangle 7">
            <a:extLst>
              <a:ext uri="{FF2B5EF4-FFF2-40B4-BE49-F238E27FC236}">
                <a16:creationId xmlns:a16="http://schemas.microsoft.com/office/drawing/2014/main" id="{829C2C60-7F8D-41AB-904C-3EC1F25F1425}"/>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Slide Number Placeholder 5">
            <a:extLst>
              <a:ext uri="{FF2B5EF4-FFF2-40B4-BE49-F238E27FC236}">
                <a16:creationId xmlns:a16="http://schemas.microsoft.com/office/drawing/2014/main" id="{605D592E-7C96-4AEC-BC7C-8597269C8522}"/>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0" name="Rectangle 9">
            <a:extLst>
              <a:ext uri="{FF2B5EF4-FFF2-40B4-BE49-F238E27FC236}">
                <a16:creationId xmlns:a16="http://schemas.microsoft.com/office/drawing/2014/main" id="{695CC881-5C33-44B1-805F-2F580197382A}"/>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28" name="Picture 11"/>
          <p:cNvPicPr>
            <a:picLocks noChangeAspect="1"/>
          </p:cNvPicPr>
          <p:nvPr/>
        </p:nvPicPr>
        <p:blipFill>
          <a:blip r:embed="rId3"/>
          <a:stretch>
            <a:fillRect/>
          </a:stretch>
        </p:blipFill>
        <p:spPr>
          <a:xfrm>
            <a:off x="8632729" y="6356350"/>
            <a:ext cx="3113396" cy="397339"/>
          </a:xfrm>
          <a:prstGeom prst="rect">
            <a:avLst/>
          </a:prstGeom>
        </p:spPr>
      </p:pic>
      <p:sp>
        <p:nvSpPr>
          <p:cNvPr id="14" name="Oval 13">
            <a:extLst>
              <a:ext uri="{FF2B5EF4-FFF2-40B4-BE49-F238E27FC236}">
                <a16:creationId xmlns:a16="http://schemas.microsoft.com/office/drawing/2014/main" id="{5049CD17-31D1-4801-9664-ED1B9C685CDC}"/>
              </a:ext>
            </a:extLst>
          </p:cNvPr>
          <p:cNvSpPr>
            <a:spLocks noGrp="1"/>
          </p:cNvSpPr>
          <p:nvPr/>
        </p:nvSpPr>
        <p:spPr>
          <a:xfrm>
            <a:off x="11076976" y="377318"/>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10"/>
          <p:cNvPicPr>
            <a:picLocks noChangeAspect="1"/>
          </p:cNvPicPr>
          <p:nvPr/>
        </p:nvPicPr>
        <p:blipFill rotWithShape="1">
          <a:blip r:embed="rId4"/>
          <a:srcRect r="62081" b="-3750"/>
          <a:stretch/>
        </p:blipFill>
        <p:spPr>
          <a:xfrm>
            <a:off x="11162074" y="526743"/>
            <a:ext cx="812647" cy="64233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92C1B-E274-4C74-8A5D-D8845646259C}"/>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D5BE9BE-0665-4DCE-A748-AE68B5E0A3D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7F1F7F03-C309-43EB-9987-F81D6D20C085}"/>
              </a:ext>
            </a:extLst>
          </p:cNvPr>
          <p:cNvSpPr>
            <a:spLocks noGrp="1"/>
          </p:cNvSpPr>
          <p:nvPr>
            <p:ph type="dt" idx="10"/>
          </p:nvPr>
        </p:nvSpPr>
        <p:spPr/>
        <p:txBody>
          <a:bodyPr/>
          <a:lstStyle/>
          <a:p>
            <a:fld id="{507A6976-490E-4B03-A9C3-CCC3E2FE72FE}" type="datetimeFigureOut">
              <a:t>9/21/26</a:t>
            </a:fld>
            <a:endParaRPr/>
          </a:p>
        </p:txBody>
      </p:sp>
      <p:sp>
        <p:nvSpPr>
          <p:cNvPr id="6" name="Footer Placeholder 5">
            <a:extLst>
              <a:ext uri="{FF2B5EF4-FFF2-40B4-BE49-F238E27FC236}">
                <a16:creationId xmlns:a16="http://schemas.microsoft.com/office/drawing/2014/main" id="{788CB655-6BAB-4C80-9E6D-7AB4B6F3CC4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0512FCB-42C4-443A-B165-E55BFEB58486}"/>
              </a:ext>
            </a:extLst>
          </p:cNvPr>
          <p:cNvSpPr>
            <a:spLocks noGrp="1"/>
          </p:cNvSpPr>
          <p:nvPr>
            <p:ph type="sldNum" idx="12"/>
          </p:nvPr>
        </p:nvSpPr>
        <p:spPr/>
        <p:txBody>
          <a:bodyPr/>
          <a:lstStyle/>
          <a:p>
            <a:fld id="{D5D0E0BB-C5BC-4E94-AD2F-C01416FBA9AF}" type="slidenum">
              <a:t>‹#›</a:t>
            </a:fld>
            <a:endParaRPr/>
          </a:p>
        </p:txBody>
      </p:sp>
      <p:sp>
        <p:nvSpPr>
          <p:cNvPr id="8" name="Date Placeholder 3">
            <a:extLst>
              <a:ext uri="{FF2B5EF4-FFF2-40B4-BE49-F238E27FC236}">
                <a16:creationId xmlns:a16="http://schemas.microsoft.com/office/drawing/2014/main" id="{85064EE2-38C1-45C1-B913-7210E0504085}"/>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9/21/26</a:t>
            </a:fld>
            <a:endParaRPr/>
          </a:p>
        </p:txBody>
      </p:sp>
      <p:sp>
        <p:nvSpPr>
          <p:cNvPr id="9" name="Rectangle 8">
            <a:extLst>
              <a:ext uri="{FF2B5EF4-FFF2-40B4-BE49-F238E27FC236}">
                <a16:creationId xmlns:a16="http://schemas.microsoft.com/office/drawing/2014/main" id="{4B69941A-AE8B-48D6-BC41-092F90C7EDFF}"/>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Slide Number Placeholder 5">
            <a:extLst>
              <a:ext uri="{FF2B5EF4-FFF2-40B4-BE49-F238E27FC236}">
                <a16:creationId xmlns:a16="http://schemas.microsoft.com/office/drawing/2014/main" id="{5EDBD34F-3EA6-4631-95FB-C7ABE8356313}"/>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1" name="Rectangle 10">
            <a:extLst>
              <a:ext uri="{FF2B5EF4-FFF2-40B4-BE49-F238E27FC236}">
                <a16:creationId xmlns:a16="http://schemas.microsoft.com/office/drawing/2014/main" id="{BCB19452-6632-4D41-9309-9BCB6C3758AF}"/>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3" name="Picture 12"/>
          <p:cNvPicPr>
            <a:picLocks noChangeAspect="1"/>
          </p:cNvPicPr>
          <p:nvPr/>
        </p:nvPicPr>
        <p:blipFill>
          <a:blip r:embed="rId3"/>
          <a:stretch>
            <a:fillRect/>
          </a:stretch>
        </p:blipFill>
        <p:spPr>
          <a:xfrm>
            <a:off x="8632729" y="6356350"/>
            <a:ext cx="3113396" cy="397339"/>
          </a:xfrm>
          <a:prstGeom prst="rect">
            <a:avLst/>
          </a:prstGeom>
        </p:spPr>
      </p:pic>
      <p:sp>
        <p:nvSpPr>
          <p:cNvPr id="17" name="Title 1">
            <a:extLst>
              <a:ext uri="{FF2B5EF4-FFF2-40B4-BE49-F238E27FC236}">
                <a16:creationId xmlns:a16="http://schemas.microsoft.com/office/drawing/2014/main" id="{B56D442A-5B6F-4AE6-AB1B-9E146EB7024E}"/>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19" name="Oval 18">
            <a:extLst>
              <a:ext uri="{FF2B5EF4-FFF2-40B4-BE49-F238E27FC236}">
                <a16:creationId xmlns:a16="http://schemas.microsoft.com/office/drawing/2014/main" id="{750E0DDE-09DC-4068-BB45-BA6E627017FD}"/>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6"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C0147A-A342-4D7A-A25A-B96301214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97B0977B-26B0-4D55-9C6F-9BDB92C12BD7}"/>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3514942-0798-489E-9803-EB3E32134083}"/>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04096F4-02D1-411E-B6DD-51BA3FAF6500}"/>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55BFD05A-651E-4DDA-9264-6927716D281F}"/>
              </a:ext>
            </a:extLst>
          </p:cNvPr>
          <p:cNvSpPr>
            <a:spLocks noGrp="1"/>
          </p:cNvSpPr>
          <p:nvPr>
            <p:ph type="dt" idx="10"/>
          </p:nvPr>
        </p:nvSpPr>
        <p:spPr/>
        <p:txBody>
          <a:bodyPr/>
          <a:lstStyle/>
          <a:p>
            <a:fld id="{507A6976-490E-4B03-A9C3-CCC3E2FE72FE}" type="datetimeFigureOut">
              <a:t>9/21/26</a:t>
            </a:fld>
            <a:endParaRPr/>
          </a:p>
        </p:txBody>
      </p:sp>
      <p:sp>
        <p:nvSpPr>
          <p:cNvPr id="8" name="Footer Placeholder 7">
            <a:extLst>
              <a:ext uri="{FF2B5EF4-FFF2-40B4-BE49-F238E27FC236}">
                <a16:creationId xmlns:a16="http://schemas.microsoft.com/office/drawing/2014/main" id="{4464FEC5-13F6-45CA-B72A-E436454517A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A964271-A320-48D6-9C89-EBBAC019F2AC}"/>
              </a:ext>
            </a:extLst>
          </p:cNvPr>
          <p:cNvSpPr>
            <a:spLocks noGrp="1"/>
          </p:cNvSpPr>
          <p:nvPr>
            <p:ph type="sldNum" idx="12"/>
          </p:nvPr>
        </p:nvSpPr>
        <p:spPr/>
        <p:txBody>
          <a:bodyPr/>
          <a:lstStyle/>
          <a:p>
            <a:fld id="{D5D0E0BB-C5BC-4E94-AD2F-C01416FBA9AF}" type="slidenum">
              <a:t>‹#›</a:t>
            </a:fld>
            <a:endParaRPr/>
          </a:p>
        </p:txBody>
      </p:sp>
      <p:sp>
        <p:nvSpPr>
          <p:cNvPr id="10" name="Date Placeholder 3">
            <a:extLst>
              <a:ext uri="{FF2B5EF4-FFF2-40B4-BE49-F238E27FC236}">
                <a16:creationId xmlns:a16="http://schemas.microsoft.com/office/drawing/2014/main" id="{31A71450-5691-476E-AA79-B29C74D17114}"/>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9/21/26</a:t>
            </a:fld>
            <a:endParaRPr/>
          </a:p>
        </p:txBody>
      </p:sp>
      <p:sp>
        <p:nvSpPr>
          <p:cNvPr id="11" name="Rectangle 10">
            <a:extLst>
              <a:ext uri="{FF2B5EF4-FFF2-40B4-BE49-F238E27FC236}">
                <a16:creationId xmlns:a16="http://schemas.microsoft.com/office/drawing/2014/main" id="{06295C27-5AA0-4C19-8FB4-77E5A2F860EB}"/>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Slide Number Placeholder 5">
            <a:extLst>
              <a:ext uri="{FF2B5EF4-FFF2-40B4-BE49-F238E27FC236}">
                <a16:creationId xmlns:a16="http://schemas.microsoft.com/office/drawing/2014/main" id="{A9DDD66B-75FE-469E-9AC1-596F40ADCE9D}"/>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3" name="Rectangle 12">
            <a:extLst>
              <a:ext uri="{FF2B5EF4-FFF2-40B4-BE49-F238E27FC236}">
                <a16:creationId xmlns:a16="http://schemas.microsoft.com/office/drawing/2014/main" id="{D8FA27D3-9F6B-4ED3-BB0C-CA5F61ED2350}"/>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6"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7" name="Picture 14"/>
          <p:cNvPicPr>
            <a:picLocks noChangeAspect="1"/>
          </p:cNvPicPr>
          <p:nvPr/>
        </p:nvPicPr>
        <p:blipFill>
          <a:blip r:embed="rId3"/>
          <a:stretch>
            <a:fillRect/>
          </a:stretch>
        </p:blipFill>
        <p:spPr>
          <a:xfrm>
            <a:off x="8632729" y="6356350"/>
            <a:ext cx="3113396" cy="397339"/>
          </a:xfrm>
          <a:prstGeom prst="rect">
            <a:avLst/>
          </a:prstGeom>
        </p:spPr>
      </p:pic>
      <p:sp>
        <p:nvSpPr>
          <p:cNvPr id="19" name="Title 1">
            <a:extLst>
              <a:ext uri="{FF2B5EF4-FFF2-40B4-BE49-F238E27FC236}">
                <a16:creationId xmlns:a16="http://schemas.microsoft.com/office/drawing/2014/main" id="{389D66B7-190D-45DE-8402-B0D014A7D9B9}"/>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21" name="Oval 20">
            <a:extLst>
              <a:ext uri="{FF2B5EF4-FFF2-40B4-BE49-F238E27FC236}">
                <a16:creationId xmlns:a16="http://schemas.microsoft.com/office/drawing/2014/main" id="{EBD50D10-3A04-4F7E-BCDC-6A340234FE10}"/>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40"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D0C2993-1DD0-4AF3-9263-0787DA4AD704}"/>
              </a:ext>
            </a:extLst>
          </p:cNvPr>
          <p:cNvSpPr>
            <a:spLocks noGrp="1"/>
          </p:cNvSpPr>
          <p:nvPr>
            <p:ph type="dt" idx="10"/>
          </p:nvPr>
        </p:nvSpPr>
        <p:spPr/>
        <p:txBody>
          <a:bodyPr/>
          <a:lstStyle/>
          <a:p>
            <a:fld id="{507A6976-490E-4B03-A9C3-CCC3E2FE72FE}" type="datetimeFigureOut">
              <a:t>9/21/26</a:t>
            </a:fld>
            <a:endParaRPr/>
          </a:p>
        </p:txBody>
      </p:sp>
      <p:sp>
        <p:nvSpPr>
          <p:cNvPr id="4" name="Footer Placeholder 3">
            <a:extLst>
              <a:ext uri="{FF2B5EF4-FFF2-40B4-BE49-F238E27FC236}">
                <a16:creationId xmlns:a16="http://schemas.microsoft.com/office/drawing/2014/main" id="{BD4E353D-8B96-4301-A5EA-AD77E2EBA3B4}"/>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6BB16D0-E6B6-4A0B-AA3C-82E249A56AA3}"/>
              </a:ext>
            </a:extLst>
          </p:cNvPr>
          <p:cNvSpPr>
            <a:spLocks noGrp="1"/>
          </p:cNvSpPr>
          <p:nvPr>
            <p:ph type="sldNum" idx="12"/>
          </p:nvPr>
        </p:nvSpPr>
        <p:spPr/>
        <p:txBody>
          <a:bodyPr/>
          <a:lstStyle/>
          <a:p>
            <a:fld id="{D5D0E0BB-C5BC-4E94-AD2F-C01416FBA9AF}" type="slidenum">
              <a:t>‹#›</a:t>
            </a:fld>
            <a:endParaRPr/>
          </a:p>
        </p:txBody>
      </p:sp>
      <p:sp>
        <p:nvSpPr>
          <p:cNvPr id="6" name="Date Placeholder 3">
            <a:extLst>
              <a:ext uri="{FF2B5EF4-FFF2-40B4-BE49-F238E27FC236}">
                <a16:creationId xmlns:a16="http://schemas.microsoft.com/office/drawing/2014/main" id="{582A38BB-2887-4FD9-86AB-3CB9E7DBEC04}"/>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9/21/26</a:t>
            </a:fld>
            <a:endParaRPr/>
          </a:p>
        </p:txBody>
      </p:sp>
      <p:sp>
        <p:nvSpPr>
          <p:cNvPr id="7" name="Rectangle 6">
            <a:extLst>
              <a:ext uri="{FF2B5EF4-FFF2-40B4-BE49-F238E27FC236}">
                <a16:creationId xmlns:a16="http://schemas.microsoft.com/office/drawing/2014/main" id="{B3CCC56E-2CD0-475A-BB93-F15521069102}"/>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Slide Number Placeholder 5">
            <a:extLst>
              <a:ext uri="{FF2B5EF4-FFF2-40B4-BE49-F238E27FC236}">
                <a16:creationId xmlns:a16="http://schemas.microsoft.com/office/drawing/2014/main" id="{DDC88B74-23A8-45A2-9583-9D8AECF9E8B2}"/>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9" name="Rectangle 8">
            <a:extLst>
              <a:ext uri="{FF2B5EF4-FFF2-40B4-BE49-F238E27FC236}">
                <a16:creationId xmlns:a16="http://schemas.microsoft.com/office/drawing/2014/main" id="{2EC26BE1-B69C-47D5-989E-551682669618}"/>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8"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29" name="Picture 10"/>
          <p:cNvPicPr>
            <a:picLocks noChangeAspect="1"/>
          </p:cNvPicPr>
          <p:nvPr/>
        </p:nvPicPr>
        <p:blipFill>
          <a:blip r:embed="rId3"/>
          <a:stretch>
            <a:fillRect/>
          </a:stretch>
        </p:blipFill>
        <p:spPr>
          <a:xfrm>
            <a:off x="8632729" y="6356350"/>
            <a:ext cx="3113396" cy="397339"/>
          </a:xfrm>
          <a:prstGeom prst="rect">
            <a:avLst/>
          </a:prstGeom>
        </p:spPr>
      </p:pic>
      <p:sp>
        <p:nvSpPr>
          <p:cNvPr id="15" name="Title 1">
            <a:extLst>
              <a:ext uri="{FF2B5EF4-FFF2-40B4-BE49-F238E27FC236}">
                <a16:creationId xmlns:a16="http://schemas.microsoft.com/office/drawing/2014/main" id="{4202D947-59FE-4D6C-AB1F-C647D513DC8A}"/>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17" name="Oval 16">
            <a:extLst>
              <a:ext uri="{FF2B5EF4-FFF2-40B4-BE49-F238E27FC236}">
                <a16:creationId xmlns:a16="http://schemas.microsoft.com/office/drawing/2014/main" id="{8D81744C-3842-48A6-86F7-416904F7029B}"/>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6713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idx="10"/>
          </p:nvPr>
        </p:nvSpPr>
        <p:spPr/>
        <p:txBody>
          <a:bodyPr/>
          <a:lstStyle/>
          <a:p>
            <a:fld id="{507A6976-490E-4B03-A9C3-CCC3E2FE72FE}" type="datetimeFigureOut">
              <a:t>9/21/26</a:t>
            </a:fld>
            <a:endParaRPr/>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idx="12"/>
          </p:nvPr>
        </p:nvSpPr>
        <p:spPr/>
        <p:txBody>
          <a:bodyPr/>
          <a:lstStyle/>
          <a:p>
            <a:fld id="{D5D0E0BB-C5BC-4E94-AD2F-C01416FBA9A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24323E"/>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idx="10"/>
          </p:nvPr>
        </p:nvSpPr>
        <p:spPr/>
        <p:txBody>
          <a:bodyPr/>
          <a:lstStyle/>
          <a:p>
            <a:fld id="{507A6976-490E-4B03-A9C3-CCC3E2FE72FE}" type="datetimeFigureOut">
              <a:t>9/21/26</a:t>
            </a:fld>
            <a:endParaRPr/>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idx="12"/>
          </p:nvPr>
        </p:nvSpPr>
        <p:spPr/>
        <p:txBody>
          <a:bodyPr/>
          <a:lstStyle/>
          <a:p>
            <a:fld id="{D5D0E0BB-C5BC-4E94-AD2F-C01416FBA9AF}" type="slidenum">
              <a:t>‹#›</a:t>
            </a:fld>
            <a:endParaRPr/>
          </a:p>
        </p:txBody>
      </p:sp>
      <p:pic>
        <p:nvPicPr>
          <p:cNvPr id="9" name="Picture 2"/>
          <p:cNvPicPr>
            <a:picLocks noChangeAspect="1"/>
          </p:cNvPicPr>
          <p:nvPr/>
        </p:nvPicPr>
        <p:blipFill>
          <a:blip r:embed="rId2"/>
          <a:srcRect/>
          <a:stretch>
            <a:fillRect/>
          </a:stretch>
        </p:blipFill>
        <p:spPr>
          <a:xfrm>
            <a:off x="4476750" y="6359832"/>
            <a:ext cx="3238500" cy="37147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E34D5-7482-4CE6-B180-90A803F6A53E}"/>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9FBBA1A1-080F-4E12-90B8-C54E2FD3F447}"/>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59268D64-3E2B-4344-980C-2BB500AA671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91E65543-5D41-4C04-B6CE-015F8B3CFFFC}"/>
              </a:ext>
            </a:extLst>
          </p:cNvPr>
          <p:cNvSpPr>
            <a:spLocks noGrp="1"/>
          </p:cNvSpPr>
          <p:nvPr>
            <p:ph type="dt" idx="10"/>
          </p:nvPr>
        </p:nvSpPr>
        <p:spPr/>
        <p:txBody>
          <a:bodyPr/>
          <a:lstStyle/>
          <a:p>
            <a:fld id="{507A6976-490E-4B03-A9C3-CCC3E2FE72FE}" type="datetimeFigureOut">
              <a:t>9/21/26</a:t>
            </a:fld>
            <a:endParaRPr/>
          </a:p>
        </p:txBody>
      </p:sp>
      <p:sp>
        <p:nvSpPr>
          <p:cNvPr id="6" name="Footer Placeholder 5">
            <a:extLst>
              <a:ext uri="{FF2B5EF4-FFF2-40B4-BE49-F238E27FC236}">
                <a16:creationId xmlns:a16="http://schemas.microsoft.com/office/drawing/2014/main" id="{AE8D89D3-53D3-48C8-947B-BEAE68AF668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FEB3461-3888-4647-B8BB-A0AFFE899668}"/>
              </a:ext>
            </a:extLst>
          </p:cNvPr>
          <p:cNvSpPr>
            <a:spLocks noGrp="1"/>
          </p:cNvSpPr>
          <p:nvPr>
            <p:ph type="sldNum" idx="12"/>
          </p:nvPr>
        </p:nvSpPr>
        <p:spPr/>
        <p:txBody>
          <a:bodyPr/>
          <a:lstStyle/>
          <a:p>
            <a:fld id="{D5D0E0BB-C5BC-4E94-AD2F-C01416FBA9AF}" type="slidenum">
              <a:t>‹#›</a:t>
            </a:fld>
            <a:endParaRPr/>
          </a:p>
        </p:txBody>
      </p:sp>
      <p:sp>
        <p:nvSpPr>
          <p:cNvPr id="8" name="Date Placeholder 3">
            <a:extLst>
              <a:ext uri="{FF2B5EF4-FFF2-40B4-BE49-F238E27FC236}">
                <a16:creationId xmlns:a16="http://schemas.microsoft.com/office/drawing/2014/main" id="{F48070AC-BA60-4FDB-9F03-76DEAE870C96}"/>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9/21/26</a:t>
            </a:fld>
            <a:endParaRPr/>
          </a:p>
        </p:txBody>
      </p:sp>
      <p:sp>
        <p:nvSpPr>
          <p:cNvPr id="9" name="Rectangle 8">
            <a:extLst>
              <a:ext uri="{FF2B5EF4-FFF2-40B4-BE49-F238E27FC236}">
                <a16:creationId xmlns:a16="http://schemas.microsoft.com/office/drawing/2014/main" id="{3FADB978-C6DA-42F6-A6D6-0443AD2721F1}"/>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Slide Number Placeholder 5">
            <a:extLst>
              <a:ext uri="{FF2B5EF4-FFF2-40B4-BE49-F238E27FC236}">
                <a16:creationId xmlns:a16="http://schemas.microsoft.com/office/drawing/2014/main" id="{991605CD-36F4-4F07-8ECA-7E6CCB60F7A9}"/>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1" name="Rectangle 10">
            <a:extLst>
              <a:ext uri="{FF2B5EF4-FFF2-40B4-BE49-F238E27FC236}">
                <a16:creationId xmlns:a16="http://schemas.microsoft.com/office/drawing/2014/main" id="{720E5A2E-745E-465E-84B4-A24161467CBB}"/>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3" name="Picture 12"/>
          <p:cNvPicPr>
            <a:picLocks noChangeAspect="1"/>
          </p:cNvPicPr>
          <p:nvPr/>
        </p:nvPicPr>
        <p:blipFill>
          <a:blip r:embed="rId3"/>
          <a:stretch>
            <a:fillRect/>
          </a:stretch>
        </p:blipFill>
        <p:spPr>
          <a:xfrm>
            <a:off x="8632729" y="6356350"/>
            <a:ext cx="3113396" cy="397339"/>
          </a:xfrm>
          <a:prstGeom prst="rect">
            <a:avLst/>
          </a:prstGeom>
        </p:spPr>
      </p:pic>
      <p:sp>
        <p:nvSpPr>
          <p:cNvPr id="18" name="Oval 17">
            <a:extLst>
              <a:ext uri="{FF2B5EF4-FFF2-40B4-BE49-F238E27FC236}">
                <a16:creationId xmlns:a16="http://schemas.microsoft.com/office/drawing/2014/main" id="{55921EC9-1E1A-47EA-B2C4-250D909B9C57}"/>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5"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CC13-2ADF-4673-BDF4-8000115F26B4}"/>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12EB7044-A1A9-49F4-ABF4-B746FB0DE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8FB8E2D-BD3A-493F-9A5F-D77FBBAD2A3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6264559-B16D-4AA6-A577-5BB955F44E92}"/>
              </a:ext>
            </a:extLst>
          </p:cNvPr>
          <p:cNvSpPr>
            <a:spLocks noGrp="1"/>
          </p:cNvSpPr>
          <p:nvPr>
            <p:ph type="dt" idx="10"/>
          </p:nvPr>
        </p:nvSpPr>
        <p:spPr/>
        <p:txBody>
          <a:bodyPr/>
          <a:lstStyle/>
          <a:p>
            <a:fld id="{507A6976-490E-4B03-A9C3-CCC3E2FE72FE}" type="datetimeFigureOut">
              <a:t>9/21/26</a:t>
            </a:fld>
            <a:endParaRPr/>
          </a:p>
        </p:txBody>
      </p:sp>
      <p:sp>
        <p:nvSpPr>
          <p:cNvPr id="6" name="Footer Placeholder 5">
            <a:extLst>
              <a:ext uri="{FF2B5EF4-FFF2-40B4-BE49-F238E27FC236}">
                <a16:creationId xmlns:a16="http://schemas.microsoft.com/office/drawing/2014/main" id="{A61D6D9D-AD31-4D01-8133-54A7360B51F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0A56075-A4E2-46C7-9C2F-8FCA4EBA4CD9}"/>
              </a:ext>
            </a:extLst>
          </p:cNvPr>
          <p:cNvSpPr>
            <a:spLocks noGrp="1"/>
          </p:cNvSpPr>
          <p:nvPr>
            <p:ph type="sldNum" idx="12"/>
          </p:nvPr>
        </p:nvSpPr>
        <p:spPr/>
        <p:txBody>
          <a:bodyPr/>
          <a:lstStyle/>
          <a:p>
            <a:fld id="{D5D0E0BB-C5BC-4E94-AD2F-C01416FBA9AF}" type="slidenum">
              <a:t>‹#›</a:t>
            </a:fld>
            <a:endParaRPr/>
          </a:p>
        </p:txBody>
      </p:sp>
      <p:sp>
        <p:nvSpPr>
          <p:cNvPr id="8" name="Date Placeholder 3">
            <a:extLst>
              <a:ext uri="{FF2B5EF4-FFF2-40B4-BE49-F238E27FC236}">
                <a16:creationId xmlns:a16="http://schemas.microsoft.com/office/drawing/2014/main" id="{F566203F-284C-4271-9538-EF4E7C575832}"/>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9/21/26</a:t>
            </a:fld>
            <a:endParaRPr/>
          </a:p>
        </p:txBody>
      </p:sp>
      <p:sp>
        <p:nvSpPr>
          <p:cNvPr id="9" name="Rectangle 8">
            <a:extLst>
              <a:ext uri="{FF2B5EF4-FFF2-40B4-BE49-F238E27FC236}">
                <a16:creationId xmlns:a16="http://schemas.microsoft.com/office/drawing/2014/main" id="{D2C6E445-DF60-499A-8C48-BCC0D30D7283}"/>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Slide Number Placeholder 5">
            <a:extLst>
              <a:ext uri="{FF2B5EF4-FFF2-40B4-BE49-F238E27FC236}">
                <a16:creationId xmlns:a16="http://schemas.microsoft.com/office/drawing/2014/main" id="{D0A4B937-E142-446F-90F9-C68999624990}"/>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1" name="Rectangle 10">
            <a:extLst>
              <a:ext uri="{FF2B5EF4-FFF2-40B4-BE49-F238E27FC236}">
                <a16:creationId xmlns:a16="http://schemas.microsoft.com/office/drawing/2014/main" id="{9AB07112-7DF7-4628-B876-6B30C4146CDB}"/>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2"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3" name="Picture 12"/>
          <p:cNvPicPr>
            <a:picLocks noChangeAspect="1"/>
          </p:cNvPicPr>
          <p:nvPr/>
        </p:nvPicPr>
        <p:blipFill>
          <a:blip r:embed="rId3"/>
          <a:stretch>
            <a:fillRect/>
          </a:stretch>
        </p:blipFill>
        <p:spPr>
          <a:xfrm>
            <a:off x="8632729" y="6356350"/>
            <a:ext cx="3113396" cy="397339"/>
          </a:xfrm>
          <a:prstGeom prst="rect">
            <a:avLst/>
          </a:prstGeom>
        </p:spPr>
      </p:pic>
      <p:sp>
        <p:nvSpPr>
          <p:cNvPr id="18" name="Oval 17">
            <a:extLst>
              <a:ext uri="{FF2B5EF4-FFF2-40B4-BE49-F238E27FC236}">
                <a16:creationId xmlns:a16="http://schemas.microsoft.com/office/drawing/2014/main" id="{BF7808A0-C14F-4BEA-9CDD-C49E164D8404}"/>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5"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1721FC45-7050-4DC1-BBB5-4EF6A827EE2B}"/>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E11BF11-EDE7-4544-9157-83B81AC72A8D}"/>
              </a:ext>
            </a:extLst>
          </p:cNvPr>
          <p:cNvSpPr>
            <a:spLocks noGrp="1"/>
          </p:cNvSpPr>
          <p:nvPr>
            <p:ph type="dt" idx="10"/>
          </p:nvPr>
        </p:nvSpPr>
        <p:spPr/>
        <p:txBody>
          <a:bodyPr/>
          <a:lstStyle/>
          <a:p>
            <a:fld id="{507A6976-490E-4B03-A9C3-CCC3E2FE72FE}" type="datetimeFigureOut">
              <a:t>9/21/26</a:t>
            </a:fld>
            <a:endParaRPr/>
          </a:p>
        </p:txBody>
      </p:sp>
      <p:sp>
        <p:nvSpPr>
          <p:cNvPr id="5" name="Footer Placeholder 4">
            <a:extLst>
              <a:ext uri="{FF2B5EF4-FFF2-40B4-BE49-F238E27FC236}">
                <a16:creationId xmlns:a16="http://schemas.microsoft.com/office/drawing/2014/main" id="{BEE28599-E346-4E40-8555-70F984232AF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78859DD-ADCA-48ED-8863-E30F2BA32E13}"/>
              </a:ext>
            </a:extLst>
          </p:cNvPr>
          <p:cNvSpPr>
            <a:spLocks noGrp="1"/>
          </p:cNvSpPr>
          <p:nvPr>
            <p:ph type="sldNum" idx="12"/>
          </p:nvPr>
        </p:nvSpPr>
        <p:spPr/>
        <p:txBody>
          <a:bodyPr/>
          <a:lstStyle/>
          <a:p>
            <a:fld id="{D5D0E0BB-C5BC-4E94-AD2F-C01416FBA9AF}" type="slidenum">
              <a:t>‹#›</a:t>
            </a:fld>
            <a:endParaRPr/>
          </a:p>
        </p:txBody>
      </p:sp>
      <p:sp>
        <p:nvSpPr>
          <p:cNvPr id="7" name="Date Placeholder 3">
            <a:extLst>
              <a:ext uri="{FF2B5EF4-FFF2-40B4-BE49-F238E27FC236}">
                <a16:creationId xmlns:a16="http://schemas.microsoft.com/office/drawing/2014/main" id="{564507A5-37BD-44C3-875F-309B2EEC2670}"/>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9/21/26</a:t>
            </a:fld>
            <a:endParaRPr/>
          </a:p>
        </p:txBody>
      </p:sp>
      <p:sp>
        <p:nvSpPr>
          <p:cNvPr id="8" name="Rectangle 7">
            <a:extLst>
              <a:ext uri="{FF2B5EF4-FFF2-40B4-BE49-F238E27FC236}">
                <a16:creationId xmlns:a16="http://schemas.microsoft.com/office/drawing/2014/main" id="{BCCC970A-4E11-464D-9E73-91BF7B16BE35}"/>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Slide Number Placeholder 5">
            <a:extLst>
              <a:ext uri="{FF2B5EF4-FFF2-40B4-BE49-F238E27FC236}">
                <a16:creationId xmlns:a16="http://schemas.microsoft.com/office/drawing/2014/main" id="{C4133C02-13AA-4E0D-8684-3BEF3A909A92}"/>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0" name="Rectangle 9">
            <a:extLst>
              <a:ext uri="{FF2B5EF4-FFF2-40B4-BE49-F238E27FC236}">
                <a16:creationId xmlns:a16="http://schemas.microsoft.com/office/drawing/2014/main" id="{287F7D4B-8021-4E40-881B-58CF4A21C57E}"/>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31" name="Picture 11"/>
          <p:cNvPicPr>
            <a:picLocks noChangeAspect="1"/>
          </p:cNvPicPr>
          <p:nvPr/>
        </p:nvPicPr>
        <p:blipFill>
          <a:blip r:embed="rId3"/>
          <a:stretch>
            <a:fillRect/>
          </a:stretch>
        </p:blipFill>
        <p:spPr>
          <a:xfrm>
            <a:off x="8632729" y="6356350"/>
            <a:ext cx="3113396" cy="397339"/>
          </a:xfrm>
          <a:prstGeom prst="rect">
            <a:avLst/>
          </a:prstGeom>
        </p:spPr>
      </p:pic>
      <p:sp>
        <p:nvSpPr>
          <p:cNvPr id="16" name="Title 1">
            <a:extLst>
              <a:ext uri="{FF2B5EF4-FFF2-40B4-BE49-F238E27FC236}">
                <a16:creationId xmlns:a16="http://schemas.microsoft.com/office/drawing/2014/main" id="{B6EEE38B-5D63-4BA2-8F88-3C264D3CF821}"/>
              </a:ext>
            </a:extLst>
          </p:cNvPr>
          <p:cNvSpPr>
            <a:spLocks noGrp="1"/>
          </p:cNvSpPr>
          <p:nvPr>
            <p:ph type="title"/>
          </p:nvPr>
        </p:nvSpPr>
        <p:spPr>
          <a:xfrm>
            <a:off x="425802" y="365126"/>
            <a:ext cx="10269206" cy="568264"/>
          </a:xfrm>
        </p:spPr>
        <p:txBody>
          <a:bodyPr/>
          <a:lstStyle>
            <a:lvl1pPr>
              <a:buNone/>
              <a:defRPr>
                <a:solidFill>
                  <a:srgbClr val="24323E"/>
                </a:solidFill>
                <a:latin typeface="Times New Roman"/>
                <a:ea typeface="Times New Roman"/>
                <a:cs typeface="Times New Roman"/>
              </a:defRPr>
            </a:lvl1pPr>
          </a:lstStyle>
          <a:p>
            <a:r>
              <a:t>Click to edit Master title style</a:t>
            </a:r>
          </a:p>
        </p:txBody>
      </p:sp>
      <p:sp>
        <p:nvSpPr>
          <p:cNvPr id="18" name="Oval 17">
            <a:extLst>
              <a:ext uri="{FF2B5EF4-FFF2-40B4-BE49-F238E27FC236}">
                <a16:creationId xmlns:a16="http://schemas.microsoft.com/office/drawing/2014/main" id="{C01846D5-932A-410E-B1BA-F40084784FEF}"/>
              </a:ext>
            </a:extLst>
          </p:cNvPr>
          <p:cNvSpPr>
            <a:spLocks noGrp="1"/>
          </p:cNvSpPr>
          <p:nvPr/>
        </p:nvSpPr>
        <p:spPr>
          <a:xfrm>
            <a:off x="11181572" y="161927"/>
            <a:ext cx="804724" cy="771464"/>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4" name="Picture 10"/>
          <p:cNvPicPr>
            <a:picLocks noChangeAspect="1"/>
          </p:cNvPicPr>
          <p:nvPr/>
        </p:nvPicPr>
        <p:blipFill rotWithShape="1">
          <a:blip r:embed="rId4"/>
          <a:srcRect r="62081" b="-3750"/>
          <a:stretch/>
        </p:blipFill>
        <p:spPr>
          <a:xfrm>
            <a:off x="11256881" y="294164"/>
            <a:ext cx="719170" cy="568449"/>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AF565A-D641-4F97-97FA-76BE4D7E130C}"/>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3B0B5D24-6263-4A80-9414-895E66223A90}"/>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68037AF-BAE3-4BB1-8CF8-7341FC0C9052}"/>
              </a:ext>
            </a:extLst>
          </p:cNvPr>
          <p:cNvSpPr>
            <a:spLocks noGrp="1"/>
          </p:cNvSpPr>
          <p:nvPr>
            <p:ph type="dt" idx="10"/>
          </p:nvPr>
        </p:nvSpPr>
        <p:spPr/>
        <p:txBody>
          <a:bodyPr/>
          <a:lstStyle/>
          <a:p>
            <a:fld id="{507A6976-490E-4B03-A9C3-CCC3E2FE72FE}" type="datetimeFigureOut">
              <a:t>9/21/26</a:t>
            </a:fld>
            <a:endParaRPr/>
          </a:p>
        </p:txBody>
      </p:sp>
      <p:sp>
        <p:nvSpPr>
          <p:cNvPr id="5" name="Footer Placeholder 4">
            <a:extLst>
              <a:ext uri="{FF2B5EF4-FFF2-40B4-BE49-F238E27FC236}">
                <a16:creationId xmlns:a16="http://schemas.microsoft.com/office/drawing/2014/main" id="{5B91810C-95F7-4441-BA87-CFB309551B3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8BD234A-AFB0-4695-A486-2A270860A0A1}"/>
              </a:ext>
            </a:extLst>
          </p:cNvPr>
          <p:cNvSpPr>
            <a:spLocks noGrp="1"/>
          </p:cNvSpPr>
          <p:nvPr>
            <p:ph type="sldNum" idx="12"/>
          </p:nvPr>
        </p:nvSpPr>
        <p:spPr/>
        <p:txBody>
          <a:bodyPr/>
          <a:lstStyle/>
          <a:p>
            <a:fld id="{D5D0E0BB-C5BC-4E94-AD2F-C01416FBA9AF}" type="slidenum">
              <a:t>‹#›</a:t>
            </a:fld>
            <a:endParaRPr/>
          </a:p>
        </p:txBody>
      </p:sp>
      <p:sp>
        <p:nvSpPr>
          <p:cNvPr id="7" name="Date Placeholder 3">
            <a:extLst>
              <a:ext uri="{FF2B5EF4-FFF2-40B4-BE49-F238E27FC236}">
                <a16:creationId xmlns:a16="http://schemas.microsoft.com/office/drawing/2014/main" id="{B4D0ED06-B62E-43BF-B07A-F5AFB8B16F55}"/>
              </a:ext>
            </a:extLst>
          </p:cNvPr>
          <p:cNvSpPr>
            <a:spLocks noGrp="1"/>
          </p:cNvSpPr>
          <p:nvPr/>
        </p:nvSpPr>
        <p:spPr>
          <a:xfrm>
            <a:off x="838200" y="6356350"/>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07A6976-490E-4B03-A9C3-CCC3E2FE72FE}" type="datetimeFigureOut">
              <a:t>9/21/26</a:t>
            </a:fld>
            <a:endParaRPr/>
          </a:p>
        </p:txBody>
      </p:sp>
      <p:sp>
        <p:nvSpPr>
          <p:cNvPr id="8" name="Rectangle 7">
            <a:extLst>
              <a:ext uri="{FF2B5EF4-FFF2-40B4-BE49-F238E27FC236}">
                <a16:creationId xmlns:a16="http://schemas.microsoft.com/office/drawing/2014/main" id="{9458E507-D487-4955-82CE-74626DB61F3F}"/>
              </a:ext>
            </a:extLst>
          </p:cNvPr>
          <p:cNvSpPr>
            <a:spLocks noGrp="1"/>
          </p:cNvSpPr>
          <p:nvPr/>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Slide Number Placeholder 5">
            <a:extLst>
              <a:ext uri="{FF2B5EF4-FFF2-40B4-BE49-F238E27FC236}">
                <a16:creationId xmlns:a16="http://schemas.microsoft.com/office/drawing/2014/main" id="{B1C0A531-7B30-4A21-A81B-6C9DEA3E7AA1}"/>
              </a:ext>
            </a:extLst>
          </p:cNvPr>
          <p:cNvSpPr>
            <a:spLocks noGrp="1"/>
          </p:cNvSpPr>
          <p:nvPr/>
        </p:nvSpPr>
        <p:spPr>
          <a:xfrm>
            <a:off x="8610600" y="6356350"/>
            <a:ext cx="2743200" cy="365125"/>
          </a:xfrm>
          <a:prstGeom prst="rect">
            <a:avLst/>
          </a:prstGeom>
        </p:spPr>
        <p:txBody>
          <a:bodyPr vert="horz" lIns="91440" tIns="45720" rIns="91440" bIns="45720" anchor="ctr"/>
          <a:lstStyle>
            <a:lvl1pPr marL="0" algn="r"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D5D0E0BB-C5BC-4E94-AD2F-C01416FBA9AF}" type="slidenum">
              <a:t>‹#›</a:t>
            </a:fld>
            <a:endParaRPr/>
          </a:p>
        </p:txBody>
      </p:sp>
      <p:sp>
        <p:nvSpPr>
          <p:cNvPr id="10" name="Rectangle 9">
            <a:extLst>
              <a:ext uri="{FF2B5EF4-FFF2-40B4-BE49-F238E27FC236}">
                <a16:creationId xmlns:a16="http://schemas.microsoft.com/office/drawing/2014/main" id="{C21323BC-D1EA-42FF-9D19-CE416E1EFC7B}"/>
              </a:ext>
            </a:extLst>
          </p:cNvPr>
          <p:cNvSpPr>
            <a:spLocks noGrp="1"/>
          </p:cNvSpPr>
          <p:nvPr/>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Picture 2"/>
          <p:cNvPicPr>
            <a:picLocks noChangeAspect="1"/>
          </p:cNvPicPr>
          <p:nvPr/>
        </p:nvPicPr>
        <p:blipFill>
          <a:blip r:embed="rId2"/>
          <a:srcRect/>
          <a:stretch>
            <a:fillRect/>
          </a:stretch>
        </p:blipFill>
        <p:spPr>
          <a:xfrm>
            <a:off x="418010" y="6356350"/>
            <a:ext cx="3238500" cy="371475"/>
          </a:xfrm>
          <a:prstGeom prst="rect">
            <a:avLst/>
          </a:prstGeom>
        </p:spPr>
      </p:pic>
      <p:pic>
        <p:nvPicPr>
          <p:cNvPr id="28" name="Picture 11"/>
          <p:cNvPicPr>
            <a:picLocks noChangeAspect="1"/>
          </p:cNvPicPr>
          <p:nvPr/>
        </p:nvPicPr>
        <p:blipFill>
          <a:blip r:embed="rId3"/>
          <a:stretch>
            <a:fillRect/>
          </a:stretch>
        </p:blipFill>
        <p:spPr>
          <a:xfrm>
            <a:off x="8632729" y="6356350"/>
            <a:ext cx="3113396" cy="397339"/>
          </a:xfrm>
          <a:prstGeom prst="rect">
            <a:avLst/>
          </a:prstGeom>
        </p:spPr>
      </p:pic>
      <p:sp>
        <p:nvSpPr>
          <p:cNvPr id="14" name="Oval 13">
            <a:extLst>
              <a:ext uri="{FF2B5EF4-FFF2-40B4-BE49-F238E27FC236}">
                <a16:creationId xmlns:a16="http://schemas.microsoft.com/office/drawing/2014/main" id="{3A178CFE-39AA-4BAF-8E4C-064D7855B869}"/>
              </a:ext>
            </a:extLst>
          </p:cNvPr>
          <p:cNvSpPr>
            <a:spLocks noGrp="1"/>
          </p:cNvSpPr>
          <p:nvPr/>
        </p:nvSpPr>
        <p:spPr>
          <a:xfrm>
            <a:off x="250480"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10"/>
          <p:cNvPicPr>
            <a:picLocks noChangeAspect="1"/>
          </p:cNvPicPr>
          <p:nvPr/>
        </p:nvPicPr>
        <p:blipFill rotWithShape="1">
          <a:blip r:embed="rId4"/>
          <a:srcRect r="62081" b="-3750"/>
          <a:stretch/>
        </p:blipFill>
        <p:spPr>
          <a:xfrm>
            <a:off x="335578" y="514551"/>
            <a:ext cx="812647" cy="64233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21925-1424-4D8F-AF7E-1B3B1953393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A533325-5FE6-4AB3-A20A-EC02DC2C8C3A}"/>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23AB5E8-1ACB-4ABB-8B65-AC862C347F9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07A6976-490E-4B03-A9C3-CCC3E2FE72FE}" type="datetimeFigureOut">
              <a:t>9/21/26</a:t>
            </a:fld>
            <a:endParaRPr/>
          </a:p>
        </p:txBody>
      </p:sp>
      <p:sp>
        <p:nvSpPr>
          <p:cNvPr id="5" name="Footer Placeholder 4">
            <a:extLst>
              <a:ext uri="{FF2B5EF4-FFF2-40B4-BE49-F238E27FC236}">
                <a16:creationId xmlns:a16="http://schemas.microsoft.com/office/drawing/2014/main" id="{6826ABD5-7A3E-41B2-B4E2-887CD76836C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E43BBF44-0E73-4652-846C-273B849FE42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5D0E0BB-C5BC-4E94-AD2F-C01416FBA9A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7915C-4793-4D8A-854D-31F5DC15B95B}"/>
              </a:ext>
            </a:extLst>
          </p:cNvPr>
          <p:cNvSpPr>
            <a:spLocks noGrp="1"/>
          </p:cNvSpPr>
          <p:nvPr>
            <p:ph type="ctrTitle"/>
          </p:nvPr>
        </p:nvSpPr>
        <p:spPr>
          <a:xfrm>
            <a:off x="7464614" y="1783959"/>
            <a:ext cx="4232086" cy="2889114"/>
          </a:xfrm>
        </p:spPr>
        <p:txBody>
          <a:bodyPr anchor="b">
            <a:normAutofit/>
          </a:bodyPr>
          <a:lstStyle/>
          <a:p>
            <a:pPr algn="l"/>
            <a:r>
              <a:rPr lang="en-US" sz="5400" dirty="0"/>
              <a:t>DS-2002: Data Cleaning</a:t>
            </a:r>
          </a:p>
        </p:txBody>
      </p:sp>
      <p:sp>
        <p:nvSpPr>
          <p:cNvPr id="3" name="Subtitle 2">
            <a:extLst>
              <a:ext uri="{FF2B5EF4-FFF2-40B4-BE49-F238E27FC236}">
                <a16:creationId xmlns:a16="http://schemas.microsoft.com/office/drawing/2014/main" id="{BCDC19E3-847F-4896-92C1-562A61A4DF91}"/>
              </a:ext>
            </a:extLst>
          </p:cNvPr>
          <p:cNvSpPr>
            <a:spLocks noGrp="1"/>
          </p:cNvSpPr>
          <p:nvPr>
            <p:ph type="subTitle" idx="1"/>
          </p:nvPr>
        </p:nvSpPr>
        <p:spPr>
          <a:xfrm>
            <a:off x="7464612" y="4750893"/>
            <a:ext cx="4303835" cy="426749"/>
          </a:xfrm>
        </p:spPr>
        <p:txBody>
          <a:bodyPr anchor="t">
            <a:normAutofit/>
          </a:bodyPr>
          <a:lstStyle/>
          <a:p>
            <a:pPr algn="l"/>
            <a:endParaRPr lang="en-US" sz="2000" dirty="0"/>
          </a:p>
        </p:txBody>
      </p:sp>
      <p:pic>
        <p:nvPicPr>
          <p:cNvPr id="5" name="Picture 2" descr="Virginia Cavaliers Official Athletic Site">
            <a:extLst>
              <a:ext uri="{FF2B5EF4-FFF2-40B4-BE49-F238E27FC236}">
                <a16:creationId xmlns:a16="http://schemas.microsoft.com/office/drawing/2014/main" id="{8BA30F88-915F-4765-AFB9-A6FC977708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64" r="8619" b="1"/>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A48EACD5-346E-4647-A516-131E85C7CD40}"/>
              </a:ext>
            </a:extLst>
          </p:cNvPr>
          <p:cNvSpPr txBox="1">
            <a:spLocks/>
          </p:cNvSpPr>
          <p:nvPr/>
        </p:nvSpPr>
        <p:spPr>
          <a:xfrm>
            <a:off x="7224714" y="5473308"/>
            <a:ext cx="4543734" cy="426749"/>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2000" dirty="0"/>
              <a:t>Jason Williamson - Fall 24</a:t>
            </a:r>
          </a:p>
        </p:txBody>
      </p:sp>
    </p:spTree>
    <p:extLst>
      <p:ext uri="{BB962C8B-B14F-4D97-AF65-F5344CB8AC3E}">
        <p14:creationId xmlns:p14="http://schemas.microsoft.com/office/powerpoint/2010/main" val="28434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000"/>
                                  </p:stCondLst>
                                  <p:endCondLst>
                                    <p:cond evt="begin" delay="0">
                                      <p:tn val="5"/>
                                    </p:cond>
                                  </p:end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4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What are we trying to do today?</a:t>
            </a:r>
          </a:p>
        </p:txBody>
      </p:sp>
      <p:sp>
        <p:nvSpPr>
          <p:cNvPr id="2001" name="Take an unfamiliar file and turn it into&#10;an analysis we can ">
            <a:extLst>
              <a:ext uri="{FF2B5EF4-FFF2-40B4-BE49-F238E27FC236}">
                <a16:creationId xmlns:a16="http://schemas.microsoft.com/office/drawing/2014/main" id="{4EFBDE33-A813-4CF4-8618-09E00F2048E1}"/>
              </a:ext>
            </a:extLst>
          </p:cNvPr>
          <p:cNvSpPr>
            <a:spLocks noGrp="1"/>
          </p:cNvSpPr>
          <p:nvPr/>
        </p:nvSpPr>
        <p:spPr>
          <a:xfrm>
            <a:off x="533400" y="1362075"/>
            <a:ext cx="11049000" cy="1028700"/>
          </a:xfrm>
          <a:prstGeom prst="rect">
            <a:avLst/>
          </a:prstGeom>
          <a:noFill/>
          <a:ln w="0">
            <a:noFill/>
          </a:ln>
        </p:spPr>
        <p:txBody>
          <a:bodyPr lIns="0" tIns="0" rIns="0" bIns="0" anchor="t">
            <a:noAutofit/>
          </a:bodyPr>
          <a:lstStyle/>
          <a:p>
            <a:pPr>
              <a:defRPr sz="3150" b="1">
                <a:solidFill>
                  <a:srgbClr val="24323E"/>
                </a:solidFill>
                <a:latin typeface="Calibri"/>
                <a:ea typeface="Calibri"/>
                <a:cs typeface="Calibri"/>
              </a:defRPr>
            </a:pPr>
            <a:r>
              <a:rPr sz="3150" b="1">
                <a:solidFill>
                  <a:srgbClr val="24323E"/>
                </a:solidFill>
                <a:latin typeface="Calibri"/>
                <a:ea typeface="Calibri"/>
                <a:cs typeface="Calibri"/>
              </a:rPr>
              <a:t>Take an unfamiliar file and turn it into</a:t>
            </a:r>
          </a:p>
          <a:p>
            <a:pPr>
              <a:defRPr sz="3150" b="1">
                <a:solidFill>
                  <a:srgbClr val="24323E"/>
                </a:solidFill>
                <a:latin typeface="Calibri"/>
                <a:ea typeface="Calibri"/>
                <a:cs typeface="Calibri"/>
              </a:defRPr>
            </a:pPr>
            <a:r>
              <a:rPr sz="3150" b="1">
                <a:solidFill>
                  <a:srgbClr val="24323E"/>
                </a:solidFill>
                <a:latin typeface="Calibri"/>
                <a:ea typeface="Calibri"/>
                <a:cs typeface="Calibri"/>
              </a:rPr>
              <a:t>an analysis we can explain and repeat.</a:t>
            </a:r>
          </a:p>
        </p:txBody>
      </p:sp>
      <p:sp>
        <p:nvSpPr>
          <p:cNvPr id="2002" name="The notebook is our working session">
            <a:extLst>
              <a:ext uri="{FF2B5EF4-FFF2-40B4-BE49-F238E27FC236}">
                <a16:creationId xmlns:a16="http://schemas.microsoft.com/office/drawing/2014/main" id="{26A06F0D-1589-4EF9-8DA2-B21EE29B3E19}"/>
              </a:ext>
            </a:extLst>
          </p:cNvPr>
          <p:cNvSpPr>
            <a:spLocks noGrp="1"/>
          </p:cNvSpPr>
          <p:nvPr/>
        </p:nvSpPr>
        <p:spPr>
          <a:xfrm>
            <a:off x="533400" y="2847975"/>
            <a:ext cx="11049000" cy="428625"/>
          </a:xfrm>
          <a:prstGeom prst="rect">
            <a:avLst/>
          </a:prstGeom>
          <a:noFill/>
          <a:ln w="0">
            <a:noFill/>
          </a:ln>
        </p:spPr>
        <p:txBody>
          <a:bodyPr lIns="0" tIns="0" rIns="0" bIns="0" anchor="t">
            <a:noAutofit/>
          </a:bodyPr>
          <a:lstStyle/>
          <a:p>
            <a:pPr>
              <a:defRPr sz="2475" b="1">
                <a:solidFill>
                  <a:srgbClr val="F67132"/>
                </a:solidFill>
                <a:latin typeface="Calibri"/>
                <a:ea typeface="Calibri"/>
                <a:cs typeface="Calibri"/>
              </a:defRPr>
            </a:pPr>
            <a:r>
              <a:rPr sz="2475" b="1">
                <a:solidFill>
                  <a:srgbClr val="F67132"/>
                </a:solidFill>
                <a:latin typeface="Calibri"/>
                <a:ea typeface="Calibri"/>
                <a:cs typeface="Calibri"/>
              </a:rPr>
              <a:t>The notebook is our working session</a:t>
            </a:r>
          </a:p>
        </p:txBody>
      </p:sp>
      <p:sp>
        <p:nvSpPr>
          <p:cNvPr id="2003" name="We’ll work through it together, checking what the records me">
            <a:extLst>
              <a:ext uri="{FF2B5EF4-FFF2-40B4-BE49-F238E27FC236}">
                <a16:creationId xmlns:a16="http://schemas.microsoft.com/office/drawing/2014/main" id="{8FF1E461-2A4C-42A5-89AD-3E0AC0868DF5}"/>
              </a:ext>
            </a:extLst>
          </p:cNvPr>
          <p:cNvSpPr>
            <a:spLocks noGrp="1"/>
          </p:cNvSpPr>
          <p:nvPr/>
        </p:nvSpPr>
        <p:spPr>
          <a:xfrm>
            <a:off x="533400" y="3400425"/>
            <a:ext cx="11049000" cy="847725"/>
          </a:xfrm>
          <a:prstGeom prst="rect">
            <a:avLst/>
          </a:prstGeom>
          <a:noFill/>
          <a:ln w="0">
            <a:noFill/>
          </a:ln>
        </p:spPr>
        <p:txBody>
          <a:bodyPr lIns="0" tIns="0" rIns="0" bIns="0" anchor="t">
            <a:noAutofit/>
          </a:bodyPr>
          <a:lstStyle/>
          <a:p>
            <a:pPr>
              <a:defRPr sz="2400" b="0">
                <a:solidFill>
                  <a:srgbClr val="24323E"/>
                </a:solidFill>
                <a:latin typeface="Calibri"/>
                <a:ea typeface="Calibri"/>
                <a:cs typeface="Calibri"/>
              </a:defRPr>
            </a:pPr>
            <a:r>
              <a:rPr sz="2400" b="0">
                <a:solidFill>
                  <a:srgbClr val="24323E"/>
                </a:solidFill>
                <a:latin typeface="Calibri"/>
                <a:ea typeface="Calibri"/>
                <a:cs typeface="Calibri"/>
              </a:rPr>
              <a:t>We’ll work through it together, checking what the records mean</a:t>
            </a:r>
          </a:p>
          <a:p>
            <a:pPr>
              <a:defRPr sz="2400" b="0">
                <a:solidFill>
                  <a:srgbClr val="24323E"/>
                </a:solidFill>
                <a:latin typeface="Calibri"/>
                <a:ea typeface="Calibri"/>
                <a:cs typeface="Calibri"/>
              </a:defRPr>
            </a:pPr>
            <a:r>
              <a:rPr sz="2400" b="0">
                <a:solidFill>
                  <a:srgbClr val="24323E"/>
                </a:solidFill>
                <a:latin typeface="Calibri"/>
                <a:ea typeface="Calibri"/>
                <a:cs typeface="Calibri"/>
              </a:rPr>
              <a:t>before we calculate, chart, or save anything.</a:t>
            </a:r>
          </a:p>
        </p:txBody>
      </p:sp>
      <p:sp>
        <p:nvSpPr>
          <p:cNvPr id="2004" name="By the end of class">
            <a:extLst>
              <a:ext uri="{FF2B5EF4-FFF2-40B4-BE49-F238E27FC236}">
                <a16:creationId xmlns:a16="http://schemas.microsoft.com/office/drawing/2014/main" id="{2B1BB28C-8262-40F9-9982-7E5173D6AC4D}"/>
              </a:ext>
            </a:extLst>
          </p:cNvPr>
          <p:cNvSpPr>
            <a:spLocks noGrp="1"/>
          </p:cNvSpPr>
          <p:nvPr/>
        </p:nvSpPr>
        <p:spPr>
          <a:xfrm>
            <a:off x="533400" y="4581525"/>
            <a:ext cx="4572000" cy="428625"/>
          </a:xfrm>
          <a:prstGeom prst="rect">
            <a:avLst/>
          </a:prstGeom>
          <a:noFill/>
          <a:ln w="0">
            <a:noFill/>
          </a:ln>
        </p:spPr>
        <p:txBody>
          <a:bodyPr lIns="0" tIns="0" rIns="0" bIns="0" anchor="t">
            <a:noAutofit/>
          </a:bodyPr>
          <a:lstStyle/>
          <a:p>
            <a:pPr>
              <a:defRPr sz="2475" b="1">
                <a:solidFill>
                  <a:srgbClr val="F67132"/>
                </a:solidFill>
                <a:latin typeface="Calibri"/>
                <a:ea typeface="Calibri"/>
                <a:cs typeface="Calibri"/>
              </a:defRPr>
            </a:pPr>
            <a:r>
              <a:rPr sz="2475" b="1" dirty="0">
                <a:solidFill>
                  <a:srgbClr val="F67132"/>
                </a:solidFill>
                <a:latin typeface="Calibri"/>
                <a:ea typeface="Calibri"/>
                <a:cs typeface="Calibri"/>
              </a:rPr>
              <a:t>By the end of class</a:t>
            </a:r>
            <a:r>
              <a:rPr lang="en-US" sz="2475" b="1" dirty="0">
                <a:solidFill>
                  <a:srgbClr val="F67132"/>
                </a:solidFill>
                <a:latin typeface="Calibri"/>
                <a:ea typeface="Calibri"/>
                <a:cs typeface="Calibri"/>
              </a:rPr>
              <a:t>/session</a:t>
            </a:r>
            <a:endParaRPr sz="2475" b="1" dirty="0">
              <a:solidFill>
                <a:srgbClr val="F67132"/>
              </a:solidFill>
              <a:latin typeface="Calibri"/>
              <a:ea typeface="Calibri"/>
              <a:cs typeface="Calibri"/>
            </a:endParaRPr>
          </a:p>
        </p:txBody>
      </p:sp>
      <p:sp>
        <p:nvSpPr>
          <p:cNvPr id="2005" name="You should be able to inspect a new dataset, justify the rep">
            <a:extLst>
              <a:ext uri="{FF2B5EF4-FFF2-40B4-BE49-F238E27FC236}">
                <a16:creationId xmlns:a16="http://schemas.microsoft.com/office/drawing/2014/main" id="{8BBBBC36-30B8-45E4-85B2-5F191D1958A1}"/>
              </a:ext>
            </a:extLst>
          </p:cNvPr>
          <p:cNvSpPr>
            <a:spLocks noGrp="1"/>
          </p:cNvSpPr>
          <p:nvPr/>
        </p:nvSpPr>
        <p:spPr>
          <a:xfrm>
            <a:off x="533400" y="5114925"/>
            <a:ext cx="11049000" cy="838200"/>
          </a:xfrm>
          <a:prstGeom prst="rect">
            <a:avLst/>
          </a:prstGeom>
          <a:noFill/>
          <a:ln w="0">
            <a:noFill/>
          </a:ln>
        </p:spPr>
        <p:txBody>
          <a:bodyPr lIns="0" tIns="0" rIns="0" bIns="0" anchor="t">
            <a:noAutofit/>
          </a:bodyPr>
          <a:lstStyle/>
          <a:p>
            <a:pPr>
              <a:defRPr sz="2400" b="0">
                <a:solidFill>
                  <a:srgbClr val="24323E"/>
                </a:solidFill>
                <a:latin typeface="Calibri"/>
                <a:ea typeface="Calibri"/>
                <a:cs typeface="Calibri"/>
              </a:defRPr>
            </a:pPr>
            <a:r>
              <a:rPr sz="2400" b="0">
                <a:solidFill>
                  <a:srgbClr val="24323E"/>
                </a:solidFill>
                <a:latin typeface="Calibri"/>
                <a:ea typeface="Calibri"/>
                <a:cs typeface="Calibri"/>
              </a:rPr>
              <a:t>You should be able to inspect a new dataset, justify the repairs,</a:t>
            </a:r>
          </a:p>
          <a:p>
            <a:pPr>
              <a:defRPr sz="2400" b="0">
                <a:solidFill>
                  <a:srgbClr val="24323E"/>
                </a:solidFill>
                <a:latin typeface="Calibri"/>
                <a:ea typeface="Calibri"/>
                <a:cs typeface="Calibri"/>
              </a:defRPr>
            </a:pPr>
            <a:r>
              <a:rPr sz="2400" b="0">
                <a:solidFill>
                  <a:srgbClr val="24323E"/>
                </a:solidFill>
                <a:latin typeface="Calibri"/>
                <a:ea typeface="Calibri"/>
                <a:cs typeface="Calibri"/>
              </a:rPr>
              <a:t>and save a checked copy for the next analysis.</a:t>
            </a:r>
          </a:p>
        </p:txBody>
      </p:sp>
    </p:spTree>
    <p:extLst>
      <p:ext uri="{BB962C8B-B14F-4D97-AF65-F5344CB8AC3E}">
        <p14:creationId xmlns:p14="http://schemas.microsoft.com/office/powerpoint/2010/main" val="849415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The data we’ll use</a:t>
            </a:r>
          </a:p>
        </p:txBody>
      </p:sp>
      <p:sp>
        <p:nvSpPr>
          <p:cNvPr id="2001" name="Chipotle restaurant orders">
            <a:extLst>
              <a:ext uri="{FF2B5EF4-FFF2-40B4-BE49-F238E27FC236}">
                <a16:creationId xmlns:a16="http://schemas.microsoft.com/office/drawing/2014/main" id="{1384E557-B378-4000-9986-BD6C3E43BF45}"/>
              </a:ext>
            </a:extLst>
          </p:cNvPr>
          <p:cNvSpPr>
            <a:spLocks noGrp="1"/>
          </p:cNvSpPr>
          <p:nvPr/>
        </p:nvSpPr>
        <p:spPr>
          <a:xfrm>
            <a:off x="533400" y="1295400"/>
            <a:ext cx="11049000" cy="533400"/>
          </a:xfrm>
          <a:prstGeom prst="rect">
            <a:avLst/>
          </a:prstGeom>
          <a:noFill/>
          <a:ln w="0">
            <a:noFill/>
          </a:ln>
        </p:spPr>
        <p:txBody>
          <a:bodyPr lIns="0" tIns="0" rIns="0" bIns="0" anchor="t">
            <a:noAutofit/>
          </a:bodyPr>
          <a:lstStyle/>
          <a:p>
            <a:pPr>
              <a:defRPr sz="3000" b="1">
                <a:solidFill>
                  <a:srgbClr val="F67132"/>
                </a:solidFill>
                <a:latin typeface="Calibri"/>
                <a:ea typeface="Calibri"/>
                <a:cs typeface="Calibri"/>
              </a:defRPr>
            </a:pPr>
            <a:r>
              <a:rPr sz="3000" b="1">
                <a:solidFill>
                  <a:srgbClr val="F67132"/>
                </a:solidFill>
                <a:latin typeface="Calibri"/>
                <a:ea typeface="Calibri"/>
                <a:cs typeface="Calibri"/>
              </a:rPr>
              <a:t>Chipotle restaurant orders</a:t>
            </a:r>
          </a:p>
        </p:txBody>
      </p:sp>
      <p:sp>
        <p:nvSpPr>
          <p:cNvPr id="2002" name="A public file on GitHub, loaded directly into pandas.&#10;4,622 ">
            <a:extLst>
              <a:ext uri="{FF2B5EF4-FFF2-40B4-BE49-F238E27FC236}">
                <a16:creationId xmlns:a16="http://schemas.microsoft.com/office/drawing/2014/main" id="{44B9184D-740C-4227-963E-2F9EF4CD7B11}"/>
              </a:ext>
            </a:extLst>
          </p:cNvPr>
          <p:cNvSpPr>
            <a:spLocks noGrp="1"/>
          </p:cNvSpPr>
          <p:nvPr/>
        </p:nvSpPr>
        <p:spPr>
          <a:xfrm>
            <a:off x="533400" y="1971675"/>
            <a:ext cx="11049000" cy="828675"/>
          </a:xfrm>
          <a:prstGeom prst="rect">
            <a:avLst/>
          </a:prstGeom>
          <a:noFill/>
          <a:ln w="0">
            <a:noFill/>
          </a:ln>
        </p:spPr>
        <p:txBody>
          <a:bodyPr lIns="0" tIns="0" rIns="0" bIns="0" anchor="t">
            <a:noAutofit/>
          </a:bodyPr>
          <a:lstStyle/>
          <a:p>
            <a:pPr>
              <a:defRPr sz="2400" b="0">
                <a:solidFill>
                  <a:srgbClr val="24323E"/>
                </a:solidFill>
                <a:latin typeface="Calibri"/>
                <a:ea typeface="Calibri"/>
                <a:cs typeface="Calibri"/>
              </a:defRPr>
            </a:pPr>
            <a:r>
              <a:rPr sz="2400" b="0">
                <a:solidFill>
                  <a:srgbClr val="24323E"/>
                </a:solidFill>
                <a:latin typeface="Calibri"/>
                <a:ea typeface="Calibri"/>
                <a:cs typeface="Calibri"/>
              </a:rPr>
              <a:t>A public file on GitHub, loaded directly into pandas.</a:t>
            </a:r>
          </a:p>
          <a:p>
            <a:pPr>
              <a:defRPr sz="2400" b="0">
                <a:solidFill>
                  <a:srgbClr val="24323E"/>
                </a:solidFill>
                <a:latin typeface="Calibri"/>
                <a:ea typeface="Calibri"/>
                <a:cs typeface="Calibri"/>
              </a:defRPr>
            </a:pPr>
            <a:r>
              <a:rPr sz="2400" b="0">
                <a:solidFill>
                  <a:srgbClr val="24323E"/>
                </a:solidFill>
                <a:latin typeface="Calibri"/>
                <a:ea typeface="Calibri"/>
                <a:cs typeface="Calibri"/>
              </a:rPr>
              <a:t>4,622 rows in a tab-separated file called chipotle.tsv.</a:t>
            </a:r>
          </a:p>
        </p:txBody>
      </p:sp>
      <p:sp>
        <p:nvSpPr>
          <p:cNvPr id="2003" name="What the file records">
            <a:extLst>
              <a:ext uri="{FF2B5EF4-FFF2-40B4-BE49-F238E27FC236}">
                <a16:creationId xmlns:a16="http://schemas.microsoft.com/office/drawing/2014/main" id="{A2F717B6-A82B-4407-B9E8-BF638781735F}"/>
              </a:ext>
            </a:extLst>
          </p:cNvPr>
          <p:cNvSpPr>
            <a:spLocks noGrp="1"/>
          </p:cNvSpPr>
          <p:nvPr/>
        </p:nvSpPr>
        <p:spPr>
          <a:xfrm>
            <a:off x="533400" y="3200400"/>
            <a:ext cx="5048250" cy="409575"/>
          </a:xfrm>
          <a:prstGeom prst="rect">
            <a:avLst/>
          </a:prstGeom>
          <a:noFill/>
          <a:ln w="0">
            <a:noFill/>
          </a:ln>
        </p:spPr>
        <p:txBody>
          <a:bodyPr lIns="0" tIns="0" rIns="0" bIns="0" anchor="t">
            <a:noAutofit/>
          </a:bodyPr>
          <a:lstStyle/>
          <a:p>
            <a:pPr>
              <a:defRPr sz="2475" b="1">
                <a:solidFill>
                  <a:srgbClr val="24323E"/>
                </a:solidFill>
                <a:latin typeface="Calibri"/>
                <a:ea typeface="Calibri"/>
                <a:cs typeface="Calibri"/>
              </a:defRPr>
            </a:pPr>
            <a:r>
              <a:rPr sz="2475" b="1">
                <a:solidFill>
                  <a:srgbClr val="24323E"/>
                </a:solidFill>
                <a:latin typeface="Calibri"/>
                <a:ea typeface="Calibri"/>
                <a:cs typeface="Calibri"/>
              </a:rPr>
              <a:t>What the file records</a:t>
            </a:r>
          </a:p>
        </p:txBody>
      </p:sp>
      <p:sp>
        <p:nvSpPr>
          <p:cNvPr id="2004" name="Order IDs and quantities&#10;Item names and customization choice">
            <a:extLst>
              <a:ext uri="{FF2B5EF4-FFF2-40B4-BE49-F238E27FC236}">
                <a16:creationId xmlns:a16="http://schemas.microsoft.com/office/drawing/2014/main" id="{77F7130A-9707-4A95-86BB-59EDC7E3059D}"/>
              </a:ext>
            </a:extLst>
          </p:cNvPr>
          <p:cNvSpPr>
            <a:spLocks noGrp="1"/>
          </p:cNvSpPr>
          <p:nvPr/>
        </p:nvSpPr>
        <p:spPr>
          <a:xfrm>
            <a:off x="533400" y="3781425"/>
            <a:ext cx="6381750" cy="1381125"/>
          </a:xfrm>
          <a:prstGeom prst="rect">
            <a:avLst/>
          </a:prstGeom>
          <a:noFill/>
          <a:ln w="0">
            <a:noFill/>
          </a:ln>
        </p:spPr>
        <p:txBody>
          <a:bodyPr lIns="0" tIns="0" rIns="0" bIns="0" anchor="t">
            <a:noAutofit/>
          </a:bodyPr>
          <a:lstStyle/>
          <a:p>
            <a:pPr>
              <a:defRPr sz="2325" b="0">
                <a:solidFill>
                  <a:srgbClr val="24323E"/>
                </a:solidFill>
                <a:latin typeface="Calibri"/>
                <a:ea typeface="Calibri"/>
                <a:cs typeface="Calibri"/>
              </a:defRPr>
            </a:pPr>
            <a:r>
              <a:rPr sz="2325" b="0">
                <a:solidFill>
                  <a:srgbClr val="24323E"/>
                </a:solidFill>
                <a:latin typeface="Calibri"/>
                <a:ea typeface="Calibri"/>
                <a:cs typeface="Calibri"/>
              </a:rPr>
              <a:t>Order IDs and quantities</a:t>
            </a:r>
          </a:p>
          <a:p>
            <a:pPr>
              <a:defRPr sz="2325" b="0">
                <a:solidFill>
                  <a:srgbClr val="24323E"/>
                </a:solidFill>
                <a:latin typeface="Calibri"/>
                <a:ea typeface="Calibri"/>
                <a:cs typeface="Calibri"/>
              </a:defRPr>
            </a:pPr>
            <a:r>
              <a:rPr sz="2325" b="0">
                <a:solidFill>
                  <a:srgbClr val="24323E"/>
                </a:solidFill>
                <a:latin typeface="Calibri"/>
                <a:ea typeface="Calibri"/>
                <a:cs typeface="Calibri"/>
              </a:rPr>
              <a:t>Item names and customization choices</a:t>
            </a:r>
          </a:p>
          <a:p>
            <a:pPr>
              <a:defRPr sz="2325" b="0">
                <a:solidFill>
                  <a:srgbClr val="24323E"/>
                </a:solidFill>
                <a:latin typeface="Calibri"/>
                <a:ea typeface="Calibri"/>
                <a:cs typeface="Calibri"/>
              </a:defRPr>
            </a:pPr>
            <a:r>
              <a:rPr sz="2325" b="0">
                <a:solidFill>
                  <a:srgbClr val="24323E"/>
                </a:solidFill>
                <a:latin typeface="Calibri"/>
                <a:ea typeface="Calibri"/>
                <a:cs typeface="Calibri"/>
              </a:rPr>
              <a:t>Prices as recorded in the file</a:t>
            </a:r>
          </a:p>
        </p:txBody>
      </p:sp>
      <p:sp>
        <p:nvSpPr>
          <p:cNvPr id="2005" name="What we’ll ask">
            <a:extLst>
              <a:ext uri="{FF2B5EF4-FFF2-40B4-BE49-F238E27FC236}">
                <a16:creationId xmlns:a16="http://schemas.microsoft.com/office/drawing/2014/main" id="{911E4023-0DE9-4C82-B05F-9BD59BF3956E}"/>
              </a:ext>
            </a:extLst>
          </p:cNvPr>
          <p:cNvSpPr>
            <a:spLocks noGrp="1"/>
          </p:cNvSpPr>
          <p:nvPr/>
        </p:nvSpPr>
        <p:spPr>
          <a:xfrm>
            <a:off x="7781925" y="3200400"/>
            <a:ext cx="3714750" cy="409575"/>
          </a:xfrm>
          <a:prstGeom prst="rect">
            <a:avLst/>
          </a:prstGeom>
          <a:noFill/>
          <a:ln w="0">
            <a:noFill/>
          </a:ln>
        </p:spPr>
        <p:txBody>
          <a:bodyPr lIns="0" tIns="0" rIns="0" bIns="0" anchor="t">
            <a:noAutofit/>
          </a:bodyPr>
          <a:lstStyle/>
          <a:p>
            <a:pPr>
              <a:defRPr sz="2475" b="1">
                <a:solidFill>
                  <a:srgbClr val="24323E"/>
                </a:solidFill>
                <a:latin typeface="Calibri"/>
                <a:ea typeface="Calibri"/>
                <a:cs typeface="Calibri"/>
              </a:defRPr>
            </a:pPr>
            <a:r>
              <a:rPr sz="2475" b="1">
                <a:solidFill>
                  <a:srgbClr val="24323E"/>
                </a:solidFill>
                <a:latin typeface="Calibri"/>
                <a:ea typeface="Calibri"/>
                <a:cs typeface="Calibri"/>
              </a:rPr>
              <a:t>What we’ll ask</a:t>
            </a:r>
          </a:p>
        </p:txBody>
      </p:sp>
      <p:sp>
        <p:nvSpPr>
          <p:cNvPr id="2006" name="How much revenue?&#10;Revenue by item?&#10;What is the average order">
            <a:extLst>
              <a:ext uri="{FF2B5EF4-FFF2-40B4-BE49-F238E27FC236}">
                <a16:creationId xmlns:a16="http://schemas.microsoft.com/office/drawing/2014/main" id="{9F31E105-525A-4A17-A587-29C829A7F03C}"/>
              </a:ext>
            </a:extLst>
          </p:cNvPr>
          <p:cNvSpPr>
            <a:spLocks noGrp="1"/>
          </p:cNvSpPr>
          <p:nvPr/>
        </p:nvSpPr>
        <p:spPr>
          <a:xfrm>
            <a:off x="7781925" y="3781425"/>
            <a:ext cx="3705225" cy="1381125"/>
          </a:xfrm>
          <a:prstGeom prst="rect">
            <a:avLst/>
          </a:prstGeom>
          <a:noFill/>
          <a:ln w="0">
            <a:noFill/>
          </a:ln>
        </p:spPr>
        <p:txBody>
          <a:bodyPr lIns="0" tIns="0" rIns="0" bIns="0" anchor="t">
            <a:noAutofit/>
          </a:bodyPr>
          <a:lstStyle/>
          <a:p>
            <a:pPr>
              <a:defRPr sz="2250" b="0">
                <a:solidFill>
                  <a:srgbClr val="24323E"/>
                </a:solidFill>
                <a:latin typeface="Calibri"/>
                <a:ea typeface="Calibri"/>
                <a:cs typeface="Calibri"/>
              </a:defRPr>
            </a:pPr>
            <a:r>
              <a:rPr sz="2250" b="0">
                <a:solidFill>
                  <a:srgbClr val="24323E"/>
                </a:solidFill>
                <a:latin typeface="Calibri"/>
                <a:ea typeface="Calibri"/>
                <a:cs typeface="Calibri"/>
              </a:rPr>
              <a:t>How much revenue?</a:t>
            </a:r>
          </a:p>
          <a:p>
            <a:pPr>
              <a:defRPr sz="2250" b="0">
                <a:solidFill>
                  <a:srgbClr val="24323E"/>
                </a:solidFill>
                <a:latin typeface="Calibri"/>
                <a:ea typeface="Calibri"/>
                <a:cs typeface="Calibri"/>
              </a:defRPr>
            </a:pPr>
            <a:r>
              <a:rPr sz="2250" b="0">
                <a:solidFill>
                  <a:srgbClr val="24323E"/>
                </a:solidFill>
                <a:latin typeface="Calibri"/>
                <a:ea typeface="Calibri"/>
                <a:cs typeface="Calibri"/>
              </a:rPr>
              <a:t>Revenue by item?</a:t>
            </a:r>
          </a:p>
          <a:p>
            <a:pPr>
              <a:defRPr sz="2250" b="0">
                <a:solidFill>
                  <a:srgbClr val="24323E"/>
                </a:solidFill>
                <a:latin typeface="Calibri"/>
                <a:ea typeface="Calibri"/>
                <a:cs typeface="Calibri"/>
              </a:defRPr>
            </a:pPr>
            <a:r>
              <a:rPr sz="2250" b="0">
                <a:solidFill>
                  <a:srgbClr val="24323E"/>
                </a:solidFill>
                <a:latin typeface="Calibri"/>
                <a:ea typeface="Calibri"/>
                <a:cs typeface="Calibri"/>
              </a:rPr>
              <a:t>What is the average order?</a:t>
            </a:r>
          </a:p>
        </p:txBody>
      </p:sp>
      <p:sp>
        <p:nvSpPr>
          <p:cNvPr id="2007" name="We’ll also use eight made-up sales rows so we can check each">
            <a:extLst>
              <a:ext uri="{FF2B5EF4-FFF2-40B4-BE49-F238E27FC236}">
                <a16:creationId xmlns:a16="http://schemas.microsoft.com/office/drawing/2014/main" id="{8BBCBD96-1FB9-4C4F-A311-C2E46816A102}"/>
              </a:ext>
            </a:extLst>
          </p:cNvPr>
          <p:cNvSpPr>
            <a:spLocks noGrp="1"/>
          </p:cNvSpPr>
          <p:nvPr/>
        </p:nvSpPr>
        <p:spPr>
          <a:xfrm>
            <a:off x="533400" y="5581650"/>
            <a:ext cx="11049000" cy="400050"/>
          </a:xfrm>
          <a:prstGeom prst="rect">
            <a:avLst/>
          </a:prstGeom>
          <a:noFill/>
          <a:ln w="0">
            <a:noFill/>
          </a:ln>
        </p:spPr>
        <p:txBody>
          <a:bodyPr lIns="0" tIns="0" rIns="0" bIns="0" anchor="t">
            <a:noAutofit/>
          </a:bodyPr>
          <a:lstStyle/>
          <a:p>
            <a:pPr>
              <a:defRPr sz="2175" b="1">
                <a:solidFill>
                  <a:srgbClr val="F67132"/>
                </a:solidFill>
                <a:latin typeface="Calibri"/>
                <a:ea typeface="Calibri"/>
                <a:cs typeface="Calibri"/>
              </a:defRPr>
            </a:pPr>
            <a:r>
              <a:rPr sz="2175" b="1">
                <a:solidFill>
                  <a:srgbClr val="F67132"/>
                </a:solidFill>
                <a:latin typeface="Calibri"/>
                <a:ea typeface="Calibri"/>
                <a:cs typeface="Calibri"/>
              </a:rPr>
              <a:t>We’ll also use eight made-up sales rows so we can check each repair by eye.</a:t>
            </a:r>
          </a:p>
        </p:txBody>
      </p:sp>
    </p:spTree>
    <p:extLst>
      <p:ext uri="{BB962C8B-B14F-4D97-AF65-F5344CB8AC3E}">
        <p14:creationId xmlns:p14="http://schemas.microsoft.com/office/powerpoint/2010/main" val="849415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The challenge</a:t>
            </a:r>
          </a:p>
        </p:txBody>
      </p:sp>
      <p:sp>
        <p:nvSpPr>
          <p:cNvPr id="2001" name="How much money did these orders bring in?">
            <a:extLst>
              <a:ext uri="{FF2B5EF4-FFF2-40B4-BE49-F238E27FC236}">
                <a16:creationId xmlns:a16="http://schemas.microsoft.com/office/drawing/2014/main" id="{15283B1A-F641-43B4-A19B-48AB42FBCD2D}"/>
              </a:ext>
            </a:extLst>
          </p:cNvPr>
          <p:cNvSpPr>
            <a:spLocks noGrp="1"/>
          </p:cNvSpPr>
          <p:nvPr/>
        </p:nvSpPr>
        <p:spPr>
          <a:xfrm>
            <a:off x="533400" y="1323975"/>
            <a:ext cx="11049000" cy="600075"/>
          </a:xfrm>
          <a:prstGeom prst="rect">
            <a:avLst/>
          </a:prstGeom>
          <a:noFill/>
          <a:ln w="0">
            <a:noFill/>
          </a:ln>
        </p:spPr>
        <p:txBody>
          <a:bodyPr lIns="0" tIns="0" rIns="0" bIns="0" anchor="t">
            <a:noAutofit/>
          </a:bodyPr>
          <a:lstStyle/>
          <a:p>
            <a:pPr>
              <a:defRPr sz="3000" b="1">
                <a:solidFill>
                  <a:srgbClr val="24323E"/>
                </a:solidFill>
                <a:latin typeface="Calibri"/>
                <a:ea typeface="Calibri"/>
                <a:cs typeface="Calibri"/>
              </a:defRPr>
            </a:pPr>
            <a:r>
              <a:rPr sz="3000" b="1">
                <a:solidFill>
                  <a:srgbClr val="24323E"/>
                </a:solidFill>
                <a:latin typeface="Calibri"/>
                <a:ea typeface="Calibri"/>
                <a:cs typeface="Calibri"/>
              </a:rPr>
              <a:t>How much money did these orders bring in?</a:t>
            </a:r>
          </a:p>
        </p:txBody>
      </p:sp>
      <p:sp>
        <p:nvSpPr>
          <p:cNvPr id="2002" name="The calculation is simple. Deciding what belongs in it takes">
            <a:extLst>
              <a:ext uri="{FF2B5EF4-FFF2-40B4-BE49-F238E27FC236}">
                <a16:creationId xmlns:a16="http://schemas.microsoft.com/office/drawing/2014/main" id="{3B1EE2AA-C304-4DB7-A04B-516B115803D5}"/>
              </a:ext>
            </a:extLst>
          </p:cNvPr>
          <p:cNvSpPr>
            <a:spLocks noGrp="1"/>
          </p:cNvSpPr>
          <p:nvPr/>
        </p:nvSpPr>
        <p:spPr>
          <a:xfrm>
            <a:off x="533400" y="2162175"/>
            <a:ext cx="11049000" cy="457200"/>
          </a:xfrm>
          <a:prstGeom prst="rect">
            <a:avLst/>
          </a:prstGeom>
          <a:noFill/>
          <a:ln w="0">
            <a:noFill/>
          </a:ln>
        </p:spPr>
        <p:txBody>
          <a:bodyPr lIns="0" tIns="0" rIns="0" bIns="0" anchor="t">
            <a:noAutofit/>
          </a:bodyPr>
          <a:lstStyle/>
          <a:p>
            <a:pPr>
              <a:defRPr sz="2400" b="0">
                <a:solidFill>
                  <a:srgbClr val="24323E"/>
                </a:solidFill>
                <a:latin typeface="Calibri"/>
                <a:ea typeface="Calibri"/>
                <a:cs typeface="Calibri"/>
              </a:defRPr>
            </a:pPr>
            <a:r>
              <a:rPr sz="2400" b="0">
                <a:solidFill>
                  <a:srgbClr val="24323E"/>
                </a:solidFill>
                <a:latin typeface="Calibri"/>
                <a:ea typeface="Calibri"/>
                <a:cs typeface="Calibri"/>
              </a:rPr>
              <a:t>The calculation is simple. Deciding what belongs in it takes work.</a:t>
            </a:r>
          </a:p>
        </p:txBody>
      </p:sp>
      <p:sp>
        <p:nvSpPr>
          <p:cNvPr id="2003" name="Prices arrive as text">
            <a:extLst>
              <a:ext uri="{FF2B5EF4-FFF2-40B4-BE49-F238E27FC236}">
                <a16:creationId xmlns:a16="http://schemas.microsoft.com/office/drawing/2014/main" id="{F0792704-64B1-4EA0-93EF-4247B8645AA8}"/>
              </a:ext>
            </a:extLst>
          </p:cNvPr>
          <p:cNvSpPr>
            <a:spLocks noGrp="1"/>
          </p:cNvSpPr>
          <p:nvPr/>
        </p:nvSpPr>
        <p:spPr>
          <a:xfrm>
            <a:off x="533400" y="3114675"/>
            <a:ext cx="4238625" cy="419100"/>
          </a:xfrm>
          <a:prstGeom prst="rect">
            <a:avLst/>
          </a:prstGeom>
          <a:noFill/>
          <a:ln w="0">
            <a:noFill/>
          </a:ln>
        </p:spPr>
        <p:txBody>
          <a:bodyPr lIns="0" tIns="0" rIns="0" bIns="0" anchor="t">
            <a:noAutofit/>
          </a:bodyPr>
          <a:lstStyle/>
          <a:p>
            <a:pPr>
              <a:defRPr sz="2250" b="1">
                <a:solidFill>
                  <a:srgbClr val="F67132"/>
                </a:solidFill>
                <a:latin typeface="Calibri"/>
                <a:ea typeface="Calibri"/>
                <a:cs typeface="Calibri"/>
              </a:defRPr>
            </a:pPr>
            <a:r>
              <a:rPr sz="2250" b="1">
                <a:solidFill>
                  <a:srgbClr val="F67132"/>
                </a:solidFill>
                <a:latin typeface="Calibri"/>
                <a:ea typeface="Calibri"/>
                <a:cs typeface="Calibri"/>
              </a:rPr>
              <a:t>Prices arrive as text</a:t>
            </a:r>
          </a:p>
        </p:txBody>
      </p:sp>
      <p:sp>
        <p:nvSpPr>
          <p:cNvPr id="2004" name="We need numbers before arithmetic makes sense.">
            <a:extLst>
              <a:ext uri="{FF2B5EF4-FFF2-40B4-BE49-F238E27FC236}">
                <a16:creationId xmlns:a16="http://schemas.microsoft.com/office/drawing/2014/main" id="{E895697E-1D36-40BB-8426-8CFECF91861C}"/>
              </a:ext>
            </a:extLst>
          </p:cNvPr>
          <p:cNvSpPr>
            <a:spLocks noGrp="1"/>
          </p:cNvSpPr>
          <p:nvPr/>
        </p:nvSpPr>
        <p:spPr>
          <a:xfrm>
            <a:off x="5105400" y="3114675"/>
            <a:ext cx="6381750" cy="619125"/>
          </a:xfrm>
          <a:prstGeom prst="rect">
            <a:avLst/>
          </a:prstGeom>
          <a:noFill/>
          <a:ln w="0">
            <a:noFill/>
          </a:ln>
        </p:spPr>
        <p:txBody>
          <a:bodyPr lIns="0" tIns="0" rIns="0" bIns="0" anchor="t">
            <a:noAutofit/>
          </a:bodyPr>
          <a:lstStyle/>
          <a:p>
            <a:pPr>
              <a:defRPr sz="2175" b="0">
                <a:solidFill>
                  <a:srgbClr val="24323E"/>
                </a:solidFill>
                <a:latin typeface="Calibri"/>
                <a:ea typeface="Calibri"/>
                <a:cs typeface="Calibri"/>
              </a:defRPr>
            </a:pPr>
            <a:r>
              <a:rPr sz="2175" b="0">
                <a:solidFill>
                  <a:srgbClr val="24323E"/>
                </a:solidFill>
                <a:latin typeface="Calibri"/>
                <a:ea typeface="Calibri"/>
                <a:cs typeface="Calibri"/>
              </a:rPr>
              <a:t>We need numbers before arithmetic makes sense.</a:t>
            </a:r>
          </a:p>
        </p:txBody>
      </p:sp>
      <p:sp>
        <p:nvSpPr>
          <p:cNvPr id="2005" name="Some fields are blank">
            <a:extLst>
              <a:ext uri="{FF2B5EF4-FFF2-40B4-BE49-F238E27FC236}">
                <a16:creationId xmlns:a16="http://schemas.microsoft.com/office/drawing/2014/main" id="{33CD9E8A-08B6-44A4-9946-8E32A7FEC0A2}"/>
              </a:ext>
            </a:extLst>
          </p:cNvPr>
          <p:cNvSpPr>
            <a:spLocks noGrp="1"/>
          </p:cNvSpPr>
          <p:nvPr/>
        </p:nvSpPr>
        <p:spPr>
          <a:xfrm>
            <a:off x="533400" y="3857625"/>
            <a:ext cx="4238625" cy="419100"/>
          </a:xfrm>
          <a:prstGeom prst="rect">
            <a:avLst/>
          </a:prstGeom>
          <a:noFill/>
          <a:ln w="0">
            <a:noFill/>
          </a:ln>
        </p:spPr>
        <p:txBody>
          <a:bodyPr lIns="0" tIns="0" rIns="0" bIns="0" anchor="t">
            <a:noAutofit/>
          </a:bodyPr>
          <a:lstStyle/>
          <a:p>
            <a:pPr>
              <a:defRPr sz="2250" b="1">
                <a:solidFill>
                  <a:srgbClr val="F67132"/>
                </a:solidFill>
                <a:latin typeface="Calibri"/>
                <a:ea typeface="Calibri"/>
                <a:cs typeface="Calibri"/>
              </a:defRPr>
            </a:pPr>
            <a:r>
              <a:rPr sz="2250" b="1">
                <a:solidFill>
                  <a:srgbClr val="F67132"/>
                </a:solidFill>
                <a:latin typeface="Calibri"/>
                <a:ea typeface="Calibri"/>
                <a:cs typeface="Calibri"/>
              </a:rPr>
              <a:t>Some fields are blank</a:t>
            </a:r>
          </a:p>
        </p:txBody>
      </p:sp>
      <p:sp>
        <p:nvSpPr>
          <p:cNvPr id="2006" name="We need to decide whether a blank means a problem.">
            <a:extLst>
              <a:ext uri="{FF2B5EF4-FFF2-40B4-BE49-F238E27FC236}">
                <a16:creationId xmlns:a16="http://schemas.microsoft.com/office/drawing/2014/main" id="{A45EF68C-E302-43C8-B5AB-46C14942B964}"/>
              </a:ext>
            </a:extLst>
          </p:cNvPr>
          <p:cNvSpPr>
            <a:spLocks noGrp="1"/>
          </p:cNvSpPr>
          <p:nvPr/>
        </p:nvSpPr>
        <p:spPr>
          <a:xfrm>
            <a:off x="5105400" y="3857625"/>
            <a:ext cx="6381750" cy="619125"/>
          </a:xfrm>
          <a:prstGeom prst="rect">
            <a:avLst/>
          </a:prstGeom>
          <a:noFill/>
          <a:ln w="0">
            <a:noFill/>
          </a:ln>
        </p:spPr>
        <p:txBody>
          <a:bodyPr lIns="0" tIns="0" rIns="0" bIns="0" anchor="t">
            <a:noAutofit/>
          </a:bodyPr>
          <a:lstStyle/>
          <a:p>
            <a:pPr>
              <a:defRPr sz="2175" b="0">
                <a:solidFill>
                  <a:srgbClr val="24323E"/>
                </a:solidFill>
                <a:latin typeface="Calibri"/>
                <a:ea typeface="Calibri"/>
                <a:cs typeface="Calibri"/>
              </a:defRPr>
            </a:pPr>
            <a:r>
              <a:rPr sz="2175" b="0">
                <a:solidFill>
                  <a:srgbClr val="24323E"/>
                </a:solidFill>
                <a:latin typeface="Calibri"/>
                <a:ea typeface="Calibri"/>
                <a:cs typeface="Calibri"/>
              </a:rPr>
              <a:t>We need to decide whether a blank means a problem.</a:t>
            </a:r>
          </a:p>
        </p:txBody>
      </p:sp>
      <p:sp>
        <p:nvSpPr>
          <p:cNvPr id="2007" name="Some records repeat">
            <a:extLst>
              <a:ext uri="{FF2B5EF4-FFF2-40B4-BE49-F238E27FC236}">
                <a16:creationId xmlns:a16="http://schemas.microsoft.com/office/drawing/2014/main" id="{5314DA79-3844-4BB8-B1C1-2C97CFC056C4}"/>
              </a:ext>
            </a:extLst>
          </p:cNvPr>
          <p:cNvSpPr>
            <a:spLocks noGrp="1"/>
          </p:cNvSpPr>
          <p:nvPr/>
        </p:nvSpPr>
        <p:spPr>
          <a:xfrm>
            <a:off x="533400" y="4600575"/>
            <a:ext cx="4238625" cy="419100"/>
          </a:xfrm>
          <a:prstGeom prst="rect">
            <a:avLst/>
          </a:prstGeom>
          <a:noFill/>
          <a:ln w="0">
            <a:noFill/>
          </a:ln>
        </p:spPr>
        <p:txBody>
          <a:bodyPr lIns="0" tIns="0" rIns="0" bIns="0" anchor="t">
            <a:noAutofit/>
          </a:bodyPr>
          <a:lstStyle/>
          <a:p>
            <a:pPr>
              <a:defRPr sz="2250" b="1">
                <a:solidFill>
                  <a:srgbClr val="F67132"/>
                </a:solidFill>
                <a:latin typeface="Calibri"/>
                <a:ea typeface="Calibri"/>
                <a:cs typeface="Calibri"/>
              </a:defRPr>
            </a:pPr>
            <a:r>
              <a:rPr sz="2250" b="1">
                <a:solidFill>
                  <a:srgbClr val="F67132"/>
                </a:solidFill>
                <a:latin typeface="Calibri"/>
                <a:ea typeface="Calibri"/>
                <a:cs typeface="Calibri"/>
              </a:rPr>
              <a:t>Some records repeat</a:t>
            </a:r>
          </a:p>
        </p:txBody>
      </p:sp>
      <p:sp>
        <p:nvSpPr>
          <p:cNvPr id="2008" name="We need to distinguish valid sales from duplicate records.">
            <a:extLst>
              <a:ext uri="{FF2B5EF4-FFF2-40B4-BE49-F238E27FC236}">
                <a16:creationId xmlns:a16="http://schemas.microsoft.com/office/drawing/2014/main" id="{3A3AD45E-00B6-43CD-AAF5-3C6EAC052787}"/>
              </a:ext>
            </a:extLst>
          </p:cNvPr>
          <p:cNvSpPr>
            <a:spLocks noGrp="1"/>
          </p:cNvSpPr>
          <p:nvPr/>
        </p:nvSpPr>
        <p:spPr>
          <a:xfrm>
            <a:off x="5105400" y="4600575"/>
            <a:ext cx="6381750" cy="619125"/>
          </a:xfrm>
          <a:prstGeom prst="rect">
            <a:avLst/>
          </a:prstGeom>
          <a:noFill/>
          <a:ln w="0">
            <a:noFill/>
          </a:ln>
        </p:spPr>
        <p:txBody>
          <a:bodyPr lIns="0" tIns="0" rIns="0" bIns="0" anchor="t">
            <a:noAutofit/>
          </a:bodyPr>
          <a:lstStyle/>
          <a:p>
            <a:pPr>
              <a:defRPr sz="2175" b="0">
                <a:solidFill>
                  <a:srgbClr val="24323E"/>
                </a:solidFill>
                <a:latin typeface="Calibri"/>
                <a:ea typeface="Calibri"/>
                <a:cs typeface="Calibri"/>
              </a:defRPr>
            </a:pPr>
            <a:r>
              <a:rPr sz="2175" b="0">
                <a:solidFill>
                  <a:srgbClr val="24323E"/>
                </a:solidFill>
                <a:latin typeface="Calibri"/>
                <a:ea typeface="Calibri"/>
                <a:cs typeface="Calibri"/>
              </a:rPr>
              <a:t>We need to distinguish valid sales from duplicate records.</a:t>
            </a:r>
          </a:p>
        </p:txBody>
      </p:sp>
      <p:sp>
        <p:nvSpPr>
          <p:cNvPr id="2009" name="Our result should show the answer, the decisions, and how mu">
            <a:extLst>
              <a:ext uri="{FF2B5EF4-FFF2-40B4-BE49-F238E27FC236}">
                <a16:creationId xmlns:a16="http://schemas.microsoft.com/office/drawing/2014/main" id="{B6C71280-08D9-4504-82F4-79195E2B36F5}"/>
              </a:ext>
            </a:extLst>
          </p:cNvPr>
          <p:cNvSpPr>
            <a:spLocks noGrp="1"/>
          </p:cNvSpPr>
          <p:nvPr/>
        </p:nvSpPr>
        <p:spPr>
          <a:xfrm>
            <a:off x="533400" y="5581650"/>
            <a:ext cx="11049000" cy="428625"/>
          </a:xfrm>
          <a:prstGeom prst="rect">
            <a:avLst/>
          </a:prstGeom>
          <a:noFill/>
          <a:ln w="0">
            <a:noFill/>
          </a:ln>
        </p:spPr>
        <p:txBody>
          <a:bodyPr lIns="0" tIns="0" rIns="0" bIns="0" anchor="t">
            <a:noAutofit/>
          </a:bodyPr>
          <a:lstStyle/>
          <a:p>
            <a:pPr>
              <a:defRPr sz="2100" b="1">
                <a:solidFill>
                  <a:srgbClr val="24323E"/>
                </a:solidFill>
                <a:latin typeface="Calibri"/>
                <a:ea typeface="Calibri"/>
                <a:cs typeface="Calibri"/>
              </a:defRPr>
            </a:pPr>
            <a:r>
              <a:rPr sz="2100" b="1">
                <a:solidFill>
                  <a:srgbClr val="24323E"/>
                </a:solidFill>
                <a:latin typeface="Calibri"/>
                <a:ea typeface="Calibri"/>
                <a:cs typeface="Calibri"/>
              </a:rPr>
              <a:t>Our result should show the answer, the decisions, and how much they changed it.</a:t>
            </a:r>
          </a:p>
        </p:txBody>
      </p:sp>
    </p:spTree>
    <p:extLst>
      <p:ext uri="{BB962C8B-B14F-4D97-AF65-F5344CB8AC3E}">
        <p14:creationId xmlns:p14="http://schemas.microsoft.com/office/powerpoint/2010/main" val="84941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Today’s work</a:t>
            </a:r>
          </a:p>
        </p:txBody>
      </p:sp>
      <p:sp>
        <p:nvSpPr>
          <p:cNvPr id="1001" name="How much money did these orders bring in?">
            <a:extLst>
              <a:ext uri="{FF2B5EF4-FFF2-40B4-BE49-F238E27FC236}">
                <a16:creationId xmlns:a16="http://schemas.microsoft.com/office/drawing/2014/main" id="{0C5A208F-4A53-43B9-A952-BDA0B78D97DA}"/>
              </a:ext>
            </a:extLst>
          </p:cNvPr>
          <p:cNvSpPr>
            <a:spLocks noGrp="1"/>
          </p:cNvSpPr>
          <p:nvPr/>
        </p:nvSpPr>
        <p:spPr>
          <a:xfrm>
            <a:off x="533400" y="1295400"/>
            <a:ext cx="10953750" cy="552450"/>
          </a:xfrm>
          <a:prstGeom prst="rect">
            <a:avLst/>
          </a:prstGeom>
          <a:noFill/>
          <a:ln w="0">
            <a:noFill/>
          </a:ln>
        </p:spPr>
        <p:txBody>
          <a:bodyPr lIns="0" tIns="0" rIns="0" bIns="0" anchor="t">
            <a:noAutofit/>
          </a:bodyPr>
          <a:lstStyle/>
          <a:p>
            <a:pPr algn="l">
              <a:buNone/>
              <a:defRPr sz="2850" b="1">
                <a:solidFill>
                  <a:srgbClr val="24323E"/>
                </a:solidFill>
                <a:latin typeface="Calibri"/>
                <a:ea typeface="Calibri"/>
                <a:cs typeface="Calibri"/>
              </a:defRPr>
            </a:pPr>
            <a:r>
              <a:rPr sz="2850" b="1">
                <a:solidFill>
                  <a:srgbClr val="24323E"/>
                </a:solidFill>
                <a:latin typeface="Calibri"/>
                <a:ea typeface="Calibri"/>
                <a:cs typeface="Calibri"/>
              </a:rPr>
              <a:t>How much money did these orders bring in?</a:t>
            </a:r>
          </a:p>
        </p:txBody>
      </p:sp>
      <p:sp>
        <p:nvSpPr>
          <p:cNvPr id="1002" name="1">
            <a:extLst>
              <a:ext uri="{FF2B5EF4-FFF2-40B4-BE49-F238E27FC236}">
                <a16:creationId xmlns:a16="http://schemas.microsoft.com/office/drawing/2014/main" id="{5D1BF94F-1ED5-4837-87BB-5ABE25EEDD9B}"/>
              </a:ext>
            </a:extLst>
          </p:cNvPr>
          <p:cNvSpPr>
            <a:spLocks noGrp="1"/>
          </p:cNvSpPr>
          <p:nvPr/>
        </p:nvSpPr>
        <p:spPr>
          <a:xfrm>
            <a:off x="552450" y="2266950"/>
            <a:ext cx="666750" cy="590550"/>
          </a:xfrm>
          <a:prstGeom prst="rect">
            <a:avLst/>
          </a:prstGeom>
          <a:noFill/>
          <a:ln w="0">
            <a:noFill/>
          </a:ln>
        </p:spPr>
        <p:txBody>
          <a:bodyPr lIns="0" tIns="0" rIns="0" bIns="0" anchor="t">
            <a:noAutofit/>
          </a:bodyPr>
          <a:lstStyle/>
          <a:p>
            <a:pPr algn="l">
              <a:buNone/>
              <a:defRPr sz="3600" b="0">
                <a:solidFill>
                  <a:srgbClr val="F67132"/>
                </a:solidFill>
                <a:latin typeface="Calibri"/>
                <a:ea typeface="Calibri"/>
                <a:cs typeface="Calibri"/>
              </a:defRPr>
            </a:pPr>
            <a:r>
              <a:rPr sz="3600" b="0">
                <a:solidFill>
                  <a:srgbClr val="F67132"/>
                </a:solidFill>
                <a:latin typeface="Calibri"/>
                <a:ea typeface="Calibri"/>
                <a:cs typeface="Calibri"/>
              </a:rPr>
              <a:t>1</a:t>
            </a:r>
          </a:p>
        </p:txBody>
      </p:sp>
      <p:sp>
        <p:nvSpPr>
          <p:cNvPr id="1003" name="Inspect the real file">
            <a:extLst>
              <a:ext uri="{FF2B5EF4-FFF2-40B4-BE49-F238E27FC236}">
                <a16:creationId xmlns:a16="http://schemas.microsoft.com/office/drawing/2014/main" id="{CA5F4C9B-BF94-41DD-8DDE-362B582939A4}"/>
              </a:ext>
            </a:extLst>
          </p:cNvPr>
          <p:cNvSpPr>
            <a:spLocks noGrp="1"/>
          </p:cNvSpPr>
          <p:nvPr/>
        </p:nvSpPr>
        <p:spPr>
          <a:xfrm>
            <a:off x="1428750" y="2219325"/>
            <a:ext cx="4000500" cy="428625"/>
          </a:xfrm>
          <a:prstGeom prst="rect">
            <a:avLst/>
          </a:prstGeom>
          <a:noFill/>
          <a:ln w="0">
            <a:noFill/>
          </a:ln>
        </p:spPr>
        <p:txBody>
          <a:bodyPr lIns="0" tIns="0" rIns="0" bIns="0" anchor="t">
            <a:noAutofit/>
          </a:bodyPr>
          <a:lstStyle/>
          <a:p>
            <a:pPr algn="l">
              <a:buNone/>
              <a:defRPr sz="2400" b="1">
                <a:solidFill>
                  <a:srgbClr val="24323E"/>
                </a:solidFill>
                <a:latin typeface="Calibri"/>
                <a:ea typeface="Calibri"/>
                <a:cs typeface="Calibri"/>
              </a:defRPr>
            </a:pPr>
            <a:r>
              <a:rPr sz="2400" b="1">
                <a:solidFill>
                  <a:srgbClr val="24323E"/>
                </a:solidFill>
                <a:latin typeface="Calibri"/>
                <a:ea typeface="Calibri"/>
                <a:cs typeface="Calibri"/>
              </a:rPr>
              <a:t>Inspect the real file</a:t>
            </a:r>
          </a:p>
        </p:txBody>
      </p:sp>
      <p:sp>
        <p:nvSpPr>
          <p:cNvPr id="1004" name="Find out what one row means and which columns need atte">
            <a:extLst>
              <a:ext uri="{FF2B5EF4-FFF2-40B4-BE49-F238E27FC236}">
                <a16:creationId xmlns:a16="http://schemas.microsoft.com/office/drawing/2014/main" id="{CB5A065A-4273-4F76-9AF5-AC6B2917EE31}"/>
              </a:ext>
            </a:extLst>
          </p:cNvPr>
          <p:cNvSpPr>
            <a:spLocks noGrp="1"/>
          </p:cNvSpPr>
          <p:nvPr/>
        </p:nvSpPr>
        <p:spPr>
          <a:xfrm>
            <a:off x="5619750" y="2219325"/>
            <a:ext cx="5905500" cy="771525"/>
          </a:xfrm>
          <a:prstGeom prst="rect">
            <a:avLst/>
          </a:prstGeom>
          <a:noFill/>
          <a:ln w="0">
            <a:noFill/>
          </a:ln>
        </p:spPr>
        <p:txBody>
          <a:bodyPr lIns="0" tIns="0" rIns="0" bIns="0" anchor="t">
            <a:noAutofit/>
          </a:bodyPr>
          <a:lstStyle/>
          <a:p>
            <a:pPr algn="l">
              <a:buNone/>
              <a:defRPr sz="2175" b="0">
                <a:solidFill>
                  <a:srgbClr val="24323E"/>
                </a:solidFill>
                <a:latin typeface="Calibri"/>
                <a:ea typeface="Calibri"/>
                <a:cs typeface="Calibri"/>
              </a:defRPr>
            </a:pPr>
            <a:r>
              <a:rPr sz="2175" b="0">
                <a:solidFill>
                  <a:srgbClr val="24323E"/>
                </a:solidFill>
                <a:latin typeface="Calibri"/>
                <a:ea typeface="Calibri"/>
                <a:cs typeface="Calibri"/>
              </a:rPr>
              <a:t>Find out what one row means and which columns need attention.</a:t>
            </a:r>
          </a:p>
        </p:txBody>
      </p:sp>
      <p:sp>
        <p:nvSpPr>
          <p:cNvPr id="1005" name="2">
            <a:extLst>
              <a:ext uri="{FF2B5EF4-FFF2-40B4-BE49-F238E27FC236}">
                <a16:creationId xmlns:a16="http://schemas.microsoft.com/office/drawing/2014/main" id="{7846DB99-D050-4A44-9C5D-D1859735F84C}"/>
              </a:ext>
            </a:extLst>
          </p:cNvPr>
          <p:cNvSpPr>
            <a:spLocks noGrp="1"/>
          </p:cNvSpPr>
          <p:nvPr/>
        </p:nvSpPr>
        <p:spPr>
          <a:xfrm>
            <a:off x="552450" y="3238500"/>
            <a:ext cx="666750" cy="590550"/>
          </a:xfrm>
          <a:prstGeom prst="rect">
            <a:avLst/>
          </a:prstGeom>
          <a:noFill/>
          <a:ln w="0">
            <a:noFill/>
          </a:ln>
        </p:spPr>
        <p:txBody>
          <a:bodyPr lIns="0" tIns="0" rIns="0" bIns="0" anchor="t">
            <a:noAutofit/>
          </a:bodyPr>
          <a:lstStyle/>
          <a:p>
            <a:pPr algn="l">
              <a:buNone/>
              <a:defRPr sz="3600" b="0">
                <a:solidFill>
                  <a:srgbClr val="F67132"/>
                </a:solidFill>
                <a:latin typeface="Calibri"/>
                <a:ea typeface="Calibri"/>
                <a:cs typeface="Calibri"/>
              </a:defRPr>
            </a:pPr>
            <a:r>
              <a:rPr sz="3600" b="0">
                <a:solidFill>
                  <a:srgbClr val="F67132"/>
                </a:solidFill>
                <a:latin typeface="Calibri"/>
                <a:ea typeface="Calibri"/>
                <a:cs typeface="Calibri"/>
              </a:rPr>
              <a:t>2</a:t>
            </a:r>
          </a:p>
        </p:txBody>
      </p:sp>
      <p:sp>
        <p:nvSpPr>
          <p:cNvPr id="1006" name="Repair eight small rows">
            <a:extLst>
              <a:ext uri="{FF2B5EF4-FFF2-40B4-BE49-F238E27FC236}">
                <a16:creationId xmlns:a16="http://schemas.microsoft.com/office/drawing/2014/main" id="{61668507-8D63-4B4F-B331-2DC4AA4E7A42}"/>
              </a:ext>
            </a:extLst>
          </p:cNvPr>
          <p:cNvSpPr>
            <a:spLocks noGrp="1"/>
          </p:cNvSpPr>
          <p:nvPr/>
        </p:nvSpPr>
        <p:spPr>
          <a:xfrm>
            <a:off x="1428750" y="3190875"/>
            <a:ext cx="4000500" cy="428625"/>
          </a:xfrm>
          <a:prstGeom prst="rect">
            <a:avLst/>
          </a:prstGeom>
          <a:noFill/>
          <a:ln w="0">
            <a:noFill/>
          </a:ln>
        </p:spPr>
        <p:txBody>
          <a:bodyPr lIns="0" tIns="0" rIns="0" bIns="0" anchor="t">
            <a:noAutofit/>
          </a:bodyPr>
          <a:lstStyle/>
          <a:p>
            <a:pPr algn="l">
              <a:buNone/>
              <a:defRPr sz="2400" b="1">
                <a:solidFill>
                  <a:srgbClr val="24323E"/>
                </a:solidFill>
                <a:latin typeface="Calibri"/>
                <a:ea typeface="Calibri"/>
                <a:cs typeface="Calibri"/>
              </a:defRPr>
            </a:pPr>
            <a:r>
              <a:rPr sz="2400" b="1">
                <a:solidFill>
                  <a:srgbClr val="24323E"/>
                </a:solidFill>
                <a:latin typeface="Calibri"/>
                <a:ea typeface="Calibri"/>
                <a:cs typeface="Calibri"/>
              </a:rPr>
              <a:t>Repair eight small rows</a:t>
            </a:r>
          </a:p>
        </p:txBody>
      </p:sp>
      <p:sp>
        <p:nvSpPr>
          <p:cNvPr id="1007" name="Practice the fixes on data you can check by eye.">
            <a:extLst>
              <a:ext uri="{FF2B5EF4-FFF2-40B4-BE49-F238E27FC236}">
                <a16:creationId xmlns:a16="http://schemas.microsoft.com/office/drawing/2014/main" id="{9C328BD5-25FD-4991-B3FC-3145594F3D0C}"/>
              </a:ext>
            </a:extLst>
          </p:cNvPr>
          <p:cNvSpPr>
            <a:spLocks noGrp="1"/>
          </p:cNvSpPr>
          <p:nvPr/>
        </p:nvSpPr>
        <p:spPr>
          <a:xfrm>
            <a:off x="5619750" y="3190875"/>
            <a:ext cx="5905500" cy="771525"/>
          </a:xfrm>
          <a:prstGeom prst="rect">
            <a:avLst/>
          </a:prstGeom>
          <a:noFill/>
          <a:ln w="0">
            <a:noFill/>
          </a:ln>
        </p:spPr>
        <p:txBody>
          <a:bodyPr lIns="0" tIns="0" rIns="0" bIns="0" anchor="t">
            <a:noAutofit/>
          </a:bodyPr>
          <a:lstStyle/>
          <a:p>
            <a:pPr algn="l">
              <a:buNone/>
              <a:defRPr sz="2175" b="0">
                <a:solidFill>
                  <a:srgbClr val="24323E"/>
                </a:solidFill>
                <a:latin typeface="Calibri"/>
                <a:ea typeface="Calibri"/>
                <a:cs typeface="Calibri"/>
              </a:defRPr>
            </a:pPr>
            <a:r>
              <a:rPr sz="2175" b="0">
                <a:solidFill>
                  <a:srgbClr val="24323E"/>
                </a:solidFill>
                <a:latin typeface="Calibri"/>
                <a:ea typeface="Calibri"/>
                <a:cs typeface="Calibri"/>
              </a:rPr>
              <a:t>Practice the fixes on data you can check by eye.</a:t>
            </a:r>
          </a:p>
        </p:txBody>
      </p:sp>
      <p:sp>
        <p:nvSpPr>
          <p:cNvPr id="1008" name="3">
            <a:extLst>
              <a:ext uri="{FF2B5EF4-FFF2-40B4-BE49-F238E27FC236}">
                <a16:creationId xmlns:a16="http://schemas.microsoft.com/office/drawing/2014/main" id="{2C499B31-5562-465C-8D8E-2AC7B093F5CD}"/>
              </a:ext>
            </a:extLst>
          </p:cNvPr>
          <p:cNvSpPr>
            <a:spLocks noGrp="1"/>
          </p:cNvSpPr>
          <p:nvPr/>
        </p:nvSpPr>
        <p:spPr>
          <a:xfrm>
            <a:off x="552450" y="4210050"/>
            <a:ext cx="666750" cy="590550"/>
          </a:xfrm>
          <a:prstGeom prst="rect">
            <a:avLst/>
          </a:prstGeom>
          <a:noFill/>
          <a:ln w="0">
            <a:noFill/>
          </a:ln>
        </p:spPr>
        <p:txBody>
          <a:bodyPr lIns="0" tIns="0" rIns="0" bIns="0" anchor="t">
            <a:noAutofit/>
          </a:bodyPr>
          <a:lstStyle/>
          <a:p>
            <a:pPr algn="l">
              <a:buNone/>
              <a:defRPr sz="3600" b="0">
                <a:solidFill>
                  <a:srgbClr val="F67132"/>
                </a:solidFill>
                <a:latin typeface="Calibri"/>
                <a:ea typeface="Calibri"/>
                <a:cs typeface="Calibri"/>
              </a:defRPr>
            </a:pPr>
            <a:r>
              <a:rPr sz="3600" b="0">
                <a:solidFill>
                  <a:srgbClr val="F67132"/>
                </a:solidFill>
                <a:latin typeface="Calibri"/>
                <a:ea typeface="Calibri"/>
                <a:cs typeface="Calibri"/>
              </a:rPr>
              <a:t>3</a:t>
            </a:r>
          </a:p>
        </p:txBody>
      </p:sp>
      <p:sp>
        <p:nvSpPr>
          <p:cNvPr id="1009" name="Finish and save">
            <a:extLst>
              <a:ext uri="{FF2B5EF4-FFF2-40B4-BE49-F238E27FC236}">
                <a16:creationId xmlns:a16="http://schemas.microsoft.com/office/drawing/2014/main" id="{05EDEF0E-6434-4013-9476-65695E9DD6F1}"/>
              </a:ext>
            </a:extLst>
          </p:cNvPr>
          <p:cNvSpPr>
            <a:spLocks noGrp="1"/>
          </p:cNvSpPr>
          <p:nvPr/>
        </p:nvSpPr>
        <p:spPr>
          <a:xfrm>
            <a:off x="1428750" y="4162425"/>
            <a:ext cx="4000500" cy="428625"/>
          </a:xfrm>
          <a:prstGeom prst="rect">
            <a:avLst/>
          </a:prstGeom>
          <a:noFill/>
          <a:ln w="0">
            <a:noFill/>
          </a:ln>
        </p:spPr>
        <p:txBody>
          <a:bodyPr lIns="0" tIns="0" rIns="0" bIns="0" anchor="t">
            <a:noAutofit/>
          </a:bodyPr>
          <a:lstStyle/>
          <a:p>
            <a:pPr algn="l">
              <a:buNone/>
              <a:defRPr sz="2400" b="1">
                <a:solidFill>
                  <a:srgbClr val="24323E"/>
                </a:solidFill>
                <a:latin typeface="Calibri"/>
                <a:ea typeface="Calibri"/>
                <a:cs typeface="Calibri"/>
              </a:defRPr>
            </a:pPr>
            <a:r>
              <a:rPr sz="2400" b="1">
                <a:solidFill>
                  <a:srgbClr val="24323E"/>
                </a:solidFill>
                <a:latin typeface="Calibri"/>
                <a:ea typeface="Calibri"/>
                <a:cs typeface="Calibri"/>
              </a:rPr>
              <a:t>Finish and save</a:t>
            </a:r>
          </a:p>
        </p:txBody>
      </p:sp>
      <p:sp>
        <p:nvSpPr>
          <p:cNvPr id="1010" name="Return to Chipotle, test the result, and save the clean">
            <a:extLst>
              <a:ext uri="{FF2B5EF4-FFF2-40B4-BE49-F238E27FC236}">
                <a16:creationId xmlns:a16="http://schemas.microsoft.com/office/drawing/2014/main" id="{E0C3EE25-D308-4EF9-B12D-8ABBBA57D155}"/>
              </a:ext>
            </a:extLst>
          </p:cNvPr>
          <p:cNvSpPr>
            <a:spLocks noGrp="1"/>
          </p:cNvSpPr>
          <p:nvPr/>
        </p:nvSpPr>
        <p:spPr>
          <a:xfrm>
            <a:off x="5619750" y="4162425"/>
            <a:ext cx="5905500" cy="771525"/>
          </a:xfrm>
          <a:prstGeom prst="rect">
            <a:avLst/>
          </a:prstGeom>
          <a:noFill/>
          <a:ln w="0">
            <a:noFill/>
          </a:ln>
        </p:spPr>
        <p:txBody>
          <a:bodyPr lIns="0" tIns="0" rIns="0" bIns="0" anchor="t">
            <a:noAutofit/>
          </a:bodyPr>
          <a:lstStyle/>
          <a:p>
            <a:pPr algn="l">
              <a:buNone/>
              <a:defRPr sz="2175" b="0">
                <a:solidFill>
                  <a:srgbClr val="24323E"/>
                </a:solidFill>
                <a:latin typeface="Calibri"/>
                <a:ea typeface="Calibri"/>
                <a:cs typeface="Calibri"/>
              </a:defRPr>
            </a:pPr>
            <a:r>
              <a:rPr sz="2175" b="0">
                <a:solidFill>
                  <a:srgbClr val="24323E"/>
                </a:solidFill>
                <a:latin typeface="Calibri"/>
                <a:ea typeface="Calibri"/>
                <a:cs typeface="Calibri"/>
              </a:rPr>
              <a:t>Return to Chipotle, test the result, and save the clean copy.</a:t>
            </a:r>
          </a:p>
        </p:txBody>
      </p:sp>
    </p:spTree>
    <p:extLst>
      <p:ext uri="{BB962C8B-B14F-4D97-AF65-F5344CB8AC3E}">
        <p14:creationId xmlns:p14="http://schemas.microsoft.com/office/powerpoint/2010/main" val="849415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When the code runs and the answer is wrong</a:t>
            </a:r>
          </a:p>
        </p:txBody>
      </p:sp>
      <p:sp>
        <p:nvSpPr>
          <p:cNvPr id="1001" name="These two columns look similar on screen.">
            <a:extLst>
              <a:ext uri="{FF2B5EF4-FFF2-40B4-BE49-F238E27FC236}">
                <a16:creationId xmlns:a16="http://schemas.microsoft.com/office/drawing/2014/main" id="{AC2DB88F-176F-44A3-B6D1-3B297E5B080B}"/>
              </a:ext>
            </a:extLst>
          </p:cNvPr>
          <p:cNvSpPr>
            <a:spLocks noGrp="1"/>
          </p:cNvSpPr>
          <p:nvPr/>
        </p:nvSpPr>
        <p:spPr>
          <a:xfrm>
            <a:off x="533400" y="1257300"/>
            <a:ext cx="10858500" cy="419100"/>
          </a:xfrm>
          <a:prstGeom prst="rect">
            <a:avLst/>
          </a:prstGeom>
          <a:noFill/>
          <a:ln w="0">
            <a:noFill/>
          </a:ln>
        </p:spPr>
        <p:txBody>
          <a:bodyPr lIns="0" tIns="0" rIns="0" bIns="0" anchor="t">
            <a:noAutofit/>
          </a:bodyPr>
          <a:lstStyle/>
          <a:p>
            <a:pPr algn="l">
              <a:buNone/>
              <a:defRPr sz="2400" b="0">
                <a:solidFill>
                  <a:srgbClr val="24323E"/>
                </a:solidFill>
                <a:latin typeface="Calibri"/>
                <a:ea typeface="Calibri"/>
                <a:cs typeface="Calibri"/>
              </a:defRPr>
            </a:pPr>
            <a:r>
              <a:rPr sz="2400" b="0">
                <a:solidFill>
                  <a:srgbClr val="24323E"/>
                </a:solidFill>
                <a:latin typeface="Calibri"/>
                <a:ea typeface="Calibri"/>
                <a:cs typeface="Calibri"/>
              </a:rPr>
              <a:t>These two columns look similar on screen.</a:t>
            </a:r>
          </a:p>
        </p:txBody>
      </p:sp>
      <p:graphicFrame>
        <p:nvGraphicFramePr>
          <p:cNvPr id="1009" name="Table 1008"/>
          <p:cNvGraphicFramePr/>
          <p:nvPr/>
        </p:nvGraphicFramePr>
        <p:xfrm>
          <a:off x="533400" y="2000250"/>
          <a:ext cx="10763250" cy="2286000"/>
        </p:xfrm>
        <a:graphic>
          <a:graphicData uri="http://schemas.openxmlformats.org/drawingml/2006/table">
            <a:tbl>
              <a:tblPr/>
              <a:tblGrid>
                <a:gridCol w="5381625">
                  <a:extLst>
                    <a:ext uri="{9D8B030D-6E8A-4147-A177-3AD203B41FA5}">
                      <a16:colId xmlns:a16="http://schemas.microsoft.com/office/drawing/2014/main" val="20000"/>
                    </a:ext>
                  </a:extLst>
                </a:gridCol>
                <a:gridCol w="5381625">
                  <a:extLst>
                    <a:ext uri="{9D8B030D-6E8A-4147-A177-3AD203B41FA5}">
                      <a16:colId xmlns:a16="http://schemas.microsoft.com/office/drawing/2014/main" val="20001"/>
                    </a:ext>
                  </a:extLst>
                </a:gridCol>
              </a:tblGrid>
              <a:tr h="571500">
                <a:tc>
                  <a:txBody>
                    <a:bodyPr/>
                    <a:lstStyle/>
                    <a:p>
                      <a:r>
                        <a:rPr sz="2400" b="1">
                          <a:solidFill>
                            <a:srgbClr val="FFFFFF"/>
                          </a:solidFill>
                          <a:latin typeface="Calibri"/>
                          <a:ea typeface="Calibri"/>
                          <a:cs typeface="Calibri"/>
                        </a:rPr>
                        <a:t>Text values</a:t>
                      </a:r>
                    </a:p>
                  </a:txBody>
                  <a:tcPr>
                    <a:solidFill>
                      <a:srgbClr val="24323E"/>
                    </a:solidFill>
                  </a:tcPr>
                </a:tc>
                <a:tc>
                  <a:txBody>
                    <a:bodyPr/>
                    <a:lstStyle/>
                    <a:p>
                      <a:r>
                        <a:rPr sz="2400" b="1">
                          <a:solidFill>
                            <a:srgbClr val="FFFFFF"/>
                          </a:solidFill>
                          <a:latin typeface="Calibri"/>
                          <a:ea typeface="Calibri"/>
                          <a:cs typeface="Calibri"/>
                        </a:rPr>
                        <a:t>Numeric values</a:t>
                      </a:r>
                    </a:p>
                  </a:txBody>
                  <a:tcPr>
                    <a:solidFill>
                      <a:srgbClr val="24323E"/>
                    </a:solidFill>
                  </a:tcPr>
                </a:tc>
                <a:extLst>
                  <a:ext uri="{0D108BD9-81ED-4DB2-BD59-A6C34878D82A}">
                    <a16:rowId xmlns:a16="http://schemas.microsoft.com/office/drawing/2014/main" val="10000"/>
                  </a:ext>
                </a:extLst>
              </a:tr>
              <a:tr h="571500">
                <a:tc>
                  <a:txBody>
                    <a:bodyPr/>
                    <a:lstStyle/>
                    <a:p>
                      <a:r>
                        <a:rPr sz="2400" b="0">
                          <a:solidFill>
                            <a:srgbClr val="24323E"/>
                          </a:solidFill>
                          <a:latin typeface="Calibri"/>
                          <a:ea typeface="Calibri"/>
                          <a:cs typeface="Calibri"/>
                        </a:rPr>
                        <a:t>"$2.39"</a:t>
                      </a:r>
                    </a:p>
                  </a:txBody>
                  <a:tcPr>
                    <a:solidFill>
                      <a:srgbClr val="FBE5D6"/>
                    </a:solidFill>
                  </a:tcPr>
                </a:tc>
                <a:tc>
                  <a:txBody>
                    <a:bodyPr/>
                    <a:lstStyle/>
                    <a:p>
                      <a:r>
                        <a:rPr sz="2400" b="0">
                          <a:solidFill>
                            <a:srgbClr val="24323E"/>
                          </a:solidFill>
                          <a:latin typeface="Calibri"/>
                          <a:ea typeface="Calibri"/>
                          <a:cs typeface="Calibri"/>
                        </a:rPr>
                        <a:t>2.39</a:t>
                      </a:r>
                    </a:p>
                  </a:txBody>
                  <a:tcPr>
                    <a:solidFill>
                      <a:srgbClr val="FBE5D6"/>
                    </a:solidFill>
                  </a:tcPr>
                </a:tc>
                <a:extLst>
                  <a:ext uri="{0D108BD9-81ED-4DB2-BD59-A6C34878D82A}">
                    <a16:rowId xmlns:a16="http://schemas.microsoft.com/office/drawing/2014/main" val="10001"/>
                  </a:ext>
                </a:extLst>
              </a:tr>
              <a:tr h="571500">
                <a:tc>
                  <a:txBody>
                    <a:bodyPr/>
                    <a:lstStyle/>
                    <a:p>
                      <a:r>
                        <a:rPr sz="2400" b="0">
                          <a:solidFill>
                            <a:srgbClr val="24323E"/>
                          </a:solidFill>
                          <a:latin typeface="Calibri"/>
                          <a:ea typeface="Calibri"/>
                          <a:cs typeface="Calibri"/>
                        </a:rPr>
                        <a:t>"$3.39"</a:t>
                      </a:r>
                    </a:p>
                  </a:txBody>
                  <a:tcPr>
                    <a:solidFill>
                      <a:srgbClr val="FFFFFF"/>
                    </a:solidFill>
                  </a:tcPr>
                </a:tc>
                <a:tc>
                  <a:txBody>
                    <a:bodyPr/>
                    <a:lstStyle/>
                    <a:p>
                      <a:r>
                        <a:rPr sz="2400" b="0">
                          <a:solidFill>
                            <a:srgbClr val="24323E"/>
                          </a:solidFill>
                          <a:latin typeface="Calibri"/>
                          <a:ea typeface="Calibri"/>
                          <a:cs typeface="Calibri"/>
                        </a:rPr>
                        <a:t>3.39</a:t>
                      </a:r>
                    </a:p>
                  </a:txBody>
                  <a:tcPr>
                    <a:solidFill>
                      <a:srgbClr val="FFFFFF"/>
                    </a:solidFill>
                  </a:tcPr>
                </a:tc>
                <a:extLst>
                  <a:ext uri="{0D108BD9-81ED-4DB2-BD59-A6C34878D82A}">
                    <a16:rowId xmlns:a16="http://schemas.microsoft.com/office/drawing/2014/main" val="10002"/>
                  </a:ext>
                </a:extLst>
              </a:tr>
              <a:tr h="571500">
                <a:tc>
                  <a:txBody>
                    <a:bodyPr/>
                    <a:lstStyle/>
                    <a:p>
                      <a:r>
                        <a:rPr sz="2400" b="0">
                          <a:solidFill>
                            <a:srgbClr val="24323E"/>
                          </a:solidFill>
                          <a:latin typeface="Calibri"/>
                          <a:ea typeface="Calibri"/>
                          <a:cs typeface="Calibri"/>
                        </a:rPr>
                        <a:t>"$3.39"</a:t>
                      </a:r>
                    </a:p>
                  </a:txBody>
                  <a:tcPr>
                    <a:solidFill>
                      <a:srgbClr val="FBE5D6"/>
                    </a:solidFill>
                  </a:tcPr>
                </a:tc>
                <a:tc>
                  <a:txBody>
                    <a:bodyPr/>
                    <a:lstStyle/>
                    <a:p>
                      <a:r>
                        <a:rPr sz="2400" b="0">
                          <a:solidFill>
                            <a:srgbClr val="24323E"/>
                          </a:solidFill>
                          <a:latin typeface="Calibri"/>
                          <a:ea typeface="Calibri"/>
                          <a:cs typeface="Calibri"/>
                        </a:rPr>
                        <a:t>3.39</a:t>
                      </a:r>
                    </a:p>
                  </a:txBody>
                  <a:tcPr>
                    <a:solidFill>
                      <a:srgbClr val="FBE5D6"/>
                    </a:solidFill>
                  </a:tcPr>
                </a:tc>
                <a:extLst>
                  <a:ext uri="{0D108BD9-81ED-4DB2-BD59-A6C34878D82A}">
                    <a16:rowId xmlns:a16="http://schemas.microsoft.com/office/drawing/2014/main" val="10003"/>
                  </a:ext>
                </a:extLst>
              </a:tr>
            </a:tbl>
          </a:graphicData>
        </a:graphic>
      </p:graphicFrame>
      <p:sp>
        <p:nvSpPr>
          <p:cNvPr id="1003" name="Text sum: &quot;$2.39$3.39$3.39&quot;">
            <a:extLst>
              <a:ext uri="{FF2B5EF4-FFF2-40B4-BE49-F238E27FC236}">
                <a16:creationId xmlns:a16="http://schemas.microsoft.com/office/drawing/2014/main" id="{AFE20BBD-E91C-43E1-A5E1-965BA7D900AC}"/>
              </a:ext>
            </a:extLst>
          </p:cNvPr>
          <p:cNvSpPr>
            <a:spLocks noGrp="1"/>
          </p:cNvSpPr>
          <p:nvPr/>
        </p:nvSpPr>
        <p:spPr>
          <a:xfrm>
            <a:off x="533400" y="4572000"/>
            <a:ext cx="5905500" cy="619125"/>
          </a:xfrm>
          <a:prstGeom prst="rect">
            <a:avLst/>
          </a:prstGeom>
          <a:noFill/>
          <a:ln w="0">
            <a:noFill/>
          </a:ln>
        </p:spPr>
        <p:txBody>
          <a:bodyPr lIns="0" tIns="0" rIns="0" bIns="0" anchor="t">
            <a:noAutofit/>
          </a:bodyPr>
          <a:lstStyle/>
          <a:p>
            <a:pPr algn="l">
              <a:buNone/>
              <a:defRPr sz="2250" b="1">
                <a:solidFill>
                  <a:srgbClr val="F67132"/>
                </a:solidFill>
                <a:latin typeface="Calibri"/>
                <a:ea typeface="Calibri"/>
                <a:cs typeface="Calibri"/>
              </a:defRPr>
            </a:pPr>
            <a:r>
              <a:rPr sz="2250" b="1">
                <a:solidFill>
                  <a:srgbClr val="F67132"/>
                </a:solidFill>
                <a:latin typeface="Calibri"/>
                <a:ea typeface="Calibri"/>
                <a:cs typeface="Calibri"/>
              </a:rPr>
              <a:t>Text sum: "$2.39$3.39$3.39"</a:t>
            </a:r>
          </a:p>
        </p:txBody>
      </p:sp>
      <p:sp>
        <p:nvSpPr>
          <p:cNvPr id="1004" name="Numeric sum: 9.17">
            <a:extLst>
              <a:ext uri="{FF2B5EF4-FFF2-40B4-BE49-F238E27FC236}">
                <a16:creationId xmlns:a16="http://schemas.microsoft.com/office/drawing/2014/main" id="{AC8EA37A-39B9-4990-967F-A5261341BC53}"/>
              </a:ext>
            </a:extLst>
          </p:cNvPr>
          <p:cNvSpPr>
            <a:spLocks noGrp="1"/>
          </p:cNvSpPr>
          <p:nvPr/>
        </p:nvSpPr>
        <p:spPr>
          <a:xfrm>
            <a:off x="6819900" y="4572000"/>
            <a:ext cx="4667250" cy="619125"/>
          </a:xfrm>
          <a:prstGeom prst="rect">
            <a:avLst/>
          </a:prstGeom>
          <a:noFill/>
          <a:ln w="0">
            <a:noFill/>
          </a:ln>
        </p:spPr>
        <p:txBody>
          <a:bodyPr lIns="0" tIns="0" rIns="0" bIns="0" anchor="t">
            <a:noAutofit/>
          </a:bodyPr>
          <a:lstStyle/>
          <a:p>
            <a:pPr algn="l">
              <a:buNone/>
              <a:defRPr sz="2550" b="1">
                <a:solidFill>
                  <a:srgbClr val="F67132"/>
                </a:solidFill>
                <a:latin typeface="Calibri"/>
                <a:ea typeface="Calibri"/>
                <a:cs typeface="Calibri"/>
              </a:defRPr>
            </a:pPr>
            <a:r>
              <a:rPr sz="2550" b="1">
                <a:solidFill>
                  <a:srgbClr val="F67132"/>
                </a:solidFill>
                <a:latin typeface="Calibri"/>
                <a:ea typeface="Calibri"/>
                <a:cs typeface="Calibri"/>
              </a:rPr>
              <a:t>Numeric sum: 9.17</a:t>
            </a:r>
          </a:p>
        </p:txBody>
      </p:sp>
      <p:sp>
        <p:nvSpPr>
          <p:cNvPr id="1005" name="The dtype determines the operation. A dollar sign does ">
            <a:extLst>
              <a:ext uri="{FF2B5EF4-FFF2-40B4-BE49-F238E27FC236}">
                <a16:creationId xmlns:a16="http://schemas.microsoft.com/office/drawing/2014/main" id="{2F032E00-2844-49F9-AD9E-46C519690900}"/>
              </a:ext>
            </a:extLst>
          </p:cNvPr>
          <p:cNvSpPr>
            <a:spLocks noGrp="1"/>
          </p:cNvSpPr>
          <p:nvPr/>
        </p:nvSpPr>
        <p:spPr>
          <a:xfrm>
            <a:off x="533400" y="5457825"/>
            <a:ext cx="11087100" cy="590550"/>
          </a:xfrm>
          <a:prstGeom prst="rect">
            <a:avLst/>
          </a:prstGeom>
          <a:noFill/>
          <a:ln w="0">
            <a:noFill/>
          </a:ln>
        </p:spPr>
        <p:txBody>
          <a:bodyPr lIns="0" tIns="0" rIns="0" bIns="0" anchor="t">
            <a:noAutofit/>
          </a:bodyPr>
          <a:lstStyle/>
          <a:p>
            <a:pPr algn="l">
              <a:buNone/>
              <a:defRPr sz="2175" b="1">
                <a:solidFill>
                  <a:srgbClr val="24323E"/>
                </a:solidFill>
                <a:latin typeface="Calibri"/>
                <a:ea typeface="Calibri"/>
                <a:cs typeface="Calibri"/>
              </a:defRPr>
            </a:pPr>
            <a:r>
              <a:rPr sz="2175" b="1">
                <a:solidFill>
                  <a:srgbClr val="24323E"/>
                </a:solidFill>
                <a:latin typeface="Calibri"/>
                <a:ea typeface="Calibri"/>
                <a:cs typeface="Calibri"/>
              </a:rPr>
              <a:t>The dtype determines the operation. A dollar sign does not make a number.</a:t>
            </a:r>
          </a:p>
        </p:txBody>
      </p:sp>
    </p:spTree>
    <p:extLst>
      <p:ext uri="{BB962C8B-B14F-4D97-AF65-F5344CB8AC3E}">
        <p14:creationId xmlns:p14="http://schemas.microsoft.com/office/powerpoint/2010/main" val="1206315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The data-quality questions</a:t>
            </a:r>
          </a:p>
        </p:txBody>
      </p:sp>
      <p:graphicFrame>
        <p:nvGraphicFramePr>
          <p:cNvPr id="1005" name="Table 1004"/>
          <p:cNvGraphicFramePr/>
          <p:nvPr/>
        </p:nvGraphicFramePr>
        <p:xfrm>
          <a:off x="533400" y="1295400"/>
          <a:ext cx="10763250" cy="3943350"/>
        </p:xfrm>
        <a:graphic>
          <a:graphicData uri="http://schemas.openxmlformats.org/drawingml/2006/table">
            <a:tbl>
              <a:tblPr/>
              <a:tblGrid>
                <a:gridCol w="36195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657225">
                <a:tc>
                  <a:txBody>
                    <a:bodyPr/>
                    <a:lstStyle/>
                    <a:p>
                      <a:r>
                        <a:rPr sz="2025" b="1">
                          <a:solidFill>
                            <a:srgbClr val="FFFFFF"/>
                          </a:solidFill>
                          <a:latin typeface="Calibri"/>
                          <a:ea typeface="Calibri"/>
                          <a:cs typeface="Calibri"/>
                        </a:rPr>
                        <a:t>Question</a:t>
                      </a:r>
                    </a:p>
                  </a:txBody>
                  <a:tcPr>
                    <a:solidFill>
                      <a:srgbClr val="24323E"/>
                    </a:solidFill>
                  </a:tcPr>
                </a:tc>
                <a:tc>
                  <a:txBody>
                    <a:bodyPr/>
                    <a:lstStyle/>
                    <a:p>
                      <a:r>
                        <a:rPr sz="2025" b="1">
                          <a:solidFill>
                            <a:srgbClr val="FFFFFF"/>
                          </a:solidFill>
                          <a:latin typeface="Calibri"/>
                          <a:ea typeface="Calibri"/>
                          <a:cs typeface="Calibri"/>
                        </a:rPr>
                        <a:t>Problem</a:t>
                      </a:r>
                    </a:p>
                  </a:txBody>
                  <a:tcPr>
                    <a:solidFill>
                      <a:srgbClr val="24323E"/>
                    </a:solidFill>
                  </a:tcPr>
                </a:tc>
                <a:tc>
                  <a:txBody>
                    <a:bodyPr/>
                    <a:lstStyle/>
                    <a:p>
                      <a:r>
                        <a:rPr sz="2025" b="1">
                          <a:solidFill>
                            <a:srgbClr val="FFFFFF"/>
                          </a:solidFill>
                          <a:latin typeface="Calibri"/>
                          <a:ea typeface="Calibri"/>
                          <a:cs typeface="Calibri"/>
                        </a:rPr>
                        <a:t>Example</a:t>
                      </a:r>
                    </a:p>
                  </a:txBody>
                  <a:tcPr>
                    <a:solidFill>
                      <a:srgbClr val="24323E"/>
                    </a:solidFill>
                  </a:tcPr>
                </a:tc>
                <a:extLst>
                  <a:ext uri="{0D108BD9-81ED-4DB2-BD59-A6C34878D82A}">
                    <a16:rowId xmlns:a16="http://schemas.microsoft.com/office/drawing/2014/main" val="10000"/>
                  </a:ext>
                </a:extLst>
              </a:tr>
              <a:tr h="657225">
                <a:tc>
                  <a:txBody>
                    <a:bodyPr/>
                    <a:lstStyle/>
                    <a:p>
                      <a:r>
                        <a:rPr sz="2025" b="0">
                          <a:solidFill>
                            <a:srgbClr val="24323E"/>
                          </a:solidFill>
                          <a:latin typeface="Calibri"/>
                          <a:ea typeface="Calibri"/>
                          <a:cs typeface="Calibri"/>
                        </a:rPr>
                        <a:t>Is something absent?</a:t>
                      </a:r>
                    </a:p>
                  </a:txBody>
                  <a:tcPr>
                    <a:solidFill>
                      <a:srgbClr val="FBE5D6"/>
                    </a:solidFill>
                  </a:tcPr>
                </a:tc>
                <a:tc>
                  <a:txBody>
                    <a:bodyPr/>
                    <a:lstStyle/>
                    <a:p>
                      <a:r>
                        <a:rPr sz="2025" b="0">
                          <a:solidFill>
                            <a:srgbClr val="24323E"/>
                          </a:solidFill>
                          <a:latin typeface="Calibri"/>
                          <a:ea typeface="Calibri"/>
                          <a:cs typeface="Calibri"/>
                        </a:rPr>
                        <a:t>Completeness</a:t>
                      </a:r>
                    </a:p>
                  </a:txBody>
                  <a:tcPr>
                    <a:solidFill>
                      <a:srgbClr val="FBE5D6"/>
                    </a:solidFill>
                  </a:tcPr>
                </a:tc>
                <a:tc>
                  <a:txBody>
                    <a:bodyPr/>
                    <a:lstStyle/>
                    <a:p>
                      <a:r>
                        <a:rPr sz="2025" b="0">
                          <a:solidFill>
                            <a:srgbClr val="24323E"/>
                          </a:solidFill>
                          <a:latin typeface="Calibri"/>
                          <a:ea typeface="Calibri"/>
                          <a:cs typeface="Calibri"/>
                        </a:rPr>
                        <a:t>A blank quantity</a:t>
                      </a:r>
                    </a:p>
                  </a:txBody>
                  <a:tcPr>
                    <a:solidFill>
                      <a:srgbClr val="FBE5D6"/>
                    </a:solidFill>
                  </a:tcPr>
                </a:tc>
                <a:extLst>
                  <a:ext uri="{0D108BD9-81ED-4DB2-BD59-A6C34878D82A}">
                    <a16:rowId xmlns:a16="http://schemas.microsoft.com/office/drawing/2014/main" val="10001"/>
                  </a:ext>
                </a:extLst>
              </a:tr>
              <a:tr h="657225">
                <a:tc>
                  <a:txBody>
                    <a:bodyPr/>
                    <a:lstStyle/>
                    <a:p>
                      <a:r>
                        <a:rPr sz="2025" b="0">
                          <a:solidFill>
                            <a:srgbClr val="24323E"/>
                          </a:solidFill>
                          <a:latin typeface="Calibri"/>
                          <a:ea typeface="Calibri"/>
                          <a:cs typeface="Calibri"/>
                        </a:rPr>
                        <a:t>Can we use the value?</a:t>
                      </a:r>
                    </a:p>
                  </a:txBody>
                  <a:tcPr>
                    <a:solidFill>
                      <a:srgbClr val="FFFFFF"/>
                    </a:solidFill>
                  </a:tcPr>
                </a:tc>
                <a:tc>
                  <a:txBody>
                    <a:bodyPr/>
                    <a:lstStyle/>
                    <a:p>
                      <a:r>
                        <a:rPr sz="2025" b="0">
                          <a:solidFill>
                            <a:srgbClr val="24323E"/>
                          </a:solidFill>
                          <a:latin typeface="Calibri"/>
                          <a:ea typeface="Calibri"/>
                          <a:cs typeface="Calibri"/>
                        </a:rPr>
                        <a:t>Validity</a:t>
                      </a:r>
                    </a:p>
                  </a:txBody>
                  <a:tcPr>
                    <a:solidFill>
                      <a:srgbClr val="FFFFFF"/>
                    </a:solidFill>
                  </a:tcPr>
                </a:tc>
                <a:tc>
                  <a:txBody>
                    <a:bodyPr/>
                    <a:lstStyle/>
                    <a:p>
                      <a:r>
                        <a:rPr sz="2025" b="0">
                          <a:solidFill>
                            <a:srgbClr val="24323E"/>
                          </a:solidFill>
                          <a:latin typeface="Calibri"/>
                          <a:ea typeface="Calibri"/>
                          <a:cs typeface="Calibri"/>
                        </a:rPr>
                        <a:t>A price stored as text</a:t>
                      </a:r>
                    </a:p>
                  </a:txBody>
                  <a:tcPr>
                    <a:solidFill>
                      <a:srgbClr val="FFFFFF"/>
                    </a:solidFill>
                  </a:tcPr>
                </a:tc>
                <a:extLst>
                  <a:ext uri="{0D108BD9-81ED-4DB2-BD59-A6C34878D82A}">
                    <a16:rowId xmlns:a16="http://schemas.microsoft.com/office/drawing/2014/main" val="10002"/>
                  </a:ext>
                </a:extLst>
              </a:tr>
              <a:tr h="657225">
                <a:tc>
                  <a:txBody>
                    <a:bodyPr/>
                    <a:lstStyle/>
                    <a:p>
                      <a:r>
                        <a:rPr sz="2025" b="0">
                          <a:solidFill>
                            <a:srgbClr val="24323E"/>
                          </a:solidFill>
                          <a:latin typeface="Calibri"/>
                          <a:ea typeface="Calibri"/>
                          <a:cs typeface="Calibri"/>
                        </a:rPr>
                        <a:t>Do names agree?</a:t>
                      </a:r>
                    </a:p>
                  </a:txBody>
                  <a:tcPr>
                    <a:solidFill>
                      <a:srgbClr val="FBE5D6"/>
                    </a:solidFill>
                  </a:tcPr>
                </a:tc>
                <a:tc>
                  <a:txBody>
                    <a:bodyPr/>
                    <a:lstStyle/>
                    <a:p>
                      <a:r>
                        <a:rPr sz="2025" b="0">
                          <a:solidFill>
                            <a:srgbClr val="24323E"/>
                          </a:solidFill>
                          <a:latin typeface="Calibri"/>
                          <a:ea typeface="Calibri"/>
                          <a:cs typeface="Calibri"/>
                        </a:rPr>
                        <a:t>Consistency</a:t>
                      </a:r>
                    </a:p>
                  </a:txBody>
                  <a:tcPr>
                    <a:solidFill>
                      <a:srgbClr val="FBE5D6"/>
                    </a:solidFill>
                  </a:tcPr>
                </a:tc>
                <a:tc>
                  <a:txBody>
                    <a:bodyPr/>
                    <a:lstStyle/>
                    <a:p>
                      <a:r>
                        <a:rPr sz="2025" b="0">
                          <a:solidFill>
                            <a:srgbClr val="24323E"/>
                          </a:solidFill>
                          <a:latin typeface="Calibri"/>
                          <a:ea typeface="Calibri"/>
                          <a:cs typeface="Calibri"/>
                        </a:rPr>
                        <a:t>Food and food</a:t>
                      </a:r>
                    </a:p>
                  </a:txBody>
                  <a:tcPr>
                    <a:solidFill>
                      <a:srgbClr val="FBE5D6"/>
                    </a:solidFill>
                  </a:tcPr>
                </a:tc>
                <a:extLst>
                  <a:ext uri="{0D108BD9-81ED-4DB2-BD59-A6C34878D82A}">
                    <a16:rowId xmlns:a16="http://schemas.microsoft.com/office/drawing/2014/main" val="10003"/>
                  </a:ext>
                </a:extLst>
              </a:tr>
              <a:tr h="657225">
                <a:tc>
                  <a:txBody>
                    <a:bodyPr/>
                    <a:lstStyle/>
                    <a:p>
                      <a:r>
                        <a:rPr sz="2025" b="0">
                          <a:solidFill>
                            <a:srgbClr val="24323E"/>
                          </a:solidFill>
                          <a:latin typeface="Calibri"/>
                          <a:ea typeface="Calibri"/>
                          <a:cs typeface="Calibri"/>
                        </a:rPr>
                        <a:t>Is this record repeated?</a:t>
                      </a:r>
                    </a:p>
                  </a:txBody>
                  <a:tcPr>
                    <a:solidFill>
                      <a:srgbClr val="FFFFFF"/>
                    </a:solidFill>
                  </a:tcPr>
                </a:tc>
                <a:tc>
                  <a:txBody>
                    <a:bodyPr/>
                    <a:lstStyle/>
                    <a:p>
                      <a:r>
                        <a:rPr sz="2025" b="0">
                          <a:solidFill>
                            <a:srgbClr val="24323E"/>
                          </a:solidFill>
                          <a:latin typeface="Calibri"/>
                          <a:ea typeface="Calibri"/>
                          <a:cs typeface="Calibri"/>
                        </a:rPr>
                        <a:t>Uniqueness</a:t>
                      </a:r>
                    </a:p>
                  </a:txBody>
                  <a:tcPr>
                    <a:solidFill>
                      <a:srgbClr val="FFFFFF"/>
                    </a:solidFill>
                  </a:tcPr>
                </a:tc>
                <a:tc>
                  <a:txBody>
                    <a:bodyPr/>
                    <a:lstStyle/>
                    <a:p>
                      <a:r>
                        <a:rPr sz="2025" b="0">
                          <a:solidFill>
                            <a:srgbClr val="24323E"/>
                          </a:solidFill>
                          <a:latin typeface="Calibri"/>
                          <a:ea typeface="Calibri"/>
                          <a:cs typeface="Calibri"/>
                        </a:rPr>
                        <a:t>The same exported row twice</a:t>
                      </a:r>
                    </a:p>
                  </a:txBody>
                  <a:tcPr>
                    <a:solidFill>
                      <a:srgbClr val="FFFFFF"/>
                    </a:solidFill>
                  </a:tcPr>
                </a:tc>
                <a:extLst>
                  <a:ext uri="{0D108BD9-81ED-4DB2-BD59-A6C34878D82A}">
                    <a16:rowId xmlns:a16="http://schemas.microsoft.com/office/drawing/2014/main" val="10004"/>
                  </a:ext>
                </a:extLst>
              </a:tr>
              <a:tr h="657225">
                <a:tc>
                  <a:txBody>
                    <a:bodyPr/>
                    <a:lstStyle/>
                    <a:p>
                      <a:r>
                        <a:rPr sz="2025" b="0">
                          <a:solidFill>
                            <a:srgbClr val="24323E"/>
                          </a:solidFill>
                          <a:latin typeface="Calibri"/>
                          <a:ea typeface="Calibri"/>
                          <a:cs typeface="Calibri"/>
                        </a:rPr>
                        <a:t>Does it reflect reality?</a:t>
                      </a:r>
                    </a:p>
                  </a:txBody>
                  <a:tcPr>
                    <a:solidFill>
                      <a:srgbClr val="FBE5D6"/>
                    </a:solidFill>
                  </a:tcPr>
                </a:tc>
                <a:tc>
                  <a:txBody>
                    <a:bodyPr/>
                    <a:lstStyle/>
                    <a:p>
                      <a:r>
                        <a:rPr sz="2025" b="0">
                          <a:solidFill>
                            <a:srgbClr val="24323E"/>
                          </a:solidFill>
                          <a:latin typeface="Calibri"/>
                          <a:ea typeface="Calibri"/>
                          <a:cs typeface="Calibri"/>
                        </a:rPr>
                        <a:t>Accuracy</a:t>
                      </a:r>
                    </a:p>
                  </a:txBody>
                  <a:tcPr>
                    <a:solidFill>
                      <a:srgbClr val="FBE5D6"/>
                    </a:solidFill>
                  </a:tcPr>
                </a:tc>
                <a:tc>
                  <a:txBody>
                    <a:bodyPr/>
                    <a:lstStyle/>
                    <a:p>
                      <a:r>
                        <a:rPr sz="2025" b="0">
                          <a:solidFill>
                            <a:srgbClr val="24323E"/>
                          </a:solidFill>
                          <a:latin typeface="Calibri"/>
                          <a:ea typeface="Calibri"/>
                          <a:cs typeface="Calibri"/>
                        </a:rPr>
                        <a:t>A negative quantity: refund or error?</a:t>
                      </a:r>
                    </a:p>
                  </a:txBody>
                  <a:tcPr>
                    <a:solidFill>
                      <a:srgbClr val="FBE5D6"/>
                    </a:solidFill>
                  </a:tcPr>
                </a:tc>
                <a:extLst>
                  <a:ext uri="{0D108BD9-81ED-4DB2-BD59-A6C34878D82A}">
                    <a16:rowId xmlns:a16="http://schemas.microsoft.com/office/drawing/2014/main" val="10005"/>
                  </a:ext>
                </a:extLst>
              </a:tr>
            </a:tbl>
          </a:graphicData>
        </a:graphic>
      </p:graphicFrame>
      <p:sp>
        <p:nvSpPr>
          <p:cNvPr id="1002" name="Today’s routine covers the first four. Accuracy needs c">
            <a:extLst>
              <a:ext uri="{FF2B5EF4-FFF2-40B4-BE49-F238E27FC236}">
                <a16:creationId xmlns:a16="http://schemas.microsoft.com/office/drawing/2014/main" id="{5425111E-1CFD-4F0E-BF53-37304989485F}"/>
              </a:ext>
            </a:extLst>
          </p:cNvPr>
          <p:cNvSpPr>
            <a:spLocks noGrp="1"/>
          </p:cNvSpPr>
          <p:nvPr/>
        </p:nvSpPr>
        <p:spPr>
          <a:xfrm>
            <a:off x="533400" y="5457825"/>
            <a:ext cx="11087100" cy="590550"/>
          </a:xfrm>
          <a:prstGeom prst="rect">
            <a:avLst/>
          </a:prstGeom>
          <a:noFill/>
          <a:ln w="0">
            <a:noFill/>
          </a:ln>
        </p:spPr>
        <p:txBody>
          <a:bodyPr lIns="0" tIns="0" rIns="0" bIns="0" anchor="t">
            <a:noAutofit/>
          </a:bodyPr>
          <a:lstStyle/>
          <a:p>
            <a:pPr algn="l">
              <a:buNone/>
              <a:defRPr sz="2175" b="1">
                <a:solidFill>
                  <a:srgbClr val="24323E"/>
                </a:solidFill>
                <a:latin typeface="Calibri"/>
                <a:ea typeface="Calibri"/>
                <a:cs typeface="Calibri"/>
              </a:defRPr>
            </a:pPr>
            <a:r>
              <a:rPr sz="2175" b="1" dirty="0">
                <a:solidFill>
                  <a:srgbClr val="24323E"/>
                </a:solidFill>
                <a:latin typeface="Calibri"/>
                <a:ea typeface="Calibri"/>
                <a:cs typeface="Calibri"/>
              </a:rPr>
              <a:t>Today’s routine covers the first four. Accuracy needs context</a:t>
            </a:r>
            <a:r>
              <a:rPr lang="en-US" sz="2175" b="1" dirty="0">
                <a:solidFill>
                  <a:srgbClr val="24323E"/>
                </a:solidFill>
                <a:latin typeface="Calibri"/>
                <a:ea typeface="Calibri"/>
                <a:cs typeface="Calibri"/>
              </a:rPr>
              <a:t> of the story we are trying to tell</a:t>
            </a:r>
            <a:endParaRPr sz="2175" b="1" dirty="0">
              <a:solidFill>
                <a:srgbClr val="24323E"/>
              </a:solidFill>
              <a:latin typeface="Calibri"/>
              <a:ea typeface="Calibri"/>
              <a:cs typeface="Calibri"/>
            </a:endParaRPr>
          </a:p>
        </p:txBody>
      </p:sp>
    </p:spTree>
    <p:extLst>
      <p:ext uri="{BB962C8B-B14F-4D97-AF65-F5344CB8AC3E}">
        <p14:creationId xmlns:p14="http://schemas.microsoft.com/office/powerpoint/2010/main" val="965336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The inspection routine</a:t>
            </a:r>
          </a:p>
        </p:txBody>
      </p:sp>
      <p:graphicFrame>
        <p:nvGraphicFramePr>
          <p:cNvPr id="1005" name="Table 1004"/>
          <p:cNvGraphicFramePr/>
          <p:nvPr/>
        </p:nvGraphicFramePr>
        <p:xfrm>
          <a:off x="533400" y="1314450"/>
          <a:ext cx="10763250" cy="3992880"/>
        </p:xfrm>
        <a:graphic>
          <a:graphicData uri="http://schemas.openxmlformats.org/drawingml/2006/table">
            <a:tbl>
              <a:tblPr/>
              <a:tblGrid>
                <a:gridCol w="447675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647700">
                <a:tc>
                  <a:txBody>
                    <a:bodyPr/>
                    <a:lstStyle/>
                    <a:p>
                      <a:r>
                        <a:rPr sz="2175" b="1">
                          <a:solidFill>
                            <a:srgbClr val="FFFFFF"/>
                          </a:solidFill>
                          <a:latin typeface="Calibri"/>
                          <a:ea typeface="Calibri"/>
                          <a:cs typeface="Calibri"/>
                        </a:rPr>
                        <a:t>Check</a:t>
                      </a:r>
                    </a:p>
                  </a:txBody>
                  <a:tcPr>
                    <a:solidFill>
                      <a:srgbClr val="24323E"/>
                    </a:solidFill>
                  </a:tcPr>
                </a:tc>
                <a:tc>
                  <a:txBody>
                    <a:bodyPr/>
                    <a:lstStyle/>
                    <a:p>
                      <a:r>
                        <a:rPr sz="2175" b="1">
                          <a:solidFill>
                            <a:srgbClr val="FFFFFF"/>
                          </a:solidFill>
                          <a:latin typeface="Calibri"/>
                          <a:ea typeface="Calibri"/>
                          <a:cs typeface="Calibri"/>
                        </a:rPr>
                        <a:t>What it tells you</a:t>
                      </a:r>
                    </a:p>
                  </a:txBody>
                  <a:tcPr>
                    <a:solidFill>
                      <a:srgbClr val="24323E"/>
                    </a:solidFill>
                  </a:tcPr>
                </a:tc>
                <a:extLst>
                  <a:ext uri="{0D108BD9-81ED-4DB2-BD59-A6C34878D82A}">
                    <a16:rowId xmlns:a16="http://schemas.microsoft.com/office/drawing/2014/main" val="10000"/>
                  </a:ext>
                </a:extLst>
              </a:tr>
              <a:tr h="647700">
                <a:tc>
                  <a:txBody>
                    <a:bodyPr/>
                    <a:lstStyle/>
                    <a:p>
                      <a:r>
                        <a:rPr sz="2175" b="0">
                          <a:solidFill>
                            <a:srgbClr val="24323E"/>
                          </a:solidFill>
                          <a:latin typeface="Calibri"/>
                          <a:ea typeface="Calibri"/>
                          <a:cs typeface="Calibri"/>
                        </a:rPr>
                        <a:t>info()</a:t>
                      </a:r>
                    </a:p>
                  </a:txBody>
                  <a:tcPr>
                    <a:solidFill>
                      <a:srgbClr val="FBE5D6"/>
                    </a:solidFill>
                  </a:tcPr>
                </a:tc>
                <a:tc>
                  <a:txBody>
                    <a:bodyPr/>
                    <a:lstStyle/>
                    <a:p>
                      <a:r>
                        <a:rPr sz="2175" b="0">
                          <a:solidFill>
                            <a:srgbClr val="24323E"/>
                          </a:solidFill>
                          <a:latin typeface="Calibri"/>
                          <a:ea typeface="Calibri"/>
                          <a:cs typeface="Calibri"/>
                        </a:rPr>
                        <a:t>Column types and non-null counts</a:t>
                      </a:r>
                    </a:p>
                  </a:txBody>
                  <a:tcPr>
                    <a:solidFill>
                      <a:srgbClr val="FBE5D6"/>
                    </a:solidFill>
                  </a:tcPr>
                </a:tc>
                <a:extLst>
                  <a:ext uri="{0D108BD9-81ED-4DB2-BD59-A6C34878D82A}">
                    <a16:rowId xmlns:a16="http://schemas.microsoft.com/office/drawing/2014/main" val="10001"/>
                  </a:ext>
                </a:extLst>
              </a:tr>
              <a:tr h="647700">
                <a:tc>
                  <a:txBody>
                    <a:bodyPr/>
                    <a:lstStyle/>
                    <a:p>
                      <a:r>
                        <a:rPr sz="2175" b="0">
                          <a:solidFill>
                            <a:srgbClr val="24323E"/>
                          </a:solidFill>
                          <a:latin typeface="Calibri"/>
                          <a:ea typeface="Calibri"/>
                          <a:cs typeface="Calibri"/>
                        </a:rPr>
                        <a:t>describe()</a:t>
                      </a:r>
                    </a:p>
                  </a:txBody>
                  <a:tcPr>
                    <a:solidFill>
                      <a:srgbClr val="FFFFFF"/>
                    </a:solidFill>
                  </a:tcPr>
                </a:tc>
                <a:tc>
                  <a:txBody>
                    <a:bodyPr/>
                    <a:lstStyle/>
                    <a:p>
                      <a:r>
                        <a:rPr sz="2175" b="0">
                          <a:solidFill>
                            <a:srgbClr val="24323E"/>
                          </a:solidFill>
                          <a:latin typeface="Calibri"/>
                          <a:ea typeface="Calibri"/>
                          <a:cs typeface="Calibri"/>
                        </a:rPr>
                        <a:t>Numeric ranges, extremes, and missing numeric columns</a:t>
                      </a:r>
                    </a:p>
                  </a:txBody>
                  <a:tcPr>
                    <a:solidFill>
                      <a:srgbClr val="FFFFFF"/>
                    </a:solidFill>
                  </a:tcPr>
                </a:tc>
                <a:extLst>
                  <a:ext uri="{0D108BD9-81ED-4DB2-BD59-A6C34878D82A}">
                    <a16:rowId xmlns:a16="http://schemas.microsoft.com/office/drawing/2014/main" val="10002"/>
                  </a:ext>
                </a:extLst>
              </a:tr>
              <a:tr h="647700">
                <a:tc>
                  <a:txBody>
                    <a:bodyPr/>
                    <a:lstStyle/>
                    <a:p>
                      <a:r>
                        <a:rPr sz="2175" b="0">
                          <a:solidFill>
                            <a:srgbClr val="24323E"/>
                          </a:solidFill>
                          <a:latin typeface="Calibri"/>
                          <a:ea typeface="Calibri"/>
                          <a:cs typeface="Calibri"/>
                        </a:rPr>
                        <a:t>nunique() / value_counts()</a:t>
                      </a:r>
                    </a:p>
                  </a:txBody>
                  <a:tcPr>
                    <a:solidFill>
                      <a:srgbClr val="FBE5D6"/>
                    </a:solidFill>
                  </a:tcPr>
                </a:tc>
                <a:tc>
                  <a:txBody>
                    <a:bodyPr/>
                    <a:lstStyle/>
                    <a:p>
                      <a:r>
                        <a:rPr sz="2175" b="0">
                          <a:solidFill>
                            <a:srgbClr val="24323E"/>
                          </a:solidFill>
                          <a:latin typeface="Calibri"/>
                          <a:ea typeface="Calibri"/>
                          <a:cs typeface="Calibri"/>
                        </a:rPr>
                        <a:t>Distinct values and how often they appear</a:t>
                      </a:r>
                    </a:p>
                  </a:txBody>
                  <a:tcPr>
                    <a:solidFill>
                      <a:srgbClr val="FBE5D6"/>
                    </a:solidFill>
                  </a:tcPr>
                </a:tc>
                <a:extLst>
                  <a:ext uri="{0D108BD9-81ED-4DB2-BD59-A6C34878D82A}">
                    <a16:rowId xmlns:a16="http://schemas.microsoft.com/office/drawing/2014/main" val="10003"/>
                  </a:ext>
                </a:extLst>
              </a:tr>
              <a:tr h="647700">
                <a:tc>
                  <a:txBody>
                    <a:bodyPr/>
                    <a:lstStyle/>
                    <a:p>
                      <a:r>
                        <a:rPr sz="2175" b="0">
                          <a:solidFill>
                            <a:srgbClr val="24323E"/>
                          </a:solidFill>
                          <a:latin typeface="Calibri"/>
                          <a:ea typeface="Calibri"/>
                          <a:cs typeface="Calibri"/>
                        </a:rPr>
                        <a:t>isna().sum()</a:t>
                      </a:r>
                    </a:p>
                  </a:txBody>
                  <a:tcPr>
                    <a:solidFill>
                      <a:srgbClr val="FFFFFF"/>
                    </a:solidFill>
                  </a:tcPr>
                </a:tc>
                <a:tc>
                  <a:txBody>
                    <a:bodyPr/>
                    <a:lstStyle/>
                    <a:p>
                      <a:r>
                        <a:rPr sz="2175" b="0">
                          <a:solidFill>
                            <a:srgbClr val="24323E"/>
                          </a:solidFill>
                          <a:latin typeface="Calibri"/>
                          <a:ea typeface="Calibri"/>
                          <a:cs typeface="Calibri"/>
                        </a:rPr>
                        <a:t>Which columns have blanks</a:t>
                      </a:r>
                    </a:p>
                  </a:txBody>
                  <a:tcPr>
                    <a:solidFill>
                      <a:srgbClr val="FFFFFF"/>
                    </a:solidFill>
                  </a:tcPr>
                </a:tc>
                <a:extLst>
                  <a:ext uri="{0D108BD9-81ED-4DB2-BD59-A6C34878D82A}">
                    <a16:rowId xmlns:a16="http://schemas.microsoft.com/office/drawing/2014/main" val="10004"/>
                  </a:ext>
                </a:extLst>
              </a:tr>
              <a:tr h="647700">
                <a:tc>
                  <a:txBody>
                    <a:bodyPr/>
                    <a:lstStyle/>
                    <a:p>
                      <a:r>
                        <a:rPr sz="2175" b="0">
                          <a:solidFill>
                            <a:srgbClr val="24323E"/>
                          </a:solidFill>
                          <a:latin typeface="Calibri"/>
                          <a:ea typeface="Calibri"/>
                          <a:cs typeface="Calibri"/>
                        </a:rPr>
                        <a:t>duplicated().sum()</a:t>
                      </a:r>
                    </a:p>
                  </a:txBody>
                  <a:tcPr>
                    <a:solidFill>
                      <a:srgbClr val="FBE5D6"/>
                    </a:solidFill>
                  </a:tcPr>
                </a:tc>
                <a:tc>
                  <a:txBody>
                    <a:bodyPr/>
                    <a:lstStyle/>
                    <a:p>
                      <a:r>
                        <a:rPr sz="2175" b="0">
                          <a:solidFill>
                            <a:srgbClr val="24323E"/>
                          </a:solidFill>
                          <a:latin typeface="Calibri"/>
                          <a:ea typeface="Calibri"/>
                          <a:cs typeface="Calibri"/>
                        </a:rPr>
                        <a:t>How many rows repeat exactly</a:t>
                      </a:r>
                    </a:p>
                  </a:txBody>
                  <a:tcPr>
                    <a:solidFill>
                      <a:srgbClr val="FBE5D6"/>
                    </a:solidFill>
                  </a:tcPr>
                </a:tc>
                <a:extLst>
                  <a:ext uri="{0D108BD9-81ED-4DB2-BD59-A6C34878D82A}">
                    <a16:rowId xmlns:a16="http://schemas.microsoft.com/office/drawing/2014/main" val="10005"/>
                  </a:ext>
                </a:extLst>
              </a:tr>
            </a:tbl>
          </a:graphicData>
        </a:graphic>
      </p:graphicFrame>
      <p:sp>
        <p:nvSpPr>
          <p:cNvPr id="1002" name="Then ask one real question. Does the result have the ri">
            <a:extLst>
              <a:ext uri="{FF2B5EF4-FFF2-40B4-BE49-F238E27FC236}">
                <a16:creationId xmlns:a16="http://schemas.microsoft.com/office/drawing/2014/main" id="{F950C540-3837-4BB2-B25D-C5A94D9D3B1E}"/>
              </a:ext>
            </a:extLst>
          </p:cNvPr>
          <p:cNvSpPr>
            <a:spLocks noGrp="1"/>
          </p:cNvSpPr>
          <p:nvPr/>
        </p:nvSpPr>
        <p:spPr>
          <a:xfrm>
            <a:off x="533400" y="5457825"/>
            <a:ext cx="11087100" cy="590550"/>
          </a:xfrm>
          <a:prstGeom prst="rect">
            <a:avLst/>
          </a:prstGeom>
          <a:noFill/>
          <a:ln w="0">
            <a:noFill/>
          </a:ln>
        </p:spPr>
        <p:txBody>
          <a:bodyPr lIns="0" tIns="0" rIns="0" bIns="0" anchor="t">
            <a:noAutofit/>
          </a:bodyPr>
          <a:lstStyle/>
          <a:p>
            <a:pPr algn="l">
              <a:buNone/>
              <a:defRPr sz="2175" b="1">
                <a:solidFill>
                  <a:srgbClr val="24323E"/>
                </a:solidFill>
                <a:latin typeface="Calibri"/>
                <a:ea typeface="Calibri"/>
                <a:cs typeface="Calibri"/>
              </a:defRPr>
            </a:pPr>
            <a:r>
              <a:rPr sz="2175" b="1">
                <a:solidFill>
                  <a:srgbClr val="24323E"/>
                </a:solidFill>
                <a:latin typeface="Calibri"/>
                <a:ea typeface="Calibri"/>
                <a:cs typeface="Calibri"/>
              </a:rPr>
              <a:t>Then ask one real question. Does the result have the right meaning and type?</a:t>
            </a:r>
          </a:p>
        </p:txBody>
      </p:sp>
    </p:spTree>
    <p:extLst>
      <p:ext uri="{BB962C8B-B14F-4D97-AF65-F5344CB8AC3E}">
        <p14:creationId xmlns:p14="http://schemas.microsoft.com/office/powerpoint/2010/main" val="540638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What does one row represent?</a:t>
            </a:r>
          </a:p>
        </p:txBody>
      </p:sp>
      <p:sp>
        <p:nvSpPr>
          <p:cNvPr id="1001" name="Chipotle: 4,622 rows across 1,834 orders">
            <a:extLst>
              <a:ext uri="{FF2B5EF4-FFF2-40B4-BE49-F238E27FC236}">
                <a16:creationId xmlns:a16="http://schemas.microsoft.com/office/drawing/2014/main" id="{AC65122B-57A7-4AEB-9F88-EA3238C0F22B}"/>
              </a:ext>
            </a:extLst>
          </p:cNvPr>
          <p:cNvSpPr>
            <a:spLocks noGrp="1"/>
          </p:cNvSpPr>
          <p:nvPr/>
        </p:nvSpPr>
        <p:spPr>
          <a:xfrm>
            <a:off x="533400" y="1257300"/>
            <a:ext cx="10668000" cy="428625"/>
          </a:xfrm>
          <a:prstGeom prst="rect">
            <a:avLst/>
          </a:prstGeom>
          <a:noFill/>
          <a:ln w="0">
            <a:noFill/>
          </a:ln>
        </p:spPr>
        <p:txBody>
          <a:bodyPr lIns="0" tIns="0" rIns="0" bIns="0" anchor="t">
            <a:noAutofit/>
          </a:bodyPr>
          <a:lstStyle/>
          <a:p>
            <a:pPr algn="l">
              <a:buNone/>
              <a:defRPr sz="2550" b="1">
                <a:solidFill>
                  <a:srgbClr val="F67132"/>
                </a:solidFill>
                <a:latin typeface="Calibri"/>
                <a:ea typeface="Calibri"/>
                <a:cs typeface="Calibri"/>
              </a:defRPr>
            </a:pPr>
            <a:r>
              <a:rPr sz="2550" b="1">
                <a:solidFill>
                  <a:srgbClr val="F67132"/>
                </a:solidFill>
                <a:latin typeface="Calibri"/>
                <a:ea typeface="Calibri"/>
                <a:cs typeface="Calibri"/>
              </a:rPr>
              <a:t>Chipotle: 4,622 rows across 1,834 orders</a:t>
            </a:r>
          </a:p>
        </p:txBody>
      </p:sp>
      <p:graphicFrame>
        <p:nvGraphicFramePr>
          <p:cNvPr id="1007" name="Table 1006"/>
          <p:cNvGraphicFramePr/>
          <p:nvPr/>
        </p:nvGraphicFramePr>
        <p:xfrm>
          <a:off x="533400" y="1981200"/>
          <a:ext cx="10763250" cy="2952750"/>
        </p:xfrm>
        <a:graphic>
          <a:graphicData uri="http://schemas.openxmlformats.org/drawingml/2006/table">
            <a:tbl>
              <a:tblPr/>
              <a:tblGrid>
                <a:gridCol w="1619250">
                  <a:extLst>
                    <a:ext uri="{9D8B030D-6E8A-4147-A177-3AD203B41FA5}">
                      <a16:colId xmlns:a16="http://schemas.microsoft.com/office/drawing/2014/main" val="20000"/>
                    </a:ext>
                  </a:extLst>
                </a:gridCol>
                <a:gridCol w="7048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590550">
                <a:tc>
                  <a:txBody>
                    <a:bodyPr/>
                    <a:lstStyle/>
                    <a:p>
                      <a:r>
                        <a:rPr sz="2100" b="1">
                          <a:solidFill>
                            <a:srgbClr val="FFFFFF"/>
                          </a:solidFill>
                          <a:latin typeface="Calibri"/>
                          <a:ea typeface="Calibri"/>
                          <a:cs typeface="Calibri"/>
                        </a:rPr>
                        <a:t>order_id</a:t>
                      </a:r>
                    </a:p>
                  </a:txBody>
                  <a:tcPr>
                    <a:solidFill>
                      <a:srgbClr val="24323E"/>
                    </a:solidFill>
                  </a:tcPr>
                </a:tc>
                <a:tc>
                  <a:txBody>
                    <a:bodyPr/>
                    <a:lstStyle/>
                    <a:p>
                      <a:r>
                        <a:rPr sz="2100" b="1">
                          <a:solidFill>
                            <a:srgbClr val="FFFFFF"/>
                          </a:solidFill>
                          <a:latin typeface="Calibri"/>
                          <a:ea typeface="Calibri"/>
                          <a:cs typeface="Calibri"/>
                        </a:rPr>
                        <a:t>item_name</a:t>
                      </a:r>
                    </a:p>
                  </a:txBody>
                  <a:tcPr>
                    <a:solidFill>
                      <a:srgbClr val="24323E"/>
                    </a:solidFill>
                  </a:tcPr>
                </a:tc>
                <a:tc>
                  <a:txBody>
                    <a:bodyPr/>
                    <a:lstStyle/>
                    <a:p>
                      <a:r>
                        <a:rPr sz="2100" b="1">
                          <a:solidFill>
                            <a:srgbClr val="FFFFFF"/>
                          </a:solidFill>
                          <a:latin typeface="Calibri"/>
                          <a:ea typeface="Calibri"/>
                          <a:cs typeface="Calibri"/>
                        </a:rPr>
                        <a:t>quantity</a:t>
                      </a:r>
                    </a:p>
                  </a:txBody>
                  <a:tcPr>
                    <a:solidFill>
                      <a:srgbClr val="24323E"/>
                    </a:solidFill>
                  </a:tcPr>
                </a:tc>
                <a:extLst>
                  <a:ext uri="{0D108BD9-81ED-4DB2-BD59-A6C34878D82A}">
                    <a16:rowId xmlns:a16="http://schemas.microsoft.com/office/drawing/2014/main" val="10000"/>
                  </a:ext>
                </a:extLst>
              </a:tr>
              <a:tr h="590550">
                <a:tc>
                  <a:txBody>
                    <a:bodyPr/>
                    <a:lstStyle/>
                    <a:p>
                      <a:r>
                        <a:rPr sz="2100" b="0">
                          <a:solidFill>
                            <a:srgbClr val="24323E"/>
                          </a:solidFill>
                          <a:latin typeface="Calibri"/>
                          <a:ea typeface="Calibri"/>
                          <a:cs typeface="Calibri"/>
                        </a:rPr>
                        <a:t>1</a:t>
                      </a:r>
                    </a:p>
                  </a:txBody>
                  <a:tcPr>
                    <a:solidFill>
                      <a:srgbClr val="FBE5D6"/>
                    </a:solidFill>
                  </a:tcPr>
                </a:tc>
                <a:tc>
                  <a:txBody>
                    <a:bodyPr/>
                    <a:lstStyle/>
                    <a:p>
                      <a:r>
                        <a:rPr sz="2100" b="0">
                          <a:solidFill>
                            <a:srgbClr val="24323E"/>
                          </a:solidFill>
                          <a:latin typeface="Calibri"/>
                          <a:ea typeface="Calibri"/>
                          <a:cs typeface="Calibri"/>
                        </a:rPr>
                        <a:t>Chips and Fresh Tomato Salsa</a:t>
                      </a:r>
                    </a:p>
                  </a:txBody>
                  <a:tcPr>
                    <a:solidFill>
                      <a:srgbClr val="FBE5D6"/>
                    </a:solidFill>
                  </a:tcPr>
                </a:tc>
                <a:tc>
                  <a:txBody>
                    <a:bodyPr/>
                    <a:lstStyle/>
                    <a:p>
                      <a:r>
                        <a:rPr sz="2100" b="0">
                          <a:solidFill>
                            <a:srgbClr val="24323E"/>
                          </a:solidFill>
                          <a:latin typeface="Calibri"/>
                          <a:ea typeface="Calibri"/>
                          <a:cs typeface="Calibri"/>
                        </a:rPr>
                        <a:t>1</a:t>
                      </a:r>
                    </a:p>
                  </a:txBody>
                  <a:tcPr>
                    <a:solidFill>
                      <a:srgbClr val="FBE5D6"/>
                    </a:solidFill>
                  </a:tcPr>
                </a:tc>
                <a:extLst>
                  <a:ext uri="{0D108BD9-81ED-4DB2-BD59-A6C34878D82A}">
                    <a16:rowId xmlns:a16="http://schemas.microsoft.com/office/drawing/2014/main" val="10001"/>
                  </a:ext>
                </a:extLst>
              </a:tr>
              <a:tr h="590550">
                <a:tc>
                  <a:txBody>
                    <a:bodyPr/>
                    <a:lstStyle/>
                    <a:p>
                      <a:r>
                        <a:rPr sz="2100" b="0">
                          <a:solidFill>
                            <a:srgbClr val="24323E"/>
                          </a:solidFill>
                          <a:latin typeface="Calibri"/>
                          <a:ea typeface="Calibri"/>
                          <a:cs typeface="Calibri"/>
                        </a:rPr>
                        <a:t>1</a:t>
                      </a:r>
                    </a:p>
                  </a:txBody>
                  <a:tcPr>
                    <a:solidFill>
                      <a:srgbClr val="FFFFFF"/>
                    </a:solidFill>
                  </a:tcPr>
                </a:tc>
                <a:tc>
                  <a:txBody>
                    <a:bodyPr/>
                    <a:lstStyle/>
                    <a:p>
                      <a:r>
                        <a:rPr sz="2100" b="0">
                          <a:solidFill>
                            <a:srgbClr val="24323E"/>
                          </a:solidFill>
                          <a:latin typeface="Calibri"/>
                          <a:ea typeface="Calibri"/>
                          <a:cs typeface="Calibri"/>
                        </a:rPr>
                        <a:t>Izze</a:t>
                      </a:r>
                    </a:p>
                  </a:txBody>
                  <a:tcPr>
                    <a:solidFill>
                      <a:srgbClr val="FFFFFF"/>
                    </a:solidFill>
                  </a:tcPr>
                </a:tc>
                <a:tc>
                  <a:txBody>
                    <a:bodyPr/>
                    <a:lstStyle/>
                    <a:p>
                      <a:r>
                        <a:rPr sz="2100" b="0">
                          <a:solidFill>
                            <a:srgbClr val="24323E"/>
                          </a:solidFill>
                          <a:latin typeface="Calibri"/>
                          <a:ea typeface="Calibri"/>
                          <a:cs typeface="Calibri"/>
                        </a:rPr>
                        <a:t>1</a:t>
                      </a:r>
                    </a:p>
                  </a:txBody>
                  <a:tcPr>
                    <a:solidFill>
                      <a:srgbClr val="FFFFFF"/>
                    </a:solidFill>
                  </a:tcPr>
                </a:tc>
                <a:extLst>
                  <a:ext uri="{0D108BD9-81ED-4DB2-BD59-A6C34878D82A}">
                    <a16:rowId xmlns:a16="http://schemas.microsoft.com/office/drawing/2014/main" val="10002"/>
                  </a:ext>
                </a:extLst>
              </a:tr>
              <a:tr h="590550">
                <a:tc>
                  <a:txBody>
                    <a:bodyPr/>
                    <a:lstStyle/>
                    <a:p>
                      <a:r>
                        <a:rPr sz="2100" b="0">
                          <a:solidFill>
                            <a:srgbClr val="24323E"/>
                          </a:solidFill>
                          <a:latin typeface="Calibri"/>
                          <a:ea typeface="Calibri"/>
                          <a:cs typeface="Calibri"/>
                        </a:rPr>
                        <a:t>1</a:t>
                      </a:r>
                    </a:p>
                  </a:txBody>
                  <a:tcPr>
                    <a:solidFill>
                      <a:srgbClr val="FBE5D6"/>
                    </a:solidFill>
                  </a:tcPr>
                </a:tc>
                <a:tc>
                  <a:txBody>
                    <a:bodyPr/>
                    <a:lstStyle/>
                    <a:p>
                      <a:r>
                        <a:rPr sz="2100" b="0">
                          <a:solidFill>
                            <a:srgbClr val="24323E"/>
                          </a:solidFill>
                          <a:latin typeface="Calibri"/>
                          <a:ea typeface="Calibri"/>
                          <a:cs typeface="Calibri"/>
                        </a:rPr>
                        <a:t>Nantucket Nectar</a:t>
                      </a:r>
                    </a:p>
                  </a:txBody>
                  <a:tcPr>
                    <a:solidFill>
                      <a:srgbClr val="FBE5D6"/>
                    </a:solidFill>
                  </a:tcPr>
                </a:tc>
                <a:tc>
                  <a:txBody>
                    <a:bodyPr/>
                    <a:lstStyle/>
                    <a:p>
                      <a:r>
                        <a:rPr sz="2100" b="0">
                          <a:solidFill>
                            <a:srgbClr val="24323E"/>
                          </a:solidFill>
                          <a:latin typeface="Calibri"/>
                          <a:ea typeface="Calibri"/>
                          <a:cs typeface="Calibri"/>
                        </a:rPr>
                        <a:t>1</a:t>
                      </a:r>
                    </a:p>
                  </a:txBody>
                  <a:tcPr>
                    <a:solidFill>
                      <a:srgbClr val="FBE5D6"/>
                    </a:solidFill>
                  </a:tcPr>
                </a:tc>
                <a:extLst>
                  <a:ext uri="{0D108BD9-81ED-4DB2-BD59-A6C34878D82A}">
                    <a16:rowId xmlns:a16="http://schemas.microsoft.com/office/drawing/2014/main" val="10003"/>
                  </a:ext>
                </a:extLst>
              </a:tr>
              <a:tr h="590550">
                <a:tc>
                  <a:txBody>
                    <a:bodyPr/>
                    <a:lstStyle/>
                    <a:p>
                      <a:r>
                        <a:rPr sz="2100" b="0">
                          <a:solidFill>
                            <a:srgbClr val="24323E"/>
                          </a:solidFill>
                          <a:latin typeface="Calibri"/>
                          <a:ea typeface="Calibri"/>
                          <a:cs typeface="Calibri"/>
                        </a:rPr>
                        <a:t>1</a:t>
                      </a:r>
                    </a:p>
                  </a:txBody>
                  <a:tcPr>
                    <a:solidFill>
                      <a:srgbClr val="FFFFFF"/>
                    </a:solidFill>
                  </a:tcPr>
                </a:tc>
                <a:tc>
                  <a:txBody>
                    <a:bodyPr/>
                    <a:lstStyle/>
                    <a:p>
                      <a:r>
                        <a:rPr sz="2100" b="0">
                          <a:solidFill>
                            <a:srgbClr val="24323E"/>
                          </a:solidFill>
                          <a:latin typeface="Calibri"/>
                          <a:ea typeface="Calibri"/>
                          <a:cs typeface="Calibri"/>
                        </a:rPr>
                        <a:t>Chips and Tomatillo-Green Chili Salsa</a:t>
                      </a:r>
                    </a:p>
                  </a:txBody>
                  <a:tcPr>
                    <a:solidFill>
                      <a:srgbClr val="FFFFFF"/>
                    </a:solidFill>
                  </a:tcPr>
                </a:tc>
                <a:tc>
                  <a:txBody>
                    <a:bodyPr/>
                    <a:lstStyle/>
                    <a:p>
                      <a:r>
                        <a:rPr sz="2100" b="0">
                          <a:solidFill>
                            <a:srgbClr val="24323E"/>
                          </a:solidFill>
                          <a:latin typeface="Calibri"/>
                          <a:ea typeface="Calibri"/>
                          <a:cs typeface="Calibri"/>
                        </a:rPr>
                        <a:t>1</a:t>
                      </a:r>
                    </a:p>
                  </a:txBody>
                  <a:tcPr>
                    <a:solidFill>
                      <a:srgbClr val="FFFFFF"/>
                    </a:solidFill>
                  </a:tcPr>
                </a:tc>
                <a:extLst>
                  <a:ext uri="{0D108BD9-81ED-4DB2-BD59-A6C34878D82A}">
                    <a16:rowId xmlns:a16="http://schemas.microsoft.com/office/drawing/2014/main" val="10004"/>
                  </a:ext>
                </a:extLst>
              </a:tr>
            </a:tbl>
          </a:graphicData>
        </a:graphic>
      </p:graphicFrame>
      <p:sp>
        <p:nvSpPr>
          <p:cNvPr id="1003" name="One row is a line item. Repeated order IDs belong in th">
            <a:extLst>
              <a:ext uri="{FF2B5EF4-FFF2-40B4-BE49-F238E27FC236}">
                <a16:creationId xmlns:a16="http://schemas.microsoft.com/office/drawing/2014/main" id="{A4A3834B-96DF-46F4-8A16-27E8F2AF5B96}"/>
              </a:ext>
            </a:extLst>
          </p:cNvPr>
          <p:cNvSpPr>
            <a:spLocks noGrp="1"/>
          </p:cNvSpPr>
          <p:nvPr/>
        </p:nvSpPr>
        <p:spPr>
          <a:xfrm>
            <a:off x="533400" y="5457825"/>
            <a:ext cx="11087100" cy="590550"/>
          </a:xfrm>
          <a:prstGeom prst="rect">
            <a:avLst/>
          </a:prstGeom>
          <a:noFill/>
          <a:ln w="0">
            <a:noFill/>
          </a:ln>
        </p:spPr>
        <p:txBody>
          <a:bodyPr lIns="0" tIns="0" rIns="0" bIns="0" anchor="t">
            <a:noAutofit/>
          </a:bodyPr>
          <a:lstStyle/>
          <a:p>
            <a:pPr algn="l">
              <a:buNone/>
              <a:defRPr sz="2175" b="1">
                <a:solidFill>
                  <a:srgbClr val="24323E"/>
                </a:solidFill>
                <a:latin typeface="Calibri"/>
                <a:ea typeface="Calibri"/>
                <a:cs typeface="Calibri"/>
              </a:defRPr>
            </a:pPr>
            <a:r>
              <a:rPr sz="2175" b="1">
                <a:solidFill>
                  <a:srgbClr val="24323E"/>
                </a:solidFill>
                <a:latin typeface="Calibri"/>
                <a:ea typeface="Calibri"/>
                <a:cs typeface="Calibri"/>
              </a:rPr>
              <a:t>One row is a line item. Repeated order IDs belong in this file.</a:t>
            </a:r>
          </a:p>
        </p:txBody>
      </p:sp>
    </p:spTree>
    <p:extLst>
      <p:ext uri="{BB962C8B-B14F-4D97-AF65-F5344CB8AC3E}">
        <p14:creationId xmlns:p14="http://schemas.microsoft.com/office/powerpoint/2010/main" val="1001810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Missing values need an explanation</a:t>
            </a:r>
          </a:p>
        </p:txBody>
      </p:sp>
      <p:sp>
        <p:nvSpPr>
          <p:cNvPr id="1001" name="1,246 choice_description values are blank.">
            <a:extLst>
              <a:ext uri="{FF2B5EF4-FFF2-40B4-BE49-F238E27FC236}">
                <a16:creationId xmlns:a16="http://schemas.microsoft.com/office/drawing/2014/main" id="{6F444A7A-3A1E-4158-963B-65076EBE83C7}"/>
              </a:ext>
            </a:extLst>
          </p:cNvPr>
          <p:cNvSpPr>
            <a:spLocks noGrp="1"/>
          </p:cNvSpPr>
          <p:nvPr/>
        </p:nvSpPr>
        <p:spPr>
          <a:xfrm>
            <a:off x="533400" y="1295400"/>
            <a:ext cx="10763250" cy="514350"/>
          </a:xfrm>
          <a:prstGeom prst="rect">
            <a:avLst/>
          </a:prstGeom>
          <a:noFill/>
          <a:ln w="0">
            <a:noFill/>
          </a:ln>
        </p:spPr>
        <p:txBody>
          <a:bodyPr lIns="0" tIns="0" rIns="0" bIns="0" anchor="t">
            <a:noAutofit/>
          </a:bodyPr>
          <a:lstStyle/>
          <a:p>
            <a:pPr algn="l">
              <a:buNone/>
              <a:defRPr sz="2700" b="1">
                <a:solidFill>
                  <a:srgbClr val="F67132"/>
                </a:solidFill>
                <a:latin typeface="Calibri"/>
                <a:ea typeface="Calibri"/>
                <a:cs typeface="Calibri"/>
              </a:defRPr>
            </a:pPr>
            <a:r>
              <a:rPr sz="2700" b="1">
                <a:solidFill>
                  <a:srgbClr val="F67132"/>
                </a:solidFill>
                <a:latin typeface="Calibri"/>
                <a:ea typeface="Calibri"/>
                <a:cs typeface="Calibri"/>
              </a:rPr>
              <a:t>1,246 choice_description values are blank.</a:t>
            </a:r>
          </a:p>
        </p:txBody>
      </p:sp>
      <p:graphicFrame>
        <p:nvGraphicFramePr>
          <p:cNvPr id="1007" name="Table 1006"/>
          <p:cNvGraphicFramePr/>
          <p:nvPr/>
        </p:nvGraphicFramePr>
        <p:xfrm>
          <a:off x="533400" y="2085975"/>
          <a:ext cx="10763250" cy="3048000"/>
        </p:xfrm>
        <a:graphic>
          <a:graphicData uri="http://schemas.openxmlformats.org/drawingml/2006/table">
            <a:tbl>
              <a:tblPr/>
              <a:tblGrid>
                <a:gridCol w="2619375">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571875">
                  <a:extLst>
                    <a:ext uri="{9D8B030D-6E8A-4147-A177-3AD203B41FA5}">
                      <a16:colId xmlns:a16="http://schemas.microsoft.com/office/drawing/2014/main" val="20002"/>
                    </a:ext>
                  </a:extLst>
                </a:gridCol>
              </a:tblGrid>
              <a:tr h="762000">
                <a:tc>
                  <a:txBody>
                    <a:bodyPr/>
                    <a:lstStyle/>
                    <a:p>
                      <a:r>
                        <a:rPr sz="2100" b="1">
                          <a:solidFill>
                            <a:srgbClr val="FFFFFF"/>
                          </a:solidFill>
                          <a:latin typeface="Calibri"/>
                          <a:ea typeface="Calibri"/>
                          <a:cs typeface="Calibri"/>
                        </a:rPr>
                        <a:t>Possible meaning</a:t>
                      </a:r>
                    </a:p>
                  </a:txBody>
                  <a:tcPr>
                    <a:solidFill>
                      <a:srgbClr val="24323E"/>
                    </a:solidFill>
                  </a:tcPr>
                </a:tc>
                <a:tc>
                  <a:txBody>
                    <a:bodyPr/>
                    <a:lstStyle/>
                    <a:p>
                      <a:r>
                        <a:rPr sz="2100" b="1">
                          <a:solidFill>
                            <a:srgbClr val="FFFFFF"/>
                          </a:solidFill>
                          <a:latin typeface="Calibri"/>
                          <a:ea typeface="Calibri"/>
                          <a:cs typeface="Calibri"/>
                        </a:rPr>
                        <a:t>Example</a:t>
                      </a:r>
                    </a:p>
                  </a:txBody>
                  <a:tcPr>
                    <a:solidFill>
                      <a:srgbClr val="24323E"/>
                    </a:solidFill>
                  </a:tcPr>
                </a:tc>
                <a:tc>
                  <a:txBody>
                    <a:bodyPr/>
                    <a:lstStyle/>
                    <a:p>
                      <a:r>
                        <a:rPr sz="2100" b="1">
                          <a:solidFill>
                            <a:srgbClr val="FFFFFF"/>
                          </a:solidFill>
                          <a:latin typeface="Calibri"/>
                          <a:ea typeface="Calibri"/>
                          <a:cs typeface="Calibri"/>
                        </a:rPr>
                        <a:t>Reasonable response</a:t>
                      </a:r>
                    </a:p>
                  </a:txBody>
                  <a:tcPr>
                    <a:solidFill>
                      <a:srgbClr val="24323E"/>
                    </a:solidFill>
                  </a:tcPr>
                </a:tc>
                <a:extLst>
                  <a:ext uri="{0D108BD9-81ED-4DB2-BD59-A6C34878D82A}">
                    <a16:rowId xmlns:a16="http://schemas.microsoft.com/office/drawing/2014/main" val="10000"/>
                  </a:ext>
                </a:extLst>
              </a:tr>
              <a:tr h="762000">
                <a:tc>
                  <a:txBody>
                    <a:bodyPr/>
                    <a:lstStyle/>
                    <a:p>
                      <a:r>
                        <a:rPr sz="2100" b="0">
                          <a:solidFill>
                            <a:srgbClr val="24323E"/>
                          </a:solidFill>
                          <a:latin typeface="Calibri"/>
                          <a:ea typeface="Calibri"/>
                          <a:cs typeface="Calibri"/>
                        </a:rPr>
                        <a:t>Does not apply</a:t>
                      </a:r>
                    </a:p>
                  </a:txBody>
                  <a:tcPr>
                    <a:solidFill>
                      <a:srgbClr val="FBE5D6"/>
                    </a:solidFill>
                  </a:tcPr>
                </a:tc>
                <a:tc>
                  <a:txBody>
                    <a:bodyPr/>
                    <a:lstStyle/>
                    <a:p>
                      <a:r>
                        <a:rPr sz="2100" b="0">
                          <a:solidFill>
                            <a:srgbClr val="24323E"/>
                          </a:solidFill>
                          <a:latin typeface="Calibri"/>
                          <a:ea typeface="Calibri"/>
                          <a:cs typeface="Calibri"/>
                        </a:rPr>
                        <a:t>No topping choice for bottled water</a:t>
                      </a:r>
                    </a:p>
                  </a:txBody>
                  <a:tcPr>
                    <a:solidFill>
                      <a:srgbClr val="FBE5D6"/>
                    </a:solidFill>
                  </a:tcPr>
                </a:tc>
                <a:tc>
                  <a:txBody>
                    <a:bodyPr/>
                    <a:lstStyle/>
                    <a:p>
                      <a:r>
                        <a:rPr sz="2100" b="0">
                          <a:solidFill>
                            <a:srgbClr val="24323E"/>
                          </a:solidFill>
                          <a:latin typeface="Calibri"/>
                          <a:ea typeface="Calibri"/>
                          <a:cs typeface="Calibri"/>
                        </a:rPr>
                        <a:t>Keep the blank</a:t>
                      </a:r>
                    </a:p>
                  </a:txBody>
                  <a:tcPr>
                    <a:solidFill>
                      <a:srgbClr val="FBE5D6"/>
                    </a:solidFill>
                  </a:tcPr>
                </a:tc>
                <a:extLst>
                  <a:ext uri="{0D108BD9-81ED-4DB2-BD59-A6C34878D82A}">
                    <a16:rowId xmlns:a16="http://schemas.microsoft.com/office/drawing/2014/main" val="10001"/>
                  </a:ext>
                </a:extLst>
              </a:tr>
              <a:tr h="762000">
                <a:tc>
                  <a:txBody>
                    <a:bodyPr/>
                    <a:lstStyle/>
                    <a:p>
                      <a:r>
                        <a:rPr sz="2100" b="0">
                          <a:solidFill>
                            <a:srgbClr val="24323E"/>
                          </a:solidFill>
                          <a:latin typeface="Calibri"/>
                          <a:ea typeface="Calibri"/>
                          <a:cs typeface="Calibri"/>
                        </a:rPr>
                        <a:t>Unknown</a:t>
                      </a:r>
                    </a:p>
                  </a:txBody>
                  <a:tcPr>
                    <a:solidFill>
                      <a:srgbClr val="FFFFFF"/>
                    </a:solidFill>
                  </a:tcPr>
                </a:tc>
                <a:tc>
                  <a:txBody>
                    <a:bodyPr/>
                    <a:lstStyle/>
                    <a:p>
                      <a:r>
                        <a:rPr sz="2100" b="0">
                          <a:solidFill>
                            <a:srgbClr val="24323E"/>
                          </a:solidFill>
                          <a:latin typeface="Calibri"/>
                          <a:ea typeface="Calibri"/>
                          <a:cs typeface="Calibri"/>
                        </a:rPr>
                        <a:t>Quantity never recorded</a:t>
                      </a:r>
                    </a:p>
                  </a:txBody>
                  <a:tcPr>
                    <a:solidFill>
                      <a:srgbClr val="FFFFFF"/>
                    </a:solidFill>
                  </a:tcPr>
                </a:tc>
                <a:tc>
                  <a:txBody>
                    <a:bodyPr/>
                    <a:lstStyle/>
                    <a:p>
                      <a:r>
                        <a:rPr sz="2100" b="0">
                          <a:solidFill>
                            <a:srgbClr val="24323E"/>
                          </a:solidFill>
                          <a:latin typeface="Calibri"/>
                          <a:ea typeface="Calibri"/>
                          <a:cs typeface="Calibri"/>
                        </a:rPr>
                        <a:t>Investigate, exclude, or flag</a:t>
                      </a:r>
                    </a:p>
                  </a:txBody>
                  <a:tcPr>
                    <a:solidFill>
                      <a:srgbClr val="FFFFFF"/>
                    </a:solidFill>
                  </a:tcPr>
                </a:tc>
                <a:extLst>
                  <a:ext uri="{0D108BD9-81ED-4DB2-BD59-A6C34878D82A}">
                    <a16:rowId xmlns:a16="http://schemas.microsoft.com/office/drawing/2014/main" val="10002"/>
                  </a:ext>
                </a:extLst>
              </a:tr>
              <a:tr h="762000">
                <a:tc>
                  <a:txBody>
                    <a:bodyPr/>
                    <a:lstStyle/>
                    <a:p>
                      <a:r>
                        <a:rPr sz="2100" b="0">
                          <a:solidFill>
                            <a:srgbClr val="24323E"/>
                          </a:solidFill>
                          <a:latin typeface="Calibri"/>
                          <a:ea typeface="Calibri"/>
                          <a:cs typeface="Calibri"/>
                        </a:rPr>
                        <a:t>Failed conversion</a:t>
                      </a:r>
                    </a:p>
                  </a:txBody>
                  <a:tcPr>
                    <a:solidFill>
                      <a:srgbClr val="FBE5D6"/>
                    </a:solidFill>
                  </a:tcPr>
                </a:tc>
                <a:tc>
                  <a:txBody>
                    <a:bodyPr/>
                    <a:lstStyle/>
                    <a:p>
                      <a:r>
                        <a:rPr sz="2100" b="0">
                          <a:solidFill>
                            <a:srgbClr val="24323E"/>
                          </a:solidFill>
                          <a:latin typeface="Calibri"/>
                          <a:ea typeface="Calibri"/>
                          <a:cs typeface="Calibri"/>
                        </a:rPr>
                        <a:t>A value could not become a number</a:t>
                      </a:r>
                    </a:p>
                  </a:txBody>
                  <a:tcPr>
                    <a:solidFill>
                      <a:srgbClr val="FBE5D6"/>
                    </a:solidFill>
                  </a:tcPr>
                </a:tc>
                <a:tc>
                  <a:txBody>
                    <a:bodyPr/>
                    <a:lstStyle/>
                    <a:p>
                      <a:r>
                        <a:rPr sz="2100" b="0">
                          <a:solidFill>
                            <a:srgbClr val="24323E"/>
                          </a:solidFill>
                          <a:latin typeface="Calibri"/>
                          <a:ea typeface="Calibri"/>
                          <a:cs typeface="Calibri"/>
                        </a:rPr>
                        <a:t>Inspect the original value</a:t>
                      </a:r>
                    </a:p>
                  </a:txBody>
                  <a:tcPr>
                    <a:solidFill>
                      <a:srgbClr val="FBE5D6"/>
                    </a:solidFill>
                  </a:tcPr>
                </a:tc>
                <a:extLst>
                  <a:ext uri="{0D108BD9-81ED-4DB2-BD59-A6C34878D82A}">
                    <a16:rowId xmlns:a16="http://schemas.microsoft.com/office/drawing/2014/main" val="10003"/>
                  </a:ext>
                </a:extLst>
              </a:tr>
            </a:tbl>
          </a:graphicData>
        </a:graphic>
      </p:graphicFrame>
      <p:sp>
        <p:nvSpPr>
          <p:cNvPr id="1003" name="Filling with zero changes the meaning. Dropping a row r">
            <a:extLst>
              <a:ext uri="{FF2B5EF4-FFF2-40B4-BE49-F238E27FC236}">
                <a16:creationId xmlns:a16="http://schemas.microsoft.com/office/drawing/2014/main" id="{61F7B4A8-CEF0-4667-B376-7D476F451AC2}"/>
              </a:ext>
            </a:extLst>
          </p:cNvPr>
          <p:cNvSpPr>
            <a:spLocks noGrp="1"/>
          </p:cNvSpPr>
          <p:nvPr/>
        </p:nvSpPr>
        <p:spPr>
          <a:xfrm>
            <a:off x="533400" y="5457825"/>
            <a:ext cx="11087100" cy="590550"/>
          </a:xfrm>
          <a:prstGeom prst="rect">
            <a:avLst/>
          </a:prstGeom>
          <a:noFill/>
          <a:ln w="0">
            <a:noFill/>
          </a:ln>
        </p:spPr>
        <p:txBody>
          <a:bodyPr lIns="0" tIns="0" rIns="0" bIns="0" anchor="t">
            <a:noAutofit/>
          </a:bodyPr>
          <a:lstStyle/>
          <a:p>
            <a:pPr algn="l">
              <a:buNone/>
              <a:defRPr sz="2175" b="1">
                <a:solidFill>
                  <a:srgbClr val="24323E"/>
                </a:solidFill>
                <a:latin typeface="Calibri"/>
                <a:ea typeface="Calibri"/>
                <a:cs typeface="Calibri"/>
              </a:defRPr>
            </a:pPr>
            <a:r>
              <a:rPr sz="2175" b="1">
                <a:solidFill>
                  <a:srgbClr val="24323E"/>
                </a:solidFill>
                <a:latin typeface="Calibri"/>
                <a:ea typeface="Calibri"/>
                <a:cs typeface="Calibri"/>
              </a:rPr>
              <a:t>Filling with zero changes the meaning. Dropping a row removes a record.</a:t>
            </a:r>
          </a:p>
        </p:txBody>
      </p:sp>
    </p:spTree>
    <p:extLst>
      <p:ext uri="{BB962C8B-B14F-4D97-AF65-F5344CB8AC3E}">
        <p14:creationId xmlns:p14="http://schemas.microsoft.com/office/powerpoint/2010/main" val="1869582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Two meanings of “duplicate”</a:t>
            </a:r>
          </a:p>
        </p:txBody>
      </p:sp>
      <p:sp>
        <p:nvSpPr>
          <p:cNvPr id="1001" name="Repeated key">
            <a:extLst>
              <a:ext uri="{FF2B5EF4-FFF2-40B4-BE49-F238E27FC236}">
                <a16:creationId xmlns:a16="http://schemas.microsoft.com/office/drawing/2014/main" id="{F8FF0C74-0250-4920-957B-E9297C77A93E}"/>
              </a:ext>
            </a:extLst>
          </p:cNvPr>
          <p:cNvSpPr>
            <a:spLocks noGrp="1"/>
          </p:cNvSpPr>
          <p:nvPr/>
        </p:nvSpPr>
        <p:spPr>
          <a:xfrm>
            <a:off x="533400" y="1447800"/>
            <a:ext cx="5019675" cy="40005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Repeated key</a:t>
            </a:r>
          </a:p>
        </p:txBody>
      </p:sp>
      <p:sp>
        <p:nvSpPr>
          <p:cNvPr id="1002" name="2,788 rows share an order_id with an earlier row.&#10;&#10;That">
            <a:extLst>
              <a:ext uri="{FF2B5EF4-FFF2-40B4-BE49-F238E27FC236}">
                <a16:creationId xmlns:a16="http://schemas.microsoft.com/office/drawing/2014/main" id="{32D36399-1328-4921-919A-E2CBD53BE02C}"/>
              </a:ext>
            </a:extLst>
          </p:cNvPr>
          <p:cNvSpPr>
            <a:spLocks noGrp="1"/>
          </p:cNvSpPr>
          <p:nvPr/>
        </p:nvSpPr>
        <p:spPr>
          <a:xfrm>
            <a:off x="533400" y="1952625"/>
            <a:ext cx="5019675" cy="1381125"/>
          </a:xfrm>
          <a:prstGeom prst="rect">
            <a:avLst/>
          </a:prstGeom>
          <a:noFill/>
          <a:ln w="0">
            <a:noFill/>
          </a:ln>
        </p:spPr>
        <p:txBody>
          <a:bodyPr lIns="0" tIns="0" rIns="0" bIns="0" anchor="t">
            <a:noAutofit/>
          </a:bodyPr>
          <a:lstStyle/>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2,788 rows share an order_id with an earlier row.</a:t>
            </a:r>
          </a:p>
          <a:p>
            <a:endParaRPr sz="2250" b="0">
              <a:solidFill>
                <a:srgbClr val="24323E"/>
              </a:solidFill>
              <a:latin typeface="Calibri"/>
              <a:ea typeface="Calibri"/>
              <a:cs typeface="Calibri"/>
            </a:endParaRPr>
          </a:p>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That is expected when an order has several line items.</a:t>
            </a:r>
          </a:p>
        </p:txBody>
      </p:sp>
      <p:sp>
        <p:nvSpPr>
          <p:cNvPr id="1003" name="Repeated whole row">
            <a:extLst>
              <a:ext uri="{FF2B5EF4-FFF2-40B4-BE49-F238E27FC236}">
                <a16:creationId xmlns:a16="http://schemas.microsoft.com/office/drawing/2014/main" id="{6D38633B-6748-4F7F-BCCB-3919B0A01A1D}"/>
              </a:ext>
            </a:extLst>
          </p:cNvPr>
          <p:cNvSpPr>
            <a:spLocks noGrp="1"/>
          </p:cNvSpPr>
          <p:nvPr/>
        </p:nvSpPr>
        <p:spPr>
          <a:xfrm>
            <a:off x="6448425" y="1447800"/>
            <a:ext cx="5019675" cy="40005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Repeated whole row</a:t>
            </a:r>
          </a:p>
        </p:txBody>
      </p:sp>
      <p:sp>
        <p:nvSpPr>
          <p:cNvPr id="1004" name="59 rows match in every column.&#10;&#10;A double export? Or two">
            <a:extLst>
              <a:ext uri="{FF2B5EF4-FFF2-40B4-BE49-F238E27FC236}">
                <a16:creationId xmlns:a16="http://schemas.microsoft.com/office/drawing/2014/main" id="{B9990CC4-DA9D-4D65-AB22-6B8D6FEB82C5}"/>
              </a:ext>
            </a:extLst>
          </p:cNvPr>
          <p:cNvSpPr>
            <a:spLocks noGrp="1"/>
          </p:cNvSpPr>
          <p:nvPr/>
        </p:nvSpPr>
        <p:spPr>
          <a:xfrm>
            <a:off x="6448425" y="1952625"/>
            <a:ext cx="5019675" cy="1381125"/>
          </a:xfrm>
          <a:prstGeom prst="rect">
            <a:avLst/>
          </a:prstGeom>
          <a:noFill/>
          <a:ln w="0">
            <a:noFill/>
          </a:ln>
        </p:spPr>
        <p:txBody>
          <a:bodyPr lIns="0" tIns="0" rIns="0" bIns="0" anchor="t">
            <a:noAutofit/>
          </a:bodyPr>
          <a:lstStyle/>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59 rows match in every column.</a:t>
            </a:r>
          </a:p>
          <a:p>
            <a:endParaRPr sz="2250" b="0">
              <a:solidFill>
                <a:srgbClr val="24323E"/>
              </a:solidFill>
              <a:latin typeface="Calibri"/>
              <a:ea typeface="Calibri"/>
              <a:cs typeface="Calibri"/>
            </a:endParaRPr>
          </a:p>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A double export? Or two people ordering the same burrito?</a:t>
            </a:r>
          </a:p>
        </p:txBody>
      </p:sp>
      <p:sp>
        <p:nvSpPr>
          <p:cNvPr id="1005" name="Keep the repeated order IDs.">
            <a:extLst>
              <a:ext uri="{FF2B5EF4-FFF2-40B4-BE49-F238E27FC236}">
                <a16:creationId xmlns:a16="http://schemas.microsoft.com/office/drawing/2014/main" id="{ECAE7CE7-EBE3-4D4C-A3B2-C26CA7D4230E}"/>
              </a:ext>
            </a:extLst>
          </p:cNvPr>
          <p:cNvSpPr>
            <a:spLocks noGrp="1"/>
          </p:cNvSpPr>
          <p:nvPr/>
        </p:nvSpPr>
        <p:spPr>
          <a:xfrm>
            <a:off x="533400" y="4448175"/>
            <a:ext cx="5143500" cy="495300"/>
          </a:xfrm>
          <a:prstGeom prst="rect">
            <a:avLst/>
          </a:prstGeom>
          <a:noFill/>
          <a:ln w="0">
            <a:noFill/>
          </a:ln>
        </p:spPr>
        <p:txBody>
          <a:bodyPr lIns="0" tIns="0" rIns="0" bIns="0" anchor="t">
            <a:noAutofit/>
          </a:bodyPr>
          <a:lstStyle/>
          <a:p>
            <a:pPr algn="l">
              <a:buNone/>
              <a:defRPr sz="2325" b="1">
                <a:solidFill>
                  <a:srgbClr val="24323E"/>
                </a:solidFill>
                <a:latin typeface="Calibri"/>
                <a:ea typeface="Calibri"/>
                <a:cs typeface="Calibri"/>
              </a:defRPr>
            </a:pPr>
            <a:r>
              <a:rPr sz="2325" b="1">
                <a:solidFill>
                  <a:srgbClr val="24323E"/>
                </a:solidFill>
                <a:latin typeface="Calibri"/>
                <a:ea typeface="Calibri"/>
                <a:cs typeface="Calibri"/>
              </a:rPr>
              <a:t>Keep the repeated order IDs.</a:t>
            </a:r>
          </a:p>
        </p:txBody>
      </p:sp>
      <p:sp>
        <p:nvSpPr>
          <p:cNvPr id="1006" name="The file cannot settle this.">
            <a:extLst>
              <a:ext uri="{FF2B5EF4-FFF2-40B4-BE49-F238E27FC236}">
                <a16:creationId xmlns:a16="http://schemas.microsoft.com/office/drawing/2014/main" id="{83F71E52-4ECE-466B-81B6-025F92CE88D3}"/>
              </a:ext>
            </a:extLst>
          </p:cNvPr>
          <p:cNvSpPr>
            <a:spLocks noGrp="1"/>
          </p:cNvSpPr>
          <p:nvPr/>
        </p:nvSpPr>
        <p:spPr>
          <a:xfrm>
            <a:off x="6448425" y="4448175"/>
            <a:ext cx="5048250" cy="49530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The file cannot settle this.</a:t>
            </a:r>
          </a:p>
        </p:txBody>
      </p:sp>
      <p:sp>
        <p:nvSpPr>
          <p:cNvPr id="1007" name="For today: remove exact repeats, label that assumption,">
            <a:extLst>
              <a:ext uri="{FF2B5EF4-FFF2-40B4-BE49-F238E27FC236}">
                <a16:creationId xmlns:a16="http://schemas.microsoft.com/office/drawing/2014/main" id="{57907B6D-4760-4BA8-B8C8-2A958FB43566}"/>
              </a:ext>
            </a:extLst>
          </p:cNvPr>
          <p:cNvSpPr>
            <a:spLocks noGrp="1"/>
          </p:cNvSpPr>
          <p:nvPr/>
        </p:nvSpPr>
        <p:spPr>
          <a:xfrm>
            <a:off x="533400" y="5457825"/>
            <a:ext cx="11087100" cy="590550"/>
          </a:xfrm>
          <a:prstGeom prst="rect">
            <a:avLst/>
          </a:prstGeom>
          <a:noFill/>
          <a:ln w="0">
            <a:noFill/>
          </a:ln>
        </p:spPr>
        <p:txBody>
          <a:bodyPr lIns="0" tIns="0" rIns="0" bIns="0" anchor="t">
            <a:noAutofit/>
          </a:bodyPr>
          <a:lstStyle/>
          <a:p>
            <a:pPr algn="l">
              <a:buNone/>
              <a:defRPr sz="2175" b="1">
                <a:solidFill>
                  <a:srgbClr val="24323E"/>
                </a:solidFill>
                <a:latin typeface="Calibri"/>
                <a:ea typeface="Calibri"/>
                <a:cs typeface="Calibri"/>
              </a:defRPr>
            </a:pPr>
            <a:r>
              <a:rPr sz="2175" b="1">
                <a:solidFill>
                  <a:srgbClr val="24323E"/>
                </a:solidFill>
                <a:latin typeface="Calibri"/>
                <a:ea typeface="Calibri"/>
                <a:cs typeface="Calibri"/>
              </a:rPr>
              <a:t>For today: remove exact repeats, label that assumption, and report the impact.</a:t>
            </a:r>
          </a:p>
        </p:txBody>
      </p:sp>
    </p:spTree>
    <p:extLst>
      <p:ext uri="{BB962C8B-B14F-4D97-AF65-F5344CB8AC3E}">
        <p14:creationId xmlns:p14="http://schemas.microsoft.com/office/powerpoint/2010/main" val="1033525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A price column still needs a definition</a:t>
            </a:r>
          </a:p>
        </p:txBody>
      </p:sp>
      <p:graphicFrame>
        <p:nvGraphicFramePr>
          <p:cNvPr id="1006" name="Table 1005"/>
          <p:cNvGraphicFramePr/>
          <p:nvPr/>
        </p:nvGraphicFramePr>
        <p:xfrm>
          <a:off x="533400" y="1428750"/>
          <a:ext cx="10763250" cy="2771775"/>
        </p:xfrm>
        <a:graphic>
          <a:graphicData uri="http://schemas.openxmlformats.org/drawingml/2006/table">
            <a:tbl>
              <a:tblPr/>
              <a:tblGrid>
                <a:gridCol w="28575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923925">
                <a:tc>
                  <a:txBody>
                    <a:bodyPr/>
                    <a:lstStyle/>
                    <a:p>
                      <a:r>
                        <a:rPr sz="2250" b="1">
                          <a:solidFill>
                            <a:srgbClr val="FFFFFF"/>
                          </a:solidFill>
                          <a:latin typeface="Calibri"/>
                          <a:ea typeface="Calibri"/>
                          <a:cs typeface="Calibri"/>
                        </a:rPr>
                        <a:t>Dataset</a:t>
                      </a:r>
                    </a:p>
                  </a:txBody>
                  <a:tcPr>
                    <a:solidFill>
                      <a:srgbClr val="24323E"/>
                    </a:solidFill>
                  </a:tcPr>
                </a:tc>
                <a:tc>
                  <a:txBody>
                    <a:bodyPr/>
                    <a:lstStyle/>
                    <a:p>
                      <a:r>
                        <a:rPr sz="2250" b="1">
                          <a:solidFill>
                            <a:srgbClr val="FFFFFF"/>
                          </a:solidFill>
                          <a:latin typeface="Calibri"/>
                          <a:ea typeface="Calibri"/>
                          <a:cs typeface="Calibri"/>
                        </a:rPr>
                        <a:t>What price means</a:t>
                      </a:r>
                    </a:p>
                  </a:txBody>
                  <a:tcPr>
                    <a:solidFill>
                      <a:srgbClr val="24323E"/>
                    </a:solidFill>
                  </a:tcPr>
                </a:tc>
                <a:tc>
                  <a:txBody>
                    <a:bodyPr/>
                    <a:lstStyle/>
                    <a:p>
                      <a:r>
                        <a:rPr sz="2250" b="1">
                          <a:solidFill>
                            <a:srgbClr val="FFFFFF"/>
                          </a:solidFill>
                          <a:latin typeface="Calibri"/>
                          <a:ea typeface="Calibri"/>
                          <a:cs typeface="Calibri"/>
                        </a:rPr>
                        <a:t>Revenue calculation</a:t>
                      </a:r>
                    </a:p>
                  </a:txBody>
                  <a:tcPr>
                    <a:solidFill>
                      <a:srgbClr val="24323E"/>
                    </a:solidFill>
                  </a:tcPr>
                </a:tc>
                <a:extLst>
                  <a:ext uri="{0D108BD9-81ED-4DB2-BD59-A6C34878D82A}">
                    <a16:rowId xmlns:a16="http://schemas.microsoft.com/office/drawing/2014/main" val="10000"/>
                  </a:ext>
                </a:extLst>
              </a:tr>
              <a:tr h="923925">
                <a:tc>
                  <a:txBody>
                    <a:bodyPr/>
                    <a:lstStyle/>
                    <a:p>
                      <a:r>
                        <a:rPr sz="2250" b="0">
                          <a:solidFill>
                            <a:srgbClr val="24323E"/>
                          </a:solidFill>
                          <a:latin typeface="Calibri"/>
                          <a:ea typeface="Calibri"/>
                          <a:cs typeface="Calibri"/>
                        </a:rPr>
                        <a:t>Chipotle orders</a:t>
                      </a:r>
                    </a:p>
                  </a:txBody>
                  <a:tcPr>
                    <a:solidFill>
                      <a:srgbClr val="FBE5D6"/>
                    </a:solidFill>
                  </a:tcPr>
                </a:tc>
                <a:tc>
                  <a:txBody>
                    <a:bodyPr/>
                    <a:lstStyle/>
                    <a:p>
                      <a:r>
                        <a:rPr sz="2250" b="0">
                          <a:solidFill>
                            <a:srgbClr val="24323E"/>
                          </a:solidFill>
                          <a:latin typeface="Calibri"/>
                          <a:ea typeface="Calibri"/>
                          <a:cs typeface="Calibri"/>
                        </a:rPr>
                        <a:t>Total for the line item</a:t>
                      </a:r>
                    </a:p>
                  </a:txBody>
                  <a:tcPr>
                    <a:solidFill>
                      <a:srgbClr val="FBE5D6"/>
                    </a:solidFill>
                  </a:tcPr>
                </a:tc>
                <a:tc>
                  <a:txBody>
                    <a:bodyPr/>
                    <a:lstStyle/>
                    <a:p>
                      <a:r>
                        <a:rPr sz="2250" b="0">
                          <a:solidFill>
                            <a:srgbClr val="24323E"/>
                          </a:solidFill>
                          <a:latin typeface="Calibri"/>
                          <a:ea typeface="Calibri"/>
                          <a:cs typeface="Calibri"/>
                        </a:rPr>
                        <a:t>Sum price</a:t>
                      </a:r>
                    </a:p>
                  </a:txBody>
                  <a:tcPr>
                    <a:solidFill>
                      <a:srgbClr val="FBE5D6"/>
                    </a:solidFill>
                  </a:tcPr>
                </a:tc>
                <a:extLst>
                  <a:ext uri="{0D108BD9-81ED-4DB2-BD59-A6C34878D82A}">
                    <a16:rowId xmlns:a16="http://schemas.microsoft.com/office/drawing/2014/main" val="10001"/>
                  </a:ext>
                </a:extLst>
              </a:tr>
              <a:tr h="923925">
                <a:tc>
                  <a:txBody>
                    <a:bodyPr/>
                    <a:lstStyle/>
                    <a:p>
                      <a:r>
                        <a:rPr sz="2250" b="0">
                          <a:solidFill>
                            <a:srgbClr val="24323E"/>
                          </a:solidFill>
                          <a:latin typeface="Calibri"/>
                          <a:ea typeface="Calibri"/>
                          <a:cs typeface="Calibri"/>
                        </a:rPr>
                        <a:t>Eight-row exercise</a:t>
                      </a:r>
                    </a:p>
                  </a:txBody>
                  <a:tcPr>
                    <a:solidFill>
                      <a:srgbClr val="FFFFFF"/>
                    </a:solidFill>
                  </a:tcPr>
                </a:tc>
                <a:tc>
                  <a:txBody>
                    <a:bodyPr/>
                    <a:lstStyle/>
                    <a:p>
                      <a:r>
                        <a:rPr sz="2250" b="0">
                          <a:solidFill>
                            <a:srgbClr val="24323E"/>
                          </a:solidFill>
                          <a:latin typeface="Calibri"/>
                          <a:ea typeface="Calibri"/>
                          <a:cs typeface="Calibri"/>
                        </a:rPr>
                        <a:t>Price of one unit</a:t>
                      </a:r>
                    </a:p>
                  </a:txBody>
                  <a:tcPr>
                    <a:solidFill>
                      <a:srgbClr val="FFFFFF"/>
                    </a:solidFill>
                  </a:tcPr>
                </a:tc>
                <a:tc>
                  <a:txBody>
                    <a:bodyPr/>
                    <a:lstStyle/>
                    <a:p>
                      <a:r>
                        <a:rPr sz="2250" b="0">
                          <a:solidFill>
                            <a:srgbClr val="24323E"/>
                          </a:solidFill>
                          <a:latin typeface="Calibri"/>
                          <a:ea typeface="Calibri"/>
                          <a:cs typeface="Calibri"/>
                        </a:rPr>
                        <a:t>Sum qty × price</a:t>
                      </a:r>
                    </a:p>
                  </a:txBody>
                  <a:tcPr>
                    <a:solidFill>
                      <a:srgbClr val="FFFFFF"/>
                    </a:solidFill>
                  </a:tcPr>
                </a:tc>
                <a:extLst>
                  <a:ext uri="{0D108BD9-81ED-4DB2-BD59-A6C34878D82A}">
                    <a16:rowId xmlns:a16="http://schemas.microsoft.com/office/drawing/2014/main" val="10002"/>
                  </a:ext>
                </a:extLst>
              </a:tr>
            </a:tbl>
          </a:graphicData>
        </a:graphic>
      </p:graphicFrame>
      <p:sp>
        <p:nvSpPr>
          <p:cNvPr id="1002" name="Chipotle example">
            <a:extLst>
              <a:ext uri="{FF2B5EF4-FFF2-40B4-BE49-F238E27FC236}">
                <a16:creationId xmlns:a16="http://schemas.microsoft.com/office/drawing/2014/main" id="{AA0133FA-B0B3-4A30-B978-20324B79552B}"/>
              </a:ext>
            </a:extLst>
          </p:cNvPr>
          <p:cNvSpPr>
            <a:spLocks noGrp="1"/>
          </p:cNvSpPr>
          <p:nvPr/>
        </p:nvSpPr>
        <p:spPr>
          <a:xfrm>
            <a:off x="533400" y="4524375"/>
            <a:ext cx="3714750" cy="409575"/>
          </a:xfrm>
          <a:prstGeom prst="rect">
            <a:avLst/>
          </a:prstGeom>
          <a:noFill/>
          <a:ln w="0">
            <a:noFill/>
          </a:ln>
        </p:spPr>
        <p:txBody>
          <a:bodyPr lIns="0" tIns="0" rIns="0" bIns="0" anchor="t">
            <a:noAutofit/>
          </a:bodyPr>
          <a:lstStyle/>
          <a:p>
            <a:pPr algn="l">
              <a:buNone/>
              <a:defRPr sz="2400" b="1">
                <a:solidFill>
                  <a:srgbClr val="F67132"/>
                </a:solidFill>
                <a:latin typeface="Calibri"/>
                <a:ea typeface="Calibri"/>
                <a:cs typeface="Calibri"/>
              </a:defRPr>
            </a:pPr>
            <a:r>
              <a:rPr sz="2400" b="1">
                <a:solidFill>
                  <a:srgbClr val="F67132"/>
                </a:solidFill>
                <a:latin typeface="Calibri"/>
                <a:ea typeface="Calibri"/>
                <a:cs typeface="Calibri"/>
              </a:rPr>
              <a:t>Chipotle example</a:t>
            </a:r>
          </a:p>
        </p:txBody>
      </p:sp>
      <p:sp>
        <p:nvSpPr>
          <p:cNvPr id="1003" name="2 Chicken Bowls cost $16.98 for the line.&#10;Multiplying $">
            <a:extLst>
              <a:ext uri="{FF2B5EF4-FFF2-40B4-BE49-F238E27FC236}">
                <a16:creationId xmlns:a16="http://schemas.microsoft.com/office/drawing/2014/main" id="{7C2D04D7-74CE-48F4-8721-A4A0FEDADDB0}"/>
              </a:ext>
            </a:extLst>
          </p:cNvPr>
          <p:cNvSpPr>
            <a:spLocks noGrp="1"/>
          </p:cNvSpPr>
          <p:nvPr/>
        </p:nvSpPr>
        <p:spPr>
          <a:xfrm>
            <a:off x="4543425" y="4457700"/>
            <a:ext cx="6762750" cy="952500"/>
          </a:xfrm>
          <a:prstGeom prst="rect">
            <a:avLst/>
          </a:prstGeom>
          <a:noFill/>
          <a:ln w="0">
            <a:noFill/>
          </a:ln>
        </p:spPr>
        <p:txBody>
          <a:bodyPr lIns="0" tIns="0" rIns="0" bIns="0" anchor="t">
            <a:noAutofit/>
          </a:bodyPr>
          <a:lstStyle/>
          <a:p>
            <a:pPr algn="l">
              <a:buNone/>
              <a:defRPr sz="2400" b="0">
                <a:solidFill>
                  <a:srgbClr val="24323E"/>
                </a:solidFill>
                <a:latin typeface="Calibri"/>
                <a:ea typeface="Calibri"/>
                <a:cs typeface="Calibri"/>
              </a:defRPr>
            </a:pPr>
            <a:r>
              <a:rPr sz="2400" b="0">
                <a:solidFill>
                  <a:srgbClr val="24323E"/>
                </a:solidFill>
                <a:latin typeface="Calibri"/>
                <a:ea typeface="Calibri"/>
                <a:cs typeface="Calibri"/>
              </a:rPr>
              <a:t>2 Chicken Bowls cost $16.98 for the line.</a:t>
            </a:r>
          </a:p>
          <a:p>
            <a:pPr algn="l">
              <a:buNone/>
              <a:defRPr sz="2400" b="0">
                <a:solidFill>
                  <a:srgbClr val="24323E"/>
                </a:solidFill>
                <a:latin typeface="Calibri"/>
                <a:ea typeface="Calibri"/>
                <a:cs typeface="Calibri"/>
              </a:defRPr>
            </a:pPr>
            <a:r>
              <a:rPr sz="2400" b="0">
                <a:solidFill>
                  <a:srgbClr val="24323E"/>
                </a:solidFill>
                <a:latin typeface="Calibri"/>
                <a:ea typeface="Calibri"/>
                <a:cs typeface="Calibri"/>
              </a:rPr>
              <a:t>Multiplying $16.98 by 2 would count it twice.</a:t>
            </a:r>
          </a:p>
        </p:txBody>
      </p:sp>
    </p:spTree>
    <p:extLst>
      <p:ext uri="{BB962C8B-B14F-4D97-AF65-F5344CB8AC3E}">
        <p14:creationId xmlns:p14="http://schemas.microsoft.com/office/powerpoint/2010/main" val="1535075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A348A386-5535-4367-B6A5-83232255ADBE}"/>
              </a:ext>
            </a:extLst>
          </p:cNvPr>
          <p:cNvSpPr>
            <a:spLocks noGrp="1"/>
          </p:cNvSpPr>
          <p:nvPr/>
        </p:nvSpPr>
        <p:spPr>
          <a:xfrm>
            <a:off x="613457" y="2595717"/>
            <a:ext cx="10949651" cy="1720637"/>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pPr algn="ctr">
              <a:buNone/>
            </a:pPr>
            <a:endParaRPr/>
          </a:p>
        </p:txBody>
      </p:sp>
      <p:sp>
        <p:nvSpPr>
          <p:cNvPr id="1001" name="Subtitle 2">
            <a:extLst>
              <a:ext uri="{FF2B5EF4-FFF2-40B4-BE49-F238E27FC236}">
                <a16:creationId xmlns:a16="http://schemas.microsoft.com/office/drawing/2014/main" id="{C7CB5BE4-CFAE-4A84-946E-788A1BA2BF1C}"/>
              </a:ext>
            </a:extLst>
          </p:cNvPr>
          <p:cNvSpPr>
            <a:spLocks noGrp="1"/>
          </p:cNvSpPr>
          <p:nvPr/>
        </p:nvSpPr>
        <p:spPr>
          <a:xfrm>
            <a:off x="613457" y="3598600"/>
            <a:ext cx="10949651" cy="902117"/>
          </a:xfrm>
          <a:prstGeom prst="rect">
            <a:avLst/>
          </a:prstGeom>
        </p:spPr>
        <p:txBody>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ctr">
              <a:buNone/>
            </a:pPr>
            <a:endParaRPr/>
          </a:p>
        </p:txBody>
      </p:sp>
      <p:sp>
        <p:nvSpPr>
          <p:cNvPr id="1002" name="Inside the notebook">
            <a:extLst>
              <a:ext uri="{FF2B5EF4-FFF2-40B4-BE49-F238E27FC236}">
                <a16:creationId xmlns:a16="http://schemas.microsoft.com/office/drawing/2014/main" id="{7F68669A-8BB8-48AD-BACF-0BAA75C09034}"/>
              </a:ext>
            </a:extLst>
          </p:cNvPr>
          <p:cNvSpPr>
            <a:spLocks noGrp="1"/>
          </p:cNvSpPr>
          <p:nvPr/>
        </p:nvSpPr>
        <p:spPr>
          <a:xfrm>
            <a:off x="1047750" y="1428750"/>
            <a:ext cx="10096500" cy="857250"/>
          </a:xfrm>
          <a:prstGeom prst="rect">
            <a:avLst/>
          </a:prstGeom>
          <a:noFill/>
          <a:ln w="0">
            <a:noFill/>
          </a:ln>
        </p:spPr>
        <p:txBody>
          <a:bodyPr lIns="0" tIns="0" rIns="0" bIns="0" anchor="t">
            <a:noAutofit/>
          </a:bodyPr>
          <a:lstStyle/>
          <a:p>
            <a:pPr algn="ctr">
              <a:buNone/>
              <a:defRPr sz="4800" b="0">
                <a:solidFill>
                  <a:srgbClr val="F67132"/>
                </a:solidFill>
                <a:latin typeface="Calibri"/>
                <a:ea typeface="Calibri"/>
                <a:cs typeface="Calibri"/>
              </a:defRPr>
            </a:pPr>
            <a:r>
              <a:rPr sz="4800" b="0">
                <a:solidFill>
                  <a:srgbClr val="F67132"/>
                </a:solidFill>
                <a:latin typeface="Calibri"/>
                <a:ea typeface="Calibri"/>
                <a:cs typeface="Calibri"/>
              </a:rPr>
              <a:t>Inside the notebook</a:t>
            </a:r>
          </a:p>
        </p:txBody>
      </p:sp>
      <p:sp>
        <p:nvSpPr>
          <p:cNvPr id="1003" name="Part 1: the Chipotle file">
            <a:extLst>
              <a:ext uri="{FF2B5EF4-FFF2-40B4-BE49-F238E27FC236}">
                <a16:creationId xmlns:a16="http://schemas.microsoft.com/office/drawing/2014/main" id="{D3E09D9B-5C25-4506-9F99-402A4449DA7D}"/>
              </a:ext>
            </a:extLst>
          </p:cNvPr>
          <p:cNvSpPr>
            <a:spLocks noGrp="1"/>
          </p:cNvSpPr>
          <p:nvPr/>
        </p:nvSpPr>
        <p:spPr>
          <a:xfrm>
            <a:off x="1333500" y="2781300"/>
            <a:ext cx="9525000" cy="504825"/>
          </a:xfrm>
          <a:prstGeom prst="rect">
            <a:avLst/>
          </a:prstGeom>
          <a:noFill/>
          <a:ln w="0">
            <a:noFill/>
          </a:ln>
        </p:spPr>
        <p:txBody>
          <a:bodyPr lIns="0" tIns="0" rIns="0" bIns="0" anchor="t">
            <a:noAutofit/>
          </a:bodyPr>
          <a:lstStyle/>
          <a:p>
            <a:pPr algn="ctr">
              <a:buNone/>
              <a:defRPr sz="2700" b="1">
                <a:solidFill>
                  <a:srgbClr val="FFFFFF"/>
                </a:solidFill>
                <a:latin typeface="Calibri"/>
                <a:ea typeface="Calibri"/>
                <a:cs typeface="Calibri"/>
              </a:defRPr>
            </a:pPr>
            <a:r>
              <a:rPr sz="2700" b="1">
                <a:solidFill>
                  <a:srgbClr val="FFFFFF"/>
                </a:solidFill>
                <a:latin typeface="Calibri"/>
                <a:ea typeface="Calibri"/>
                <a:cs typeface="Calibri"/>
              </a:rPr>
              <a:t>Part 1: the Chipotle file</a:t>
            </a:r>
          </a:p>
        </p:txBody>
      </p:sp>
      <p:sp>
        <p:nvSpPr>
          <p:cNvPr id="1004" name="Load the TSV, run the inspection routine,&#10;and try the r">
            <a:extLst>
              <a:ext uri="{FF2B5EF4-FFF2-40B4-BE49-F238E27FC236}">
                <a16:creationId xmlns:a16="http://schemas.microsoft.com/office/drawing/2014/main" id="{871EC77F-3466-4C52-A1A4-7DF5B4AB8F31}"/>
              </a:ext>
            </a:extLst>
          </p:cNvPr>
          <p:cNvSpPr>
            <a:spLocks noGrp="1"/>
          </p:cNvSpPr>
          <p:nvPr/>
        </p:nvSpPr>
        <p:spPr>
          <a:xfrm>
            <a:off x="1333500" y="3524250"/>
            <a:ext cx="9525000" cy="1028700"/>
          </a:xfrm>
          <a:prstGeom prst="rect">
            <a:avLst/>
          </a:prstGeom>
          <a:noFill/>
          <a:ln w="0">
            <a:noFill/>
          </a:ln>
        </p:spPr>
        <p:txBody>
          <a:bodyPr lIns="0" tIns="0" rIns="0" bIns="0" anchor="t">
            <a:noAutofit/>
          </a:bodyPr>
          <a:lstStyle/>
          <a:p>
            <a:pPr algn="ctr">
              <a:buNone/>
              <a:defRPr sz="2625" b="0">
                <a:solidFill>
                  <a:srgbClr val="FFFFFF"/>
                </a:solidFill>
                <a:latin typeface="Calibri"/>
                <a:ea typeface="Calibri"/>
                <a:cs typeface="Calibri"/>
              </a:defRPr>
            </a:pPr>
            <a:r>
              <a:rPr sz="2625" b="0">
                <a:solidFill>
                  <a:srgbClr val="FFFFFF"/>
                </a:solidFill>
                <a:latin typeface="Calibri"/>
                <a:ea typeface="Calibri"/>
                <a:cs typeface="Calibri"/>
              </a:rPr>
              <a:t>Load the TSV, run the inspection routine,</a:t>
            </a:r>
          </a:p>
          <a:p>
            <a:pPr algn="ctr">
              <a:buNone/>
              <a:defRPr sz="2625" b="0">
                <a:solidFill>
                  <a:srgbClr val="FFFFFF"/>
                </a:solidFill>
                <a:latin typeface="Calibri"/>
                <a:ea typeface="Calibri"/>
                <a:cs typeface="Calibri"/>
              </a:defRPr>
            </a:pPr>
            <a:r>
              <a:rPr sz="2625" b="0">
                <a:solidFill>
                  <a:srgbClr val="FFFFFF"/>
                </a:solidFill>
                <a:latin typeface="Calibri"/>
                <a:ea typeface="Calibri"/>
                <a:cs typeface="Calibri"/>
              </a:rPr>
              <a:t>and try the revenue calculation.</a:t>
            </a:r>
          </a:p>
        </p:txBody>
      </p:sp>
      <p:sp>
        <p:nvSpPr>
          <p:cNvPr id="1005" name="Before the repair: what type should the answer be?">
            <a:extLst>
              <a:ext uri="{FF2B5EF4-FFF2-40B4-BE49-F238E27FC236}">
                <a16:creationId xmlns:a16="http://schemas.microsoft.com/office/drawing/2014/main" id="{DB584CD7-99EC-4571-936C-9589C8A2D291}"/>
              </a:ext>
            </a:extLst>
          </p:cNvPr>
          <p:cNvSpPr>
            <a:spLocks noGrp="1"/>
          </p:cNvSpPr>
          <p:nvPr/>
        </p:nvSpPr>
        <p:spPr>
          <a:xfrm>
            <a:off x="1333500" y="5019675"/>
            <a:ext cx="9525000" cy="428625"/>
          </a:xfrm>
          <a:prstGeom prst="rect">
            <a:avLst/>
          </a:prstGeom>
          <a:noFill/>
          <a:ln w="0">
            <a:noFill/>
          </a:ln>
        </p:spPr>
        <p:txBody>
          <a:bodyPr lIns="0" tIns="0" rIns="0" bIns="0" anchor="t">
            <a:noAutofit/>
          </a:bodyPr>
          <a:lstStyle/>
          <a:p>
            <a:pPr algn="ctr">
              <a:buNone/>
              <a:defRPr sz="2100" b="0">
                <a:solidFill>
                  <a:srgbClr val="F67132"/>
                </a:solidFill>
                <a:latin typeface="Calibri"/>
                <a:ea typeface="Calibri"/>
                <a:cs typeface="Calibri"/>
              </a:defRPr>
            </a:pPr>
            <a:r>
              <a:rPr sz="2100" b="0">
                <a:solidFill>
                  <a:srgbClr val="F67132"/>
                </a:solidFill>
                <a:latin typeface="Calibri"/>
                <a:ea typeface="Calibri"/>
                <a:cs typeface="Calibri"/>
              </a:rPr>
              <a:t>Before the repair: what type should the answer be?</a:t>
            </a:r>
          </a:p>
        </p:txBody>
      </p:sp>
    </p:spTree>
    <p:extLst>
      <p:ext uri="{BB962C8B-B14F-4D97-AF65-F5344CB8AC3E}">
        <p14:creationId xmlns:p14="http://schemas.microsoft.com/office/powerpoint/2010/main" val="382584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Eight rows we can check by eye</a:t>
            </a:r>
          </a:p>
        </p:txBody>
      </p:sp>
      <p:graphicFrame>
        <p:nvGraphicFramePr>
          <p:cNvPr id="1005" name="Table 1004"/>
          <p:cNvGraphicFramePr/>
          <p:nvPr/>
        </p:nvGraphicFramePr>
        <p:xfrm>
          <a:off x="533400" y="1219200"/>
          <a:ext cx="10763250" cy="4200525"/>
        </p:xfrm>
        <a:graphic>
          <a:graphicData uri="http://schemas.openxmlformats.org/drawingml/2006/table">
            <a:tbl>
              <a:tblPr/>
              <a:tblGrid>
                <a:gridCol w="85725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2143125">
                  <a:extLst>
                    <a:ext uri="{9D8B030D-6E8A-4147-A177-3AD203B41FA5}">
                      <a16:colId xmlns:a16="http://schemas.microsoft.com/office/drawing/2014/main" val="20004"/>
                    </a:ext>
                  </a:extLst>
                </a:gridCol>
              </a:tblGrid>
              <a:tr h="466725">
                <a:tc>
                  <a:txBody>
                    <a:bodyPr/>
                    <a:lstStyle/>
                    <a:p>
                      <a:r>
                        <a:rPr sz="1950" b="1">
                          <a:solidFill>
                            <a:srgbClr val="FFFFFF"/>
                          </a:solidFill>
                          <a:latin typeface="Calibri"/>
                          <a:ea typeface="Calibri"/>
                          <a:cs typeface="Calibri"/>
                        </a:rPr>
                        <a:t>ID</a:t>
                      </a:r>
                    </a:p>
                  </a:txBody>
                  <a:tcPr>
                    <a:solidFill>
                      <a:srgbClr val="24323E"/>
                    </a:solidFill>
                  </a:tcPr>
                </a:tc>
                <a:tc>
                  <a:txBody>
                    <a:bodyPr/>
                    <a:lstStyle/>
                    <a:p>
                      <a:r>
                        <a:rPr sz="1950" b="1">
                          <a:solidFill>
                            <a:srgbClr val="FFFFFF"/>
                          </a:solidFill>
                          <a:latin typeface="Calibri"/>
                          <a:ea typeface="Calibri"/>
                          <a:cs typeface="Calibri"/>
                        </a:rPr>
                        <a:t>Item</a:t>
                      </a:r>
                    </a:p>
                  </a:txBody>
                  <a:tcPr>
                    <a:solidFill>
                      <a:srgbClr val="24323E"/>
                    </a:solidFill>
                  </a:tcPr>
                </a:tc>
                <a:tc>
                  <a:txBody>
                    <a:bodyPr/>
                    <a:lstStyle/>
                    <a:p>
                      <a:r>
                        <a:rPr sz="1950" b="1">
                          <a:solidFill>
                            <a:srgbClr val="FFFFFF"/>
                          </a:solidFill>
                          <a:latin typeface="Calibri"/>
                          <a:ea typeface="Calibri"/>
                          <a:cs typeface="Calibri"/>
                        </a:rPr>
                        <a:t>Category</a:t>
                      </a:r>
                    </a:p>
                  </a:txBody>
                  <a:tcPr>
                    <a:solidFill>
                      <a:srgbClr val="24323E"/>
                    </a:solidFill>
                  </a:tcPr>
                </a:tc>
                <a:tc>
                  <a:txBody>
                    <a:bodyPr/>
                    <a:lstStyle/>
                    <a:p>
                      <a:r>
                        <a:rPr sz="1950" b="1">
                          <a:solidFill>
                            <a:srgbClr val="FFFFFF"/>
                          </a:solidFill>
                          <a:latin typeface="Calibri"/>
                          <a:ea typeface="Calibri"/>
                          <a:cs typeface="Calibri"/>
                        </a:rPr>
                        <a:t>Qty</a:t>
                      </a:r>
                    </a:p>
                  </a:txBody>
                  <a:tcPr>
                    <a:solidFill>
                      <a:srgbClr val="24323E"/>
                    </a:solidFill>
                  </a:tcPr>
                </a:tc>
                <a:tc>
                  <a:txBody>
                    <a:bodyPr/>
                    <a:lstStyle/>
                    <a:p>
                      <a:r>
                        <a:rPr sz="1950" b="1">
                          <a:solidFill>
                            <a:srgbClr val="FFFFFF"/>
                          </a:solidFill>
                          <a:latin typeface="Calibri"/>
                          <a:ea typeface="Calibri"/>
                          <a:cs typeface="Calibri"/>
                        </a:rPr>
                        <a:t>Price</a:t>
                      </a:r>
                    </a:p>
                  </a:txBody>
                  <a:tcPr>
                    <a:solidFill>
                      <a:srgbClr val="24323E"/>
                    </a:solidFill>
                  </a:tcPr>
                </a:tc>
                <a:extLst>
                  <a:ext uri="{0D108BD9-81ED-4DB2-BD59-A6C34878D82A}">
                    <a16:rowId xmlns:a16="http://schemas.microsoft.com/office/drawing/2014/main" val="10000"/>
                  </a:ext>
                </a:extLst>
              </a:tr>
              <a:tr h="466725">
                <a:tc>
                  <a:txBody>
                    <a:bodyPr/>
                    <a:lstStyle/>
                    <a:p>
                      <a:r>
                        <a:rPr sz="1950" b="0">
                          <a:solidFill>
                            <a:srgbClr val="24323E"/>
                          </a:solidFill>
                          <a:latin typeface="Calibri"/>
                          <a:ea typeface="Calibri"/>
                          <a:cs typeface="Calibri"/>
                        </a:rPr>
                        <a:t>1</a:t>
                      </a:r>
                    </a:p>
                  </a:txBody>
                  <a:tcPr>
                    <a:solidFill>
                      <a:srgbClr val="FBE5D6"/>
                    </a:solidFill>
                  </a:tcPr>
                </a:tc>
                <a:tc>
                  <a:txBody>
                    <a:bodyPr/>
                    <a:lstStyle/>
                    <a:p>
                      <a:r>
                        <a:rPr sz="1950" b="0">
                          <a:solidFill>
                            <a:srgbClr val="24323E"/>
                          </a:solidFill>
                          <a:latin typeface="Calibri"/>
                          <a:ea typeface="Calibri"/>
                          <a:cs typeface="Calibri"/>
                        </a:rPr>
                        <a:t>Cheeseburger</a:t>
                      </a:r>
                    </a:p>
                  </a:txBody>
                  <a:tcPr>
                    <a:solidFill>
                      <a:srgbClr val="FBE5D6"/>
                    </a:solidFill>
                  </a:tcPr>
                </a:tc>
                <a:tc>
                  <a:txBody>
                    <a:bodyPr/>
                    <a:lstStyle/>
                    <a:p>
                      <a:r>
                        <a:rPr sz="1950" b="0">
                          <a:solidFill>
                            <a:srgbClr val="24323E"/>
                          </a:solidFill>
                          <a:latin typeface="Calibri"/>
                          <a:ea typeface="Calibri"/>
                          <a:cs typeface="Calibri"/>
                        </a:rPr>
                        <a:t>Food</a:t>
                      </a:r>
                    </a:p>
                  </a:txBody>
                  <a:tcPr>
                    <a:solidFill>
                      <a:srgbClr val="FBE5D6"/>
                    </a:solidFill>
                  </a:tcPr>
                </a:tc>
                <a:tc>
                  <a:txBody>
                    <a:bodyPr/>
                    <a:lstStyle/>
                    <a:p>
                      <a:r>
                        <a:rPr sz="1950" b="0">
                          <a:solidFill>
                            <a:srgbClr val="24323E"/>
                          </a:solidFill>
                          <a:latin typeface="Calibri"/>
                          <a:ea typeface="Calibri"/>
                          <a:cs typeface="Calibri"/>
                        </a:rPr>
                        <a:t>2</a:t>
                      </a:r>
                    </a:p>
                  </a:txBody>
                  <a:tcPr>
                    <a:solidFill>
                      <a:srgbClr val="FBE5D6"/>
                    </a:solidFill>
                  </a:tcPr>
                </a:tc>
                <a:tc>
                  <a:txBody>
                    <a:bodyPr/>
                    <a:lstStyle/>
                    <a:p>
                      <a:r>
                        <a:rPr sz="1950" b="0">
                          <a:solidFill>
                            <a:srgbClr val="24323E"/>
                          </a:solidFill>
                          <a:latin typeface="Calibri"/>
                          <a:ea typeface="Calibri"/>
                          <a:cs typeface="Calibri"/>
                        </a:rPr>
                        <a:t>$7.50</a:t>
                      </a:r>
                    </a:p>
                  </a:txBody>
                  <a:tcPr>
                    <a:solidFill>
                      <a:srgbClr val="FBE5D6"/>
                    </a:solidFill>
                  </a:tcPr>
                </a:tc>
                <a:extLst>
                  <a:ext uri="{0D108BD9-81ED-4DB2-BD59-A6C34878D82A}">
                    <a16:rowId xmlns:a16="http://schemas.microsoft.com/office/drawing/2014/main" val="10001"/>
                  </a:ext>
                </a:extLst>
              </a:tr>
              <a:tr h="466725">
                <a:tc>
                  <a:txBody>
                    <a:bodyPr/>
                    <a:lstStyle/>
                    <a:p>
                      <a:r>
                        <a:rPr sz="1950" b="0">
                          <a:solidFill>
                            <a:srgbClr val="24323E"/>
                          </a:solidFill>
                          <a:latin typeface="Calibri"/>
                          <a:ea typeface="Calibri"/>
                          <a:cs typeface="Calibri"/>
                        </a:rPr>
                        <a:t>1</a:t>
                      </a:r>
                    </a:p>
                  </a:txBody>
                  <a:tcPr>
                    <a:solidFill>
                      <a:srgbClr val="FFFFFF"/>
                    </a:solidFill>
                  </a:tcPr>
                </a:tc>
                <a:tc>
                  <a:txBody>
                    <a:bodyPr/>
                    <a:lstStyle/>
                    <a:p>
                      <a:r>
                        <a:rPr sz="1950" b="0">
                          <a:solidFill>
                            <a:srgbClr val="24323E"/>
                          </a:solidFill>
                          <a:latin typeface="Calibri"/>
                          <a:ea typeface="Calibri"/>
                          <a:cs typeface="Calibri"/>
                        </a:rPr>
                        <a:t>Cheeseburger</a:t>
                      </a:r>
                    </a:p>
                  </a:txBody>
                  <a:tcPr>
                    <a:solidFill>
                      <a:srgbClr val="FFFFFF"/>
                    </a:solidFill>
                  </a:tcPr>
                </a:tc>
                <a:tc>
                  <a:txBody>
                    <a:bodyPr/>
                    <a:lstStyle/>
                    <a:p>
                      <a:r>
                        <a:rPr sz="1950" b="0">
                          <a:solidFill>
                            <a:srgbClr val="24323E"/>
                          </a:solidFill>
                          <a:latin typeface="Calibri"/>
                          <a:ea typeface="Calibri"/>
                          <a:cs typeface="Calibri"/>
                        </a:rPr>
                        <a:t>Food</a:t>
                      </a:r>
                    </a:p>
                  </a:txBody>
                  <a:tcPr>
                    <a:solidFill>
                      <a:srgbClr val="FFFFFF"/>
                    </a:solidFill>
                  </a:tcPr>
                </a:tc>
                <a:tc>
                  <a:txBody>
                    <a:bodyPr/>
                    <a:lstStyle/>
                    <a:p>
                      <a:r>
                        <a:rPr sz="1950" b="0">
                          <a:solidFill>
                            <a:srgbClr val="24323E"/>
                          </a:solidFill>
                          <a:latin typeface="Calibri"/>
                          <a:ea typeface="Calibri"/>
                          <a:cs typeface="Calibri"/>
                        </a:rPr>
                        <a:t>2</a:t>
                      </a:r>
                    </a:p>
                  </a:txBody>
                  <a:tcPr>
                    <a:solidFill>
                      <a:srgbClr val="FFFFFF"/>
                    </a:solidFill>
                  </a:tcPr>
                </a:tc>
                <a:tc>
                  <a:txBody>
                    <a:bodyPr/>
                    <a:lstStyle/>
                    <a:p>
                      <a:r>
                        <a:rPr sz="1950" b="0">
                          <a:solidFill>
                            <a:srgbClr val="24323E"/>
                          </a:solidFill>
                          <a:latin typeface="Calibri"/>
                          <a:ea typeface="Calibri"/>
                          <a:cs typeface="Calibri"/>
                        </a:rPr>
                        <a:t>$7.50</a:t>
                      </a:r>
                    </a:p>
                  </a:txBody>
                  <a:tcPr>
                    <a:solidFill>
                      <a:srgbClr val="FFFFFF"/>
                    </a:solidFill>
                  </a:tcPr>
                </a:tc>
                <a:extLst>
                  <a:ext uri="{0D108BD9-81ED-4DB2-BD59-A6C34878D82A}">
                    <a16:rowId xmlns:a16="http://schemas.microsoft.com/office/drawing/2014/main" val="10002"/>
                  </a:ext>
                </a:extLst>
              </a:tr>
              <a:tr h="466725">
                <a:tc>
                  <a:txBody>
                    <a:bodyPr/>
                    <a:lstStyle/>
                    <a:p>
                      <a:r>
                        <a:rPr sz="1950" b="0">
                          <a:solidFill>
                            <a:srgbClr val="24323E"/>
                          </a:solidFill>
                          <a:latin typeface="Calibri"/>
                          <a:ea typeface="Calibri"/>
                          <a:cs typeface="Calibri"/>
                        </a:rPr>
                        <a:t>2</a:t>
                      </a:r>
                    </a:p>
                  </a:txBody>
                  <a:tcPr>
                    <a:solidFill>
                      <a:srgbClr val="FBE5D6"/>
                    </a:solidFill>
                  </a:tcPr>
                </a:tc>
                <a:tc>
                  <a:txBody>
                    <a:bodyPr/>
                    <a:lstStyle/>
                    <a:p>
                      <a:r>
                        <a:rPr sz="1950" b="0">
                          <a:solidFill>
                            <a:srgbClr val="24323E"/>
                          </a:solidFill>
                          <a:latin typeface="Calibri"/>
                          <a:ea typeface="Calibri"/>
                          <a:cs typeface="Calibri"/>
                        </a:rPr>
                        <a:t>cheese burger</a:t>
                      </a:r>
                    </a:p>
                  </a:txBody>
                  <a:tcPr>
                    <a:solidFill>
                      <a:srgbClr val="FBE5D6"/>
                    </a:solidFill>
                  </a:tcPr>
                </a:tc>
                <a:tc>
                  <a:txBody>
                    <a:bodyPr/>
                    <a:lstStyle/>
                    <a:p>
                      <a:r>
                        <a:rPr sz="1950" b="0">
                          <a:solidFill>
                            <a:srgbClr val="24323E"/>
                          </a:solidFill>
                          <a:latin typeface="Calibri"/>
                          <a:ea typeface="Calibri"/>
                          <a:cs typeface="Calibri"/>
                        </a:rPr>
                        <a:t>food</a:t>
                      </a:r>
                    </a:p>
                  </a:txBody>
                  <a:tcPr>
                    <a:solidFill>
                      <a:srgbClr val="FBE5D6"/>
                    </a:solidFill>
                  </a:tcPr>
                </a:tc>
                <a:tc>
                  <a:txBody>
                    <a:bodyPr/>
                    <a:lstStyle/>
                    <a:p>
                      <a:r>
                        <a:rPr sz="1950" b="0">
                          <a:solidFill>
                            <a:srgbClr val="24323E"/>
                          </a:solidFill>
                          <a:latin typeface="Calibri"/>
                          <a:ea typeface="Calibri"/>
                          <a:cs typeface="Calibri"/>
                        </a:rPr>
                        <a:t>1</a:t>
                      </a:r>
                    </a:p>
                  </a:txBody>
                  <a:tcPr>
                    <a:solidFill>
                      <a:srgbClr val="FBE5D6"/>
                    </a:solidFill>
                  </a:tcPr>
                </a:tc>
                <a:tc>
                  <a:txBody>
                    <a:bodyPr/>
                    <a:lstStyle/>
                    <a:p>
                      <a:r>
                        <a:rPr sz="1950" b="0">
                          <a:solidFill>
                            <a:srgbClr val="24323E"/>
                          </a:solidFill>
                          <a:latin typeface="Calibri"/>
                          <a:ea typeface="Calibri"/>
                          <a:cs typeface="Calibri"/>
                        </a:rPr>
                        <a:t>7.5</a:t>
                      </a:r>
                    </a:p>
                  </a:txBody>
                  <a:tcPr>
                    <a:solidFill>
                      <a:srgbClr val="FBE5D6"/>
                    </a:solidFill>
                  </a:tcPr>
                </a:tc>
                <a:extLst>
                  <a:ext uri="{0D108BD9-81ED-4DB2-BD59-A6C34878D82A}">
                    <a16:rowId xmlns:a16="http://schemas.microsoft.com/office/drawing/2014/main" val="10003"/>
                  </a:ext>
                </a:extLst>
              </a:tr>
              <a:tr h="466725">
                <a:tc>
                  <a:txBody>
                    <a:bodyPr/>
                    <a:lstStyle/>
                    <a:p>
                      <a:r>
                        <a:rPr sz="1950" b="0">
                          <a:solidFill>
                            <a:srgbClr val="24323E"/>
                          </a:solidFill>
                          <a:latin typeface="Calibri"/>
                          <a:ea typeface="Calibri"/>
                          <a:cs typeface="Calibri"/>
                        </a:rPr>
                        <a:t>3</a:t>
                      </a:r>
                    </a:p>
                  </a:txBody>
                  <a:tcPr>
                    <a:solidFill>
                      <a:srgbClr val="FFFFFF"/>
                    </a:solidFill>
                  </a:tcPr>
                </a:tc>
                <a:tc>
                  <a:txBody>
                    <a:bodyPr/>
                    <a:lstStyle/>
                    <a:p>
                      <a:r>
                        <a:rPr sz="1950" b="0">
                          <a:solidFill>
                            <a:srgbClr val="24323E"/>
                          </a:solidFill>
                          <a:latin typeface="Calibri"/>
                          <a:ea typeface="Calibri"/>
                          <a:cs typeface="Calibri"/>
                        </a:rPr>
                        <a:t>Foam Finger</a:t>
                      </a:r>
                    </a:p>
                  </a:txBody>
                  <a:tcPr>
                    <a:solidFill>
                      <a:srgbClr val="FFFFFF"/>
                    </a:solidFill>
                  </a:tcPr>
                </a:tc>
                <a:tc>
                  <a:txBody>
                    <a:bodyPr/>
                    <a:lstStyle/>
                    <a:p>
                      <a:r>
                        <a:rPr sz="1950" b="0">
                          <a:solidFill>
                            <a:srgbClr val="24323E"/>
                          </a:solidFill>
                          <a:latin typeface="Calibri"/>
                          <a:ea typeface="Calibri"/>
                          <a:cs typeface="Calibri"/>
                        </a:rPr>
                        <a:t>Merch</a:t>
                      </a:r>
                    </a:p>
                  </a:txBody>
                  <a:tcPr>
                    <a:solidFill>
                      <a:srgbClr val="FFFFFF"/>
                    </a:solidFill>
                  </a:tcPr>
                </a:tc>
                <a:tc>
                  <a:txBody>
                    <a:bodyPr/>
                    <a:lstStyle/>
                    <a:p>
                      <a:r>
                        <a:rPr sz="1950" b="0">
                          <a:solidFill>
                            <a:srgbClr val="24323E"/>
                          </a:solidFill>
                          <a:latin typeface="Calibri"/>
                          <a:ea typeface="Calibri"/>
                          <a:cs typeface="Calibri"/>
                        </a:rPr>
                        <a:t>NULL</a:t>
                      </a:r>
                    </a:p>
                  </a:txBody>
                  <a:tcPr>
                    <a:solidFill>
                      <a:srgbClr val="FFFFFF"/>
                    </a:solidFill>
                  </a:tcPr>
                </a:tc>
                <a:tc>
                  <a:txBody>
                    <a:bodyPr/>
                    <a:lstStyle/>
                    <a:p>
                      <a:r>
                        <a:rPr sz="1950" b="0">
                          <a:solidFill>
                            <a:srgbClr val="24323E"/>
                          </a:solidFill>
                          <a:latin typeface="Calibri"/>
                          <a:ea typeface="Calibri"/>
                          <a:cs typeface="Calibri"/>
                        </a:rPr>
                        <a:t>12</a:t>
                      </a:r>
                    </a:p>
                  </a:txBody>
                  <a:tcPr>
                    <a:solidFill>
                      <a:srgbClr val="FFFFFF"/>
                    </a:solidFill>
                  </a:tcPr>
                </a:tc>
                <a:extLst>
                  <a:ext uri="{0D108BD9-81ED-4DB2-BD59-A6C34878D82A}">
                    <a16:rowId xmlns:a16="http://schemas.microsoft.com/office/drawing/2014/main" val="10004"/>
                  </a:ext>
                </a:extLst>
              </a:tr>
              <a:tr h="466725">
                <a:tc>
                  <a:txBody>
                    <a:bodyPr/>
                    <a:lstStyle/>
                    <a:p>
                      <a:r>
                        <a:rPr sz="1950" b="0">
                          <a:solidFill>
                            <a:srgbClr val="24323E"/>
                          </a:solidFill>
                          <a:latin typeface="Calibri"/>
                          <a:ea typeface="Calibri"/>
                          <a:cs typeface="Calibri"/>
                        </a:rPr>
                        <a:t>4</a:t>
                      </a:r>
                    </a:p>
                  </a:txBody>
                  <a:tcPr>
                    <a:solidFill>
                      <a:srgbClr val="FBE5D6"/>
                    </a:solidFill>
                  </a:tcPr>
                </a:tc>
                <a:tc>
                  <a:txBody>
                    <a:bodyPr/>
                    <a:lstStyle/>
                    <a:p>
                      <a:r>
                        <a:rPr sz="1950" b="0">
                          <a:solidFill>
                            <a:srgbClr val="24323E"/>
                          </a:solidFill>
                          <a:latin typeface="Calibri"/>
                          <a:ea typeface="Calibri"/>
                          <a:cs typeface="Calibri"/>
                        </a:rPr>
                        <a:t>UVA T-Shirt [space]</a:t>
                      </a:r>
                    </a:p>
                  </a:txBody>
                  <a:tcPr>
                    <a:solidFill>
                      <a:srgbClr val="FBE5D6"/>
                    </a:solidFill>
                  </a:tcPr>
                </a:tc>
                <a:tc>
                  <a:txBody>
                    <a:bodyPr/>
                    <a:lstStyle/>
                    <a:p>
                      <a:r>
                        <a:rPr sz="1950" b="0">
                          <a:solidFill>
                            <a:srgbClr val="24323E"/>
                          </a:solidFill>
                          <a:latin typeface="Calibri"/>
                          <a:ea typeface="Calibri"/>
                          <a:cs typeface="Calibri"/>
                        </a:rPr>
                        <a:t>Apparel</a:t>
                      </a:r>
                    </a:p>
                  </a:txBody>
                  <a:tcPr>
                    <a:solidFill>
                      <a:srgbClr val="FBE5D6"/>
                    </a:solidFill>
                  </a:tcPr>
                </a:tc>
                <a:tc>
                  <a:txBody>
                    <a:bodyPr/>
                    <a:lstStyle/>
                    <a:p>
                      <a:r>
                        <a:rPr sz="1950" b="0">
                          <a:solidFill>
                            <a:srgbClr val="24323E"/>
                          </a:solidFill>
                          <a:latin typeface="Calibri"/>
                          <a:ea typeface="Calibri"/>
                          <a:cs typeface="Calibri"/>
                        </a:rPr>
                        <a:t>2</a:t>
                      </a:r>
                    </a:p>
                  </a:txBody>
                  <a:tcPr>
                    <a:solidFill>
                      <a:srgbClr val="FBE5D6"/>
                    </a:solidFill>
                  </a:tcPr>
                </a:tc>
                <a:tc>
                  <a:txBody>
                    <a:bodyPr/>
                    <a:lstStyle/>
                    <a:p>
                      <a:r>
                        <a:rPr sz="1950" b="0">
                          <a:solidFill>
                            <a:srgbClr val="24323E"/>
                          </a:solidFill>
                          <a:latin typeface="Calibri"/>
                          <a:ea typeface="Calibri"/>
                          <a:cs typeface="Calibri"/>
                        </a:rPr>
                        <a:t>$24.00</a:t>
                      </a:r>
                    </a:p>
                  </a:txBody>
                  <a:tcPr>
                    <a:solidFill>
                      <a:srgbClr val="FBE5D6"/>
                    </a:solidFill>
                  </a:tcPr>
                </a:tc>
                <a:extLst>
                  <a:ext uri="{0D108BD9-81ED-4DB2-BD59-A6C34878D82A}">
                    <a16:rowId xmlns:a16="http://schemas.microsoft.com/office/drawing/2014/main" val="10005"/>
                  </a:ext>
                </a:extLst>
              </a:tr>
              <a:tr h="466725">
                <a:tc>
                  <a:txBody>
                    <a:bodyPr/>
                    <a:lstStyle/>
                    <a:p>
                      <a:r>
                        <a:rPr sz="1950" b="0">
                          <a:solidFill>
                            <a:srgbClr val="24323E"/>
                          </a:solidFill>
                          <a:latin typeface="Calibri"/>
                          <a:ea typeface="Calibri"/>
                          <a:cs typeface="Calibri"/>
                        </a:rPr>
                        <a:t>5</a:t>
                      </a:r>
                    </a:p>
                  </a:txBody>
                  <a:tcPr>
                    <a:solidFill>
                      <a:srgbClr val="FFFFFF"/>
                    </a:solidFill>
                  </a:tcPr>
                </a:tc>
                <a:tc>
                  <a:txBody>
                    <a:bodyPr/>
                    <a:lstStyle/>
                    <a:p>
                      <a:r>
                        <a:rPr sz="1950" b="0">
                          <a:solidFill>
                            <a:srgbClr val="24323E"/>
                          </a:solidFill>
                          <a:latin typeface="Calibri"/>
                          <a:ea typeface="Calibri"/>
                          <a:cs typeface="Calibri"/>
                        </a:rPr>
                        <a:t>Rain Poncho</a:t>
                      </a:r>
                    </a:p>
                  </a:txBody>
                  <a:tcPr>
                    <a:solidFill>
                      <a:srgbClr val="FFFFFF"/>
                    </a:solidFill>
                  </a:tcPr>
                </a:tc>
                <a:tc>
                  <a:txBody>
                    <a:bodyPr/>
                    <a:lstStyle/>
                    <a:p>
                      <a:r>
                        <a:rPr sz="1950" b="0">
                          <a:solidFill>
                            <a:srgbClr val="24323E"/>
                          </a:solidFill>
                          <a:latin typeface="Calibri"/>
                          <a:ea typeface="Calibri"/>
                          <a:cs typeface="Calibri"/>
                        </a:rPr>
                        <a:t>RainGear</a:t>
                      </a:r>
                    </a:p>
                  </a:txBody>
                  <a:tcPr>
                    <a:solidFill>
                      <a:srgbClr val="FFFFFF"/>
                    </a:solidFill>
                  </a:tcPr>
                </a:tc>
                <a:tc>
                  <a:txBody>
                    <a:bodyPr/>
                    <a:lstStyle/>
                    <a:p>
                      <a:r>
                        <a:rPr sz="1950" b="0">
                          <a:solidFill>
                            <a:srgbClr val="24323E"/>
                          </a:solidFill>
                          <a:latin typeface="Calibri"/>
                          <a:ea typeface="Calibri"/>
                          <a:cs typeface="Calibri"/>
                        </a:rPr>
                        <a:t>-3</a:t>
                      </a:r>
                    </a:p>
                  </a:txBody>
                  <a:tcPr>
                    <a:solidFill>
                      <a:srgbClr val="FFFFFF"/>
                    </a:solidFill>
                  </a:tcPr>
                </a:tc>
                <a:tc>
                  <a:txBody>
                    <a:bodyPr/>
                    <a:lstStyle/>
                    <a:p>
                      <a:r>
                        <a:rPr sz="1950" b="0">
                          <a:solidFill>
                            <a:srgbClr val="24323E"/>
                          </a:solidFill>
                          <a:latin typeface="Calibri"/>
                          <a:ea typeface="Calibri"/>
                          <a:cs typeface="Calibri"/>
                        </a:rPr>
                        <a:t>6</a:t>
                      </a:r>
                    </a:p>
                  </a:txBody>
                  <a:tcPr>
                    <a:solidFill>
                      <a:srgbClr val="FFFFFF"/>
                    </a:solidFill>
                  </a:tcPr>
                </a:tc>
                <a:extLst>
                  <a:ext uri="{0D108BD9-81ED-4DB2-BD59-A6C34878D82A}">
                    <a16:rowId xmlns:a16="http://schemas.microsoft.com/office/drawing/2014/main" val="10006"/>
                  </a:ext>
                </a:extLst>
              </a:tr>
              <a:tr h="466725">
                <a:tc>
                  <a:txBody>
                    <a:bodyPr/>
                    <a:lstStyle/>
                    <a:p>
                      <a:r>
                        <a:rPr sz="1950" b="0">
                          <a:solidFill>
                            <a:srgbClr val="24323E"/>
                          </a:solidFill>
                          <a:latin typeface="Calibri"/>
                          <a:ea typeface="Calibri"/>
                          <a:cs typeface="Calibri"/>
                        </a:rPr>
                        <a:t>6</a:t>
                      </a:r>
                    </a:p>
                  </a:txBody>
                  <a:tcPr>
                    <a:solidFill>
                      <a:srgbClr val="FBE5D6"/>
                    </a:solidFill>
                  </a:tcPr>
                </a:tc>
                <a:tc>
                  <a:txBody>
                    <a:bodyPr/>
                    <a:lstStyle/>
                    <a:p>
                      <a:r>
                        <a:rPr sz="1950" b="0">
                          <a:solidFill>
                            <a:srgbClr val="24323E"/>
                          </a:solidFill>
                          <a:latin typeface="Calibri"/>
                          <a:ea typeface="Calibri"/>
                          <a:cs typeface="Calibri"/>
                        </a:rPr>
                        <a:t>rain poncho</a:t>
                      </a:r>
                    </a:p>
                  </a:txBody>
                  <a:tcPr>
                    <a:solidFill>
                      <a:srgbClr val="FBE5D6"/>
                    </a:solidFill>
                  </a:tcPr>
                </a:tc>
                <a:tc>
                  <a:txBody>
                    <a:bodyPr/>
                    <a:lstStyle/>
                    <a:p>
                      <a:r>
                        <a:rPr sz="1950" b="0">
                          <a:solidFill>
                            <a:srgbClr val="24323E"/>
                          </a:solidFill>
                          <a:latin typeface="Calibri"/>
                          <a:ea typeface="Calibri"/>
                          <a:cs typeface="Calibri"/>
                        </a:rPr>
                        <a:t>rain-gear</a:t>
                      </a:r>
                    </a:p>
                  </a:txBody>
                  <a:tcPr>
                    <a:solidFill>
                      <a:srgbClr val="FBE5D6"/>
                    </a:solidFill>
                  </a:tcPr>
                </a:tc>
                <a:tc>
                  <a:txBody>
                    <a:bodyPr/>
                    <a:lstStyle/>
                    <a:p>
                      <a:r>
                        <a:rPr sz="1950" b="0">
                          <a:solidFill>
                            <a:srgbClr val="24323E"/>
                          </a:solidFill>
                          <a:latin typeface="Calibri"/>
                          <a:ea typeface="Calibri"/>
                          <a:cs typeface="Calibri"/>
                        </a:rPr>
                        <a:t>4</a:t>
                      </a:r>
                    </a:p>
                  </a:txBody>
                  <a:tcPr>
                    <a:solidFill>
                      <a:srgbClr val="FBE5D6"/>
                    </a:solidFill>
                  </a:tcPr>
                </a:tc>
                <a:tc>
                  <a:txBody>
                    <a:bodyPr/>
                    <a:lstStyle/>
                    <a:p>
                      <a:r>
                        <a:rPr sz="1950" b="0">
                          <a:solidFill>
                            <a:srgbClr val="24323E"/>
                          </a:solidFill>
                          <a:latin typeface="Calibri"/>
                          <a:ea typeface="Calibri"/>
                          <a:cs typeface="Calibri"/>
                        </a:rPr>
                        <a:t>$6.00</a:t>
                      </a:r>
                    </a:p>
                  </a:txBody>
                  <a:tcPr>
                    <a:solidFill>
                      <a:srgbClr val="FBE5D6"/>
                    </a:solidFill>
                  </a:tcPr>
                </a:tc>
                <a:extLst>
                  <a:ext uri="{0D108BD9-81ED-4DB2-BD59-A6C34878D82A}">
                    <a16:rowId xmlns:a16="http://schemas.microsoft.com/office/drawing/2014/main" val="10007"/>
                  </a:ext>
                </a:extLst>
              </a:tr>
              <a:tr h="466725">
                <a:tc>
                  <a:txBody>
                    <a:bodyPr/>
                    <a:lstStyle/>
                    <a:p>
                      <a:r>
                        <a:rPr sz="1950" b="0">
                          <a:solidFill>
                            <a:srgbClr val="24323E"/>
                          </a:solidFill>
                          <a:latin typeface="Calibri"/>
                          <a:ea typeface="Calibri"/>
                          <a:cs typeface="Calibri"/>
                        </a:rPr>
                        <a:t>7</a:t>
                      </a:r>
                    </a:p>
                  </a:txBody>
                  <a:tcPr>
                    <a:solidFill>
                      <a:srgbClr val="FFFFFF"/>
                    </a:solidFill>
                  </a:tcPr>
                </a:tc>
                <a:tc>
                  <a:txBody>
                    <a:bodyPr/>
                    <a:lstStyle/>
                    <a:p>
                      <a:r>
                        <a:rPr sz="1950" b="0">
                          <a:solidFill>
                            <a:srgbClr val="24323E"/>
                          </a:solidFill>
                          <a:latin typeface="Calibri"/>
                          <a:ea typeface="Calibri"/>
                          <a:cs typeface="Calibri"/>
                        </a:rPr>
                        <a:t>(blank)</a:t>
                      </a:r>
                    </a:p>
                  </a:txBody>
                  <a:tcPr>
                    <a:solidFill>
                      <a:srgbClr val="FFFFFF"/>
                    </a:solidFill>
                  </a:tcPr>
                </a:tc>
                <a:tc>
                  <a:txBody>
                    <a:bodyPr/>
                    <a:lstStyle/>
                    <a:p>
                      <a:r>
                        <a:rPr sz="1950" b="0">
                          <a:solidFill>
                            <a:srgbClr val="24323E"/>
                          </a:solidFill>
                          <a:latin typeface="Calibri"/>
                          <a:ea typeface="Calibri"/>
                          <a:cs typeface="Calibri"/>
                        </a:rPr>
                        <a:t>Merch</a:t>
                      </a:r>
                    </a:p>
                  </a:txBody>
                  <a:tcPr>
                    <a:solidFill>
                      <a:srgbClr val="FFFFFF"/>
                    </a:solidFill>
                  </a:tcPr>
                </a:tc>
                <a:tc>
                  <a:txBody>
                    <a:bodyPr/>
                    <a:lstStyle/>
                    <a:p>
                      <a:r>
                        <a:rPr sz="1950" b="0">
                          <a:solidFill>
                            <a:srgbClr val="24323E"/>
                          </a:solidFill>
                          <a:latin typeface="Calibri"/>
                          <a:ea typeface="Calibri"/>
                          <a:cs typeface="Calibri"/>
                        </a:rPr>
                        <a:t>1</a:t>
                      </a:r>
                    </a:p>
                  </a:txBody>
                  <a:tcPr>
                    <a:solidFill>
                      <a:srgbClr val="FFFFFF"/>
                    </a:solidFill>
                  </a:tcPr>
                </a:tc>
                <a:tc>
                  <a:txBody>
                    <a:bodyPr/>
                    <a:lstStyle/>
                    <a:p>
                      <a:r>
                        <a:rPr sz="1950" b="0">
                          <a:solidFill>
                            <a:srgbClr val="24323E"/>
                          </a:solidFill>
                          <a:latin typeface="Calibri"/>
                          <a:ea typeface="Calibri"/>
                          <a:cs typeface="Calibri"/>
                        </a:rPr>
                        <a:t>12</a:t>
                      </a:r>
                    </a:p>
                  </a:txBody>
                  <a:tcPr>
                    <a:solidFill>
                      <a:srgbClr val="FFFFFF"/>
                    </a:solidFill>
                  </a:tcPr>
                </a:tc>
                <a:extLst>
                  <a:ext uri="{0D108BD9-81ED-4DB2-BD59-A6C34878D82A}">
                    <a16:rowId xmlns:a16="http://schemas.microsoft.com/office/drawing/2014/main" val="10008"/>
                  </a:ext>
                </a:extLst>
              </a:tr>
            </a:tbl>
          </a:graphicData>
        </a:graphic>
      </p:graphicFrame>
      <p:sp>
        <p:nvSpPr>
          <p:cNvPr id="1002" name="What would you fix first? The notebook also includes mi">
            <a:extLst>
              <a:ext uri="{FF2B5EF4-FFF2-40B4-BE49-F238E27FC236}">
                <a16:creationId xmlns:a16="http://schemas.microsoft.com/office/drawing/2014/main" id="{921A10B1-82A0-4F54-97F3-C3680F4DF35C}"/>
              </a:ext>
            </a:extLst>
          </p:cNvPr>
          <p:cNvSpPr>
            <a:spLocks noGrp="1"/>
          </p:cNvSpPr>
          <p:nvPr/>
        </p:nvSpPr>
        <p:spPr>
          <a:xfrm>
            <a:off x="533400" y="5657850"/>
            <a:ext cx="10763250" cy="381000"/>
          </a:xfrm>
          <a:prstGeom prst="rect">
            <a:avLst/>
          </a:prstGeom>
          <a:noFill/>
          <a:ln w="0">
            <a:noFill/>
          </a:ln>
        </p:spPr>
        <p:txBody>
          <a:bodyPr lIns="0" tIns="0" rIns="0" bIns="0" anchor="t">
            <a:noAutofit/>
          </a:bodyPr>
          <a:lstStyle/>
          <a:p>
            <a:pPr algn="l">
              <a:buNone/>
              <a:defRPr sz="2100" b="1">
                <a:solidFill>
                  <a:srgbClr val="24323E"/>
                </a:solidFill>
                <a:latin typeface="Calibri"/>
                <a:ea typeface="Calibri"/>
                <a:cs typeface="Calibri"/>
              </a:defRPr>
            </a:pPr>
            <a:r>
              <a:rPr sz="2100" b="1">
                <a:solidFill>
                  <a:srgbClr val="24323E"/>
                </a:solidFill>
                <a:latin typeface="Calibri"/>
                <a:ea typeface="Calibri"/>
                <a:cs typeface="Calibri"/>
              </a:rPr>
              <a:t>What would you fix first? The notebook also includes mixed date formats.</a:t>
            </a:r>
          </a:p>
        </p:txBody>
      </p:sp>
    </p:spTree>
    <p:extLst>
      <p:ext uri="{BB962C8B-B14F-4D97-AF65-F5344CB8AC3E}">
        <p14:creationId xmlns:p14="http://schemas.microsoft.com/office/powerpoint/2010/main" val="1587405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Type conversion and coercion</a:t>
            </a:r>
          </a:p>
        </p:txBody>
      </p:sp>
      <p:sp>
        <p:nvSpPr>
          <p:cNvPr id="1001" name="Known formatting">
            <a:extLst>
              <a:ext uri="{FF2B5EF4-FFF2-40B4-BE49-F238E27FC236}">
                <a16:creationId xmlns:a16="http://schemas.microsoft.com/office/drawing/2014/main" id="{21A2EEC1-CECB-40F0-BBE3-1A6BF2107D26}"/>
              </a:ext>
            </a:extLst>
          </p:cNvPr>
          <p:cNvSpPr>
            <a:spLocks noGrp="1"/>
          </p:cNvSpPr>
          <p:nvPr/>
        </p:nvSpPr>
        <p:spPr>
          <a:xfrm>
            <a:off x="533400" y="1304925"/>
            <a:ext cx="5143500" cy="40005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Known formatting</a:t>
            </a:r>
          </a:p>
        </p:txBody>
      </p:sp>
      <p:sp>
        <p:nvSpPr>
          <p:cNvPr id="1002" name="Remove currency symbols and commas, trim spaces, then c">
            <a:extLst>
              <a:ext uri="{FF2B5EF4-FFF2-40B4-BE49-F238E27FC236}">
                <a16:creationId xmlns:a16="http://schemas.microsoft.com/office/drawing/2014/main" id="{8F0AA9FA-AC08-4B14-A497-C69F37538AD5}"/>
              </a:ext>
            </a:extLst>
          </p:cNvPr>
          <p:cNvSpPr>
            <a:spLocks noGrp="1"/>
          </p:cNvSpPr>
          <p:nvPr/>
        </p:nvSpPr>
        <p:spPr>
          <a:xfrm>
            <a:off x="533400" y="1809750"/>
            <a:ext cx="5143500" cy="1381125"/>
          </a:xfrm>
          <a:prstGeom prst="rect">
            <a:avLst/>
          </a:prstGeom>
          <a:noFill/>
          <a:ln w="0">
            <a:noFill/>
          </a:ln>
        </p:spPr>
        <p:txBody>
          <a:bodyPr lIns="0" tIns="0" rIns="0" bIns="0" anchor="t">
            <a:noAutofit/>
          </a:bodyPr>
          <a:lstStyle/>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Remove currency symbols and commas, trim spaces, then convert the cleaned text to a number.</a:t>
            </a:r>
          </a:p>
        </p:txBody>
      </p:sp>
      <p:sp>
        <p:nvSpPr>
          <p:cNvPr id="1003" name="'$7.50'&#10;&#10;7.50">
            <a:extLst>
              <a:ext uri="{FF2B5EF4-FFF2-40B4-BE49-F238E27FC236}">
                <a16:creationId xmlns:a16="http://schemas.microsoft.com/office/drawing/2014/main" id="{24B3C0AC-4E79-4912-8331-BF50ABD890B9}"/>
              </a:ext>
            </a:extLst>
          </p:cNvPr>
          <p:cNvSpPr>
            <a:spLocks noGrp="1"/>
          </p:cNvSpPr>
          <p:nvPr/>
        </p:nvSpPr>
        <p:spPr>
          <a:xfrm>
            <a:off x="533400" y="3276600"/>
            <a:ext cx="4762500" cy="2000250"/>
          </a:xfrm>
          <a:prstGeom prst="rect">
            <a:avLst/>
          </a:prstGeom>
          <a:noFill/>
          <a:ln w="0">
            <a:noFill/>
          </a:ln>
        </p:spPr>
        <p:txBody>
          <a:bodyPr lIns="0" tIns="0" rIns="0" bIns="0" anchor="t">
            <a:noAutofit/>
          </a:bodyPr>
          <a:lstStyle/>
          <a:p>
            <a:pPr algn="l">
              <a:buNone/>
              <a:defRPr sz="3000" b="0">
                <a:solidFill>
                  <a:srgbClr val="24323E"/>
                </a:solidFill>
                <a:latin typeface="Calibri"/>
                <a:ea typeface="Calibri"/>
                <a:cs typeface="Calibri"/>
              </a:defRPr>
            </a:pPr>
            <a:r>
              <a:rPr sz="3000" b="0">
                <a:solidFill>
                  <a:srgbClr val="24323E"/>
                </a:solidFill>
                <a:latin typeface="Calibri"/>
                <a:ea typeface="Calibri"/>
                <a:cs typeface="Calibri"/>
              </a:rPr>
              <a:t>'$7.50'</a:t>
            </a:r>
          </a:p>
          <a:p>
            <a:endParaRPr sz="3000" b="0">
              <a:solidFill>
                <a:srgbClr val="24323E"/>
              </a:solidFill>
              <a:latin typeface="Calibri"/>
              <a:ea typeface="Calibri"/>
              <a:cs typeface="Calibri"/>
            </a:endParaRPr>
          </a:p>
          <a:p>
            <a:pPr algn="l">
              <a:buNone/>
              <a:defRPr sz="3000" b="0">
                <a:solidFill>
                  <a:srgbClr val="24323E"/>
                </a:solidFill>
                <a:latin typeface="Calibri"/>
                <a:ea typeface="Calibri"/>
                <a:cs typeface="Calibri"/>
              </a:defRPr>
            </a:pPr>
            <a:r>
              <a:rPr sz="3000" b="0">
                <a:solidFill>
                  <a:srgbClr val="24323E"/>
                </a:solidFill>
                <a:latin typeface="Calibri"/>
                <a:ea typeface="Calibri"/>
                <a:cs typeface="Calibri"/>
              </a:rPr>
              <a:t>7.50</a:t>
            </a:r>
          </a:p>
        </p:txBody>
      </p:sp>
      <p:sp>
        <p:nvSpPr>
          <p:cNvPr id="1004" name="Values that do not parse">
            <a:extLst>
              <a:ext uri="{FF2B5EF4-FFF2-40B4-BE49-F238E27FC236}">
                <a16:creationId xmlns:a16="http://schemas.microsoft.com/office/drawing/2014/main" id="{E755D683-63F8-4DA6-ADC7-3BA82856ACAA}"/>
              </a:ext>
            </a:extLst>
          </p:cNvPr>
          <p:cNvSpPr>
            <a:spLocks noGrp="1"/>
          </p:cNvSpPr>
          <p:nvPr/>
        </p:nvSpPr>
        <p:spPr>
          <a:xfrm>
            <a:off x="6486525" y="1304925"/>
            <a:ext cx="4953000" cy="40005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Values that do not parse</a:t>
            </a:r>
          </a:p>
        </p:txBody>
      </p:sp>
      <p:sp>
        <p:nvSpPr>
          <p:cNvPr id="1005" name="errors=&quot;coerce&quot; turns unparseable input into a missing ">
            <a:extLst>
              <a:ext uri="{FF2B5EF4-FFF2-40B4-BE49-F238E27FC236}">
                <a16:creationId xmlns:a16="http://schemas.microsoft.com/office/drawing/2014/main" id="{9348FFC5-2B3F-41FB-8870-B9F079B5E1DA}"/>
              </a:ext>
            </a:extLst>
          </p:cNvPr>
          <p:cNvSpPr>
            <a:spLocks noGrp="1"/>
          </p:cNvSpPr>
          <p:nvPr/>
        </p:nvSpPr>
        <p:spPr>
          <a:xfrm>
            <a:off x="6486525" y="1809750"/>
            <a:ext cx="4953000" cy="1381125"/>
          </a:xfrm>
          <a:prstGeom prst="rect">
            <a:avLst/>
          </a:prstGeom>
          <a:noFill/>
          <a:ln w="0">
            <a:noFill/>
          </a:ln>
        </p:spPr>
        <p:txBody>
          <a:bodyPr lIns="0" tIns="0" rIns="0" bIns="0" anchor="t">
            <a:noAutofit/>
          </a:bodyPr>
          <a:lstStyle/>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errors="coerce" turns unparseable input into a missing value. You still have to decide what happens to that row.</a:t>
            </a:r>
          </a:p>
        </p:txBody>
      </p:sp>
      <p:sp>
        <p:nvSpPr>
          <p:cNvPr id="1006" name="pd.to_numeric(&#10;    clean['qty'],&#10;    errors='coerce'&#10;)">
            <a:extLst>
              <a:ext uri="{FF2B5EF4-FFF2-40B4-BE49-F238E27FC236}">
                <a16:creationId xmlns:a16="http://schemas.microsoft.com/office/drawing/2014/main" id="{6A75DB42-1012-4A86-96BA-F5383D1E0278}"/>
              </a:ext>
            </a:extLst>
          </p:cNvPr>
          <p:cNvSpPr>
            <a:spLocks noGrp="1"/>
          </p:cNvSpPr>
          <p:nvPr/>
        </p:nvSpPr>
        <p:spPr>
          <a:xfrm>
            <a:off x="6486525" y="3400425"/>
            <a:ext cx="5048250" cy="2000250"/>
          </a:xfrm>
          <a:prstGeom prst="rect">
            <a:avLst/>
          </a:prstGeom>
          <a:noFill/>
          <a:ln w="0">
            <a:noFill/>
          </a:ln>
        </p:spPr>
        <p:txBody>
          <a:bodyPr lIns="0" tIns="0" rIns="0" bIns="0" anchor="t">
            <a:noAutofit/>
          </a:bodyPr>
          <a:lstStyle/>
          <a:p>
            <a:pPr algn="l">
              <a:buNone/>
              <a:defRPr sz="2100" b="0">
                <a:solidFill>
                  <a:srgbClr val="24323E"/>
                </a:solidFill>
                <a:latin typeface="Calibri"/>
                <a:ea typeface="Calibri"/>
                <a:cs typeface="Calibri"/>
              </a:defRPr>
            </a:pPr>
            <a:r>
              <a:rPr sz="2100" b="0">
                <a:solidFill>
                  <a:srgbClr val="24323E"/>
                </a:solidFill>
                <a:latin typeface="Calibri"/>
                <a:ea typeface="Calibri"/>
                <a:cs typeface="Calibri"/>
              </a:rPr>
              <a:t>pd.to_numeric(</a:t>
            </a:r>
          </a:p>
          <a:p>
            <a:pPr algn="l">
              <a:buNone/>
              <a:defRPr sz="2100" b="0">
                <a:solidFill>
                  <a:srgbClr val="24323E"/>
                </a:solidFill>
                <a:latin typeface="Calibri"/>
                <a:ea typeface="Calibri"/>
                <a:cs typeface="Calibri"/>
              </a:defRPr>
            </a:pPr>
            <a:r>
              <a:rPr sz="2100" b="0">
                <a:solidFill>
                  <a:srgbClr val="24323E"/>
                </a:solidFill>
                <a:latin typeface="Calibri"/>
                <a:ea typeface="Calibri"/>
                <a:cs typeface="Calibri"/>
              </a:rPr>
              <a:t>    clean['qty'],</a:t>
            </a:r>
          </a:p>
          <a:p>
            <a:pPr algn="l">
              <a:buNone/>
              <a:defRPr sz="2100" b="0">
                <a:solidFill>
                  <a:srgbClr val="24323E"/>
                </a:solidFill>
                <a:latin typeface="Calibri"/>
                <a:ea typeface="Calibri"/>
                <a:cs typeface="Calibri"/>
              </a:defRPr>
            </a:pPr>
            <a:r>
              <a:rPr sz="2100" b="0">
                <a:solidFill>
                  <a:srgbClr val="24323E"/>
                </a:solidFill>
                <a:latin typeface="Calibri"/>
                <a:ea typeface="Calibri"/>
                <a:cs typeface="Calibri"/>
              </a:rPr>
              <a:t>    errors='coerce'</a:t>
            </a:r>
          </a:p>
          <a:p>
            <a:pPr algn="l">
              <a:buNone/>
              <a:defRPr sz="2100" b="0">
                <a:solidFill>
                  <a:srgbClr val="24323E"/>
                </a:solidFill>
                <a:latin typeface="Calibri"/>
                <a:ea typeface="Calibri"/>
                <a:cs typeface="Calibri"/>
              </a:defRPr>
            </a:pPr>
            <a:r>
              <a:rPr sz="2100" b="0">
                <a:solidFill>
                  <a:srgbClr val="24323E"/>
                </a:solidFill>
                <a:latin typeface="Calibri"/>
                <a:ea typeface="Calibri"/>
                <a:cs typeface="Calibri"/>
              </a:rPr>
              <a:t>)</a:t>
            </a:r>
          </a:p>
        </p:txBody>
      </p:sp>
      <p:sp>
        <p:nvSpPr>
          <p:cNvPr id="1007" name="Coercion makes failures visible. It does not repair the">
            <a:extLst>
              <a:ext uri="{FF2B5EF4-FFF2-40B4-BE49-F238E27FC236}">
                <a16:creationId xmlns:a16="http://schemas.microsoft.com/office/drawing/2014/main" id="{3C7FFE68-0369-4329-8001-4ADD10672D98}"/>
              </a:ext>
            </a:extLst>
          </p:cNvPr>
          <p:cNvSpPr>
            <a:spLocks noGrp="1"/>
          </p:cNvSpPr>
          <p:nvPr/>
        </p:nvSpPr>
        <p:spPr>
          <a:xfrm>
            <a:off x="533400" y="5457825"/>
            <a:ext cx="11087100" cy="590550"/>
          </a:xfrm>
          <a:prstGeom prst="rect">
            <a:avLst/>
          </a:prstGeom>
          <a:noFill/>
          <a:ln w="0">
            <a:noFill/>
          </a:ln>
        </p:spPr>
        <p:txBody>
          <a:bodyPr lIns="0" tIns="0" rIns="0" bIns="0" anchor="t">
            <a:noAutofit/>
          </a:bodyPr>
          <a:lstStyle/>
          <a:p>
            <a:pPr algn="l">
              <a:buNone/>
              <a:defRPr sz="2175" b="1">
                <a:solidFill>
                  <a:srgbClr val="24323E"/>
                </a:solidFill>
                <a:latin typeface="Calibri"/>
                <a:ea typeface="Calibri"/>
                <a:cs typeface="Calibri"/>
              </a:defRPr>
            </a:pPr>
            <a:r>
              <a:rPr sz="2175" b="1">
                <a:solidFill>
                  <a:srgbClr val="24323E"/>
                </a:solidFill>
                <a:latin typeface="Calibri"/>
                <a:ea typeface="Calibri"/>
                <a:cs typeface="Calibri"/>
              </a:rPr>
              <a:t>Coercion makes failures visible. It does not repair the missing information.</a:t>
            </a:r>
          </a:p>
        </p:txBody>
      </p:sp>
    </p:spTree>
    <p:extLst>
      <p:ext uri="{BB962C8B-B14F-4D97-AF65-F5344CB8AC3E}">
        <p14:creationId xmlns:p14="http://schemas.microsoft.com/office/powerpoint/2010/main" val="96652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Gross sales and net sales</a:t>
            </a:r>
          </a:p>
        </p:txBody>
      </p:sp>
      <p:sp>
        <p:nvSpPr>
          <p:cNvPr id="1001" name="The exercise contains a quantity of −3 at $6 per unit.">
            <a:extLst>
              <a:ext uri="{FF2B5EF4-FFF2-40B4-BE49-F238E27FC236}">
                <a16:creationId xmlns:a16="http://schemas.microsoft.com/office/drawing/2014/main" id="{7A8DB69D-DB63-43C1-92F9-7EDE148D8758}"/>
              </a:ext>
            </a:extLst>
          </p:cNvPr>
          <p:cNvSpPr>
            <a:spLocks noGrp="1"/>
          </p:cNvSpPr>
          <p:nvPr/>
        </p:nvSpPr>
        <p:spPr>
          <a:xfrm>
            <a:off x="533400" y="1266825"/>
            <a:ext cx="10858500" cy="476250"/>
          </a:xfrm>
          <a:prstGeom prst="rect">
            <a:avLst/>
          </a:prstGeom>
          <a:noFill/>
          <a:ln w="0">
            <a:noFill/>
          </a:ln>
        </p:spPr>
        <p:txBody>
          <a:bodyPr lIns="0" tIns="0" rIns="0" bIns="0" anchor="t">
            <a:noAutofit/>
          </a:bodyPr>
          <a:lstStyle/>
          <a:p>
            <a:pPr algn="l">
              <a:buNone/>
              <a:defRPr sz="2550" b="0">
                <a:solidFill>
                  <a:srgbClr val="24323E"/>
                </a:solidFill>
                <a:latin typeface="Calibri"/>
                <a:ea typeface="Calibri"/>
                <a:cs typeface="Calibri"/>
              </a:defRPr>
            </a:pPr>
            <a:r>
              <a:rPr sz="2550" b="0">
                <a:solidFill>
                  <a:srgbClr val="24323E"/>
                </a:solidFill>
                <a:latin typeface="Calibri"/>
                <a:ea typeface="Calibri"/>
                <a:cs typeface="Calibri"/>
              </a:rPr>
              <a:t>The exercise contains a quantity of −3 at $6 per unit.</a:t>
            </a:r>
          </a:p>
        </p:txBody>
      </p:sp>
      <p:graphicFrame>
        <p:nvGraphicFramePr>
          <p:cNvPr id="1007" name="Table 1006"/>
          <p:cNvGraphicFramePr/>
          <p:nvPr/>
        </p:nvGraphicFramePr>
        <p:xfrm>
          <a:off x="533400" y="2133600"/>
          <a:ext cx="10763250" cy="2971800"/>
        </p:xfrm>
        <a:graphic>
          <a:graphicData uri="http://schemas.openxmlformats.org/drawingml/2006/table">
            <a:tbl>
              <a:tblPr/>
              <a:tblGrid>
                <a:gridCol w="309562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990600">
                <a:tc>
                  <a:txBody>
                    <a:bodyPr/>
                    <a:lstStyle/>
                    <a:p>
                      <a:r>
                        <a:rPr sz="2175" b="1">
                          <a:solidFill>
                            <a:srgbClr val="FFFFFF"/>
                          </a:solidFill>
                          <a:latin typeface="Calibri"/>
                          <a:ea typeface="Calibri"/>
                          <a:cs typeface="Calibri"/>
                        </a:rPr>
                        <a:t>Question</a:t>
                      </a:r>
                    </a:p>
                  </a:txBody>
                  <a:tcPr>
                    <a:solidFill>
                      <a:srgbClr val="24323E"/>
                    </a:solidFill>
                  </a:tcPr>
                </a:tc>
                <a:tc>
                  <a:txBody>
                    <a:bodyPr/>
                    <a:lstStyle/>
                    <a:p>
                      <a:r>
                        <a:rPr sz="2175" b="1">
                          <a:solidFill>
                            <a:srgbClr val="FFFFFF"/>
                          </a:solidFill>
                          <a:latin typeface="Calibri"/>
                          <a:ea typeface="Calibri"/>
                          <a:cs typeface="Calibri"/>
                        </a:rPr>
                        <a:t>Treatment of −3</a:t>
                      </a:r>
                    </a:p>
                  </a:txBody>
                  <a:tcPr>
                    <a:solidFill>
                      <a:srgbClr val="24323E"/>
                    </a:solidFill>
                  </a:tcPr>
                </a:tc>
                <a:tc>
                  <a:txBody>
                    <a:bodyPr/>
                    <a:lstStyle/>
                    <a:p>
                      <a:r>
                        <a:rPr sz="2175" b="1">
                          <a:solidFill>
                            <a:srgbClr val="FFFFFF"/>
                          </a:solidFill>
                          <a:latin typeface="Calibri"/>
                          <a:ea typeface="Calibri"/>
                          <a:cs typeface="Calibri"/>
                        </a:rPr>
                        <a:t>Meaning</a:t>
                      </a:r>
                    </a:p>
                  </a:txBody>
                  <a:tcPr>
                    <a:solidFill>
                      <a:srgbClr val="24323E"/>
                    </a:solidFill>
                  </a:tcPr>
                </a:tc>
                <a:extLst>
                  <a:ext uri="{0D108BD9-81ED-4DB2-BD59-A6C34878D82A}">
                    <a16:rowId xmlns:a16="http://schemas.microsoft.com/office/drawing/2014/main" val="10000"/>
                  </a:ext>
                </a:extLst>
              </a:tr>
              <a:tr h="990600">
                <a:tc>
                  <a:txBody>
                    <a:bodyPr/>
                    <a:lstStyle/>
                    <a:p>
                      <a:r>
                        <a:rPr sz="2175" b="0">
                          <a:solidFill>
                            <a:srgbClr val="24323E"/>
                          </a:solidFill>
                          <a:latin typeface="Calibri"/>
                          <a:ea typeface="Calibri"/>
                          <a:cs typeface="Calibri"/>
                        </a:rPr>
                        <a:t>Gross units sold</a:t>
                      </a:r>
                    </a:p>
                  </a:txBody>
                  <a:tcPr>
                    <a:solidFill>
                      <a:srgbClr val="FBE5D6"/>
                    </a:solidFill>
                  </a:tcPr>
                </a:tc>
                <a:tc>
                  <a:txBody>
                    <a:bodyPr/>
                    <a:lstStyle/>
                    <a:p>
                      <a:r>
                        <a:rPr sz="2175" b="0">
                          <a:solidFill>
                            <a:srgbClr val="24323E"/>
                          </a:solidFill>
                          <a:latin typeface="Calibri"/>
                          <a:ea typeface="Calibri"/>
                          <a:cs typeface="Calibri"/>
                        </a:rPr>
                        <a:t>Exclude the refund row</a:t>
                      </a:r>
                    </a:p>
                  </a:txBody>
                  <a:tcPr>
                    <a:solidFill>
                      <a:srgbClr val="FBE5D6"/>
                    </a:solidFill>
                  </a:tcPr>
                </a:tc>
                <a:tc>
                  <a:txBody>
                    <a:bodyPr/>
                    <a:lstStyle/>
                    <a:p>
                      <a:r>
                        <a:rPr sz="2175" b="0">
                          <a:solidFill>
                            <a:srgbClr val="24323E"/>
                          </a:solidFill>
                          <a:latin typeface="Calibri"/>
                          <a:ea typeface="Calibri"/>
                          <a:cs typeface="Calibri"/>
                        </a:rPr>
                        <a:t>Positive sales only</a:t>
                      </a:r>
                    </a:p>
                  </a:txBody>
                  <a:tcPr>
                    <a:solidFill>
                      <a:srgbClr val="FBE5D6"/>
                    </a:solidFill>
                  </a:tcPr>
                </a:tc>
                <a:extLst>
                  <a:ext uri="{0D108BD9-81ED-4DB2-BD59-A6C34878D82A}">
                    <a16:rowId xmlns:a16="http://schemas.microsoft.com/office/drawing/2014/main" val="10001"/>
                  </a:ext>
                </a:extLst>
              </a:tr>
              <a:tr h="990600">
                <a:tc>
                  <a:txBody>
                    <a:bodyPr/>
                    <a:lstStyle/>
                    <a:p>
                      <a:r>
                        <a:rPr sz="2175" b="0">
                          <a:solidFill>
                            <a:srgbClr val="24323E"/>
                          </a:solidFill>
                          <a:latin typeface="Calibri"/>
                          <a:ea typeface="Calibri"/>
                          <a:cs typeface="Calibri"/>
                        </a:rPr>
                        <a:t>Net units / revenue</a:t>
                      </a:r>
                    </a:p>
                  </a:txBody>
                  <a:tcPr>
                    <a:solidFill>
                      <a:srgbClr val="FFFFFF"/>
                    </a:solidFill>
                  </a:tcPr>
                </a:tc>
                <a:tc>
                  <a:txBody>
                    <a:bodyPr/>
                    <a:lstStyle/>
                    <a:p>
                      <a:r>
                        <a:rPr sz="2175" b="0">
                          <a:solidFill>
                            <a:srgbClr val="24323E"/>
                          </a:solidFill>
                          <a:latin typeface="Calibri"/>
                          <a:ea typeface="Calibri"/>
                          <a:cs typeface="Calibri"/>
                        </a:rPr>
                        <a:t>Keep it, if it is a refund</a:t>
                      </a:r>
                    </a:p>
                  </a:txBody>
                  <a:tcPr>
                    <a:solidFill>
                      <a:srgbClr val="FFFFFF"/>
                    </a:solidFill>
                  </a:tcPr>
                </a:tc>
                <a:tc>
                  <a:txBody>
                    <a:bodyPr/>
                    <a:lstStyle/>
                    <a:p>
                      <a:r>
                        <a:rPr sz="2175" b="0">
                          <a:solidFill>
                            <a:srgbClr val="24323E"/>
                          </a:solidFill>
                          <a:latin typeface="Calibri"/>
                          <a:ea typeface="Calibri"/>
                          <a:cs typeface="Calibri"/>
                        </a:rPr>
                        <a:t>Sales less returns</a:t>
                      </a:r>
                    </a:p>
                  </a:txBody>
                  <a:tcPr>
                    <a:solidFill>
                      <a:srgbClr val="FFFFFF"/>
                    </a:solidFill>
                  </a:tcPr>
                </a:tc>
                <a:extLst>
                  <a:ext uri="{0D108BD9-81ED-4DB2-BD59-A6C34878D82A}">
                    <a16:rowId xmlns:a16="http://schemas.microsoft.com/office/drawing/2014/main" val="10002"/>
                  </a:ext>
                </a:extLst>
              </a:tr>
            </a:tbl>
          </a:graphicData>
        </a:graphic>
      </p:graphicFrame>
      <p:sp>
        <p:nvSpPr>
          <p:cNvPr id="1003" name="The missing quantity is a separate decision.">
            <a:extLst>
              <a:ext uri="{FF2B5EF4-FFF2-40B4-BE49-F238E27FC236}">
                <a16:creationId xmlns:a16="http://schemas.microsoft.com/office/drawing/2014/main" id="{AA23F650-2C77-4244-8C50-425320959229}"/>
              </a:ext>
            </a:extLst>
          </p:cNvPr>
          <p:cNvSpPr>
            <a:spLocks noGrp="1"/>
          </p:cNvSpPr>
          <p:nvPr/>
        </p:nvSpPr>
        <p:spPr>
          <a:xfrm>
            <a:off x="533400" y="5391150"/>
            <a:ext cx="10858500" cy="495300"/>
          </a:xfrm>
          <a:prstGeom prst="rect">
            <a:avLst/>
          </a:prstGeom>
          <a:noFill/>
          <a:ln w="0">
            <a:noFill/>
          </a:ln>
        </p:spPr>
        <p:txBody>
          <a:bodyPr lIns="0" tIns="0" rIns="0" bIns="0" anchor="t">
            <a:noAutofit/>
          </a:bodyPr>
          <a:lstStyle/>
          <a:p>
            <a:pPr algn="l">
              <a:buNone/>
              <a:defRPr sz="2400" b="1">
                <a:solidFill>
                  <a:srgbClr val="F67132"/>
                </a:solidFill>
                <a:latin typeface="Calibri"/>
                <a:ea typeface="Calibri"/>
                <a:cs typeface="Calibri"/>
              </a:defRPr>
            </a:pPr>
            <a:r>
              <a:rPr sz="2400" b="1">
                <a:solidFill>
                  <a:srgbClr val="F67132"/>
                </a:solidFill>
                <a:latin typeface="Calibri"/>
                <a:ea typeface="Calibri"/>
                <a:cs typeface="Calibri"/>
              </a:rPr>
              <a:t>The missing quantity is a separate decision.</a:t>
            </a:r>
          </a:p>
        </p:txBody>
      </p:sp>
    </p:spTree>
    <p:extLst>
      <p:ext uri="{BB962C8B-B14F-4D97-AF65-F5344CB8AC3E}">
        <p14:creationId xmlns:p14="http://schemas.microsoft.com/office/powerpoint/2010/main" val="1338430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Text cleanup has two kinds of rules</a:t>
            </a:r>
          </a:p>
        </p:txBody>
      </p:sp>
      <p:graphicFrame>
        <p:nvGraphicFramePr>
          <p:cNvPr id="1005" name="Table 1004"/>
          <p:cNvGraphicFramePr/>
          <p:nvPr/>
        </p:nvGraphicFramePr>
        <p:xfrm>
          <a:off x="533400" y="1371600"/>
          <a:ext cx="10763250" cy="3810000"/>
        </p:xfrm>
        <a:graphic>
          <a:graphicData uri="http://schemas.openxmlformats.org/drawingml/2006/table">
            <a:tbl>
              <a:tblPr/>
              <a:tblGrid>
                <a:gridCol w="4524375">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762000">
                <a:tc>
                  <a:txBody>
                    <a:bodyPr/>
                    <a:lstStyle/>
                    <a:p>
                      <a:r>
                        <a:rPr sz="2100" b="1">
                          <a:solidFill>
                            <a:srgbClr val="FFFFFF"/>
                          </a:solidFill>
                          <a:latin typeface="Calibri"/>
                          <a:ea typeface="Calibri"/>
                          <a:cs typeface="Calibri"/>
                        </a:rPr>
                        <a:t>Original values</a:t>
                      </a:r>
                    </a:p>
                  </a:txBody>
                  <a:tcPr>
                    <a:solidFill>
                      <a:srgbClr val="24323E"/>
                    </a:solidFill>
                  </a:tcPr>
                </a:tc>
                <a:tc>
                  <a:txBody>
                    <a:bodyPr/>
                    <a:lstStyle/>
                    <a:p>
                      <a:r>
                        <a:rPr sz="2100" b="1">
                          <a:solidFill>
                            <a:srgbClr val="FFFFFF"/>
                          </a:solidFill>
                          <a:latin typeface="Calibri"/>
                          <a:ea typeface="Calibri"/>
                          <a:cs typeface="Calibri"/>
                        </a:rPr>
                        <a:t>Clean value</a:t>
                      </a:r>
                    </a:p>
                  </a:txBody>
                  <a:tcPr>
                    <a:solidFill>
                      <a:srgbClr val="24323E"/>
                    </a:solidFill>
                  </a:tcPr>
                </a:tc>
                <a:tc>
                  <a:txBody>
                    <a:bodyPr/>
                    <a:lstStyle/>
                    <a:p>
                      <a:r>
                        <a:rPr sz="2100" b="1">
                          <a:solidFill>
                            <a:srgbClr val="FFFFFF"/>
                          </a:solidFill>
                          <a:latin typeface="Calibri"/>
                          <a:ea typeface="Calibri"/>
                          <a:cs typeface="Calibri"/>
                        </a:rPr>
                        <a:t>Why</a:t>
                      </a:r>
                    </a:p>
                  </a:txBody>
                  <a:tcPr>
                    <a:solidFill>
                      <a:srgbClr val="24323E"/>
                    </a:solidFill>
                  </a:tcPr>
                </a:tc>
                <a:extLst>
                  <a:ext uri="{0D108BD9-81ED-4DB2-BD59-A6C34878D82A}">
                    <a16:rowId xmlns:a16="http://schemas.microsoft.com/office/drawing/2014/main" val="10000"/>
                  </a:ext>
                </a:extLst>
              </a:tr>
              <a:tr h="762000">
                <a:tc>
                  <a:txBody>
                    <a:bodyPr/>
                    <a:lstStyle/>
                    <a:p>
                      <a:r>
                        <a:rPr sz="2100" b="0">
                          <a:solidFill>
                            <a:srgbClr val="24323E"/>
                          </a:solidFill>
                          <a:latin typeface="Calibri"/>
                          <a:ea typeface="Calibri"/>
                          <a:cs typeface="Calibri"/>
                        </a:rPr>
                        <a:t>Food / food</a:t>
                      </a:r>
                    </a:p>
                  </a:txBody>
                  <a:tcPr>
                    <a:solidFill>
                      <a:srgbClr val="FBE5D6"/>
                    </a:solidFill>
                  </a:tcPr>
                </a:tc>
                <a:tc>
                  <a:txBody>
                    <a:bodyPr/>
                    <a:lstStyle/>
                    <a:p>
                      <a:r>
                        <a:rPr sz="2100" b="0">
                          <a:solidFill>
                            <a:srgbClr val="24323E"/>
                          </a:solidFill>
                          <a:latin typeface="Calibri"/>
                          <a:ea typeface="Calibri"/>
                          <a:cs typeface="Calibri"/>
                        </a:rPr>
                        <a:t>food</a:t>
                      </a:r>
                    </a:p>
                  </a:txBody>
                  <a:tcPr>
                    <a:solidFill>
                      <a:srgbClr val="FBE5D6"/>
                    </a:solidFill>
                  </a:tcPr>
                </a:tc>
                <a:tc>
                  <a:txBody>
                    <a:bodyPr/>
                    <a:lstStyle/>
                    <a:p>
                      <a:r>
                        <a:rPr sz="2100" b="0">
                          <a:solidFill>
                            <a:srgbClr val="24323E"/>
                          </a:solidFill>
                          <a:latin typeface="Calibri"/>
                          <a:ea typeface="Calibri"/>
                          <a:cs typeface="Calibri"/>
                        </a:rPr>
                        <a:t>Same letters, different case</a:t>
                      </a:r>
                    </a:p>
                  </a:txBody>
                  <a:tcPr>
                    <a:solidFill>
                      <a:srgbClr val="FBE5D6"/>
                    </a:solidFill>
                  </a:tcPr>
                </a:tc>
                <a:extLst>
                  <a:ext uri="{0D108BD9-81ED-4DB2-BD59-A6C34878D82A}">
                    <a16:rowId xmlns:a16="http://schemas.microsoft.com/office/drawing/2014/main" val="10001"/>
                  </a:ext>
                </a:extLst>
              </a:tr>
              <a:tr h="762000">
                <a:tc>
                  <a:txBody>
                    <a:bodyPr/>
                    <a:lstStyle/>
                    <a:p>
                      <a:r>
                        <a:rPr sz="2100" b="0">
                          <a:solidFill>
                            <a:srgbClr val="24323E"/>
                          </a:solidFill>
                          <a:latin typeface="Calibri"/>
                          <a:ea typeface="Calibri"/>
                          <a:cs typeface="Calibri"/>
                        </a:rPr>
                        <a:t>RainGear / rain-gear</a:t>
                      </a:r>
                    </a:p>
                  </a:txBody>
                  <a:tcPr>
                    <a:solidFill>
                      <a:srgbClr val="FFFFFF"/>
                    </a:solidFill>
                  </a:tcPr>
                </a:tc>
                <a:tc>
                  <a:txBody>
                    <a:bodyPr/>
                    <a:lstStyle/>
                    <a:p>
                      <a:r>
                        <a:rPr sz="2100" b="0">
                          <a:solidFill>
                            <a:srgbClr val="24323E"/>
                          </a:solidFill>
                          <a:latin typeface="Calibri"/>
                          <a:ea typeface="Calibri"/>
                          <a:cs typeface="Calibri"/>
                        </a:rPr>
                        <a:t>raingear</a:t>
                      </a:r>
                    </a:p>
                  </a:txBody>
                  <a:tcPr>
                    <a:solidFill>
                      <a:srgbClr val="FFFFFF"/>
                    </a:solidFill>
                  </a:tcPr>
                </a:tc>
                <a:tc>
                  <a:txBody>
                    <a:bodyPr/>
                    <a:lstStyle/>
                    <a:p>
                      <a:r>
                        <a:rPr sz="2100" b="0">
                          <a:solidFill>
                            <a:srgbClr val="24323E"/>
                          </a:solidFill>
                          <a:latin typeface="Calibri"/>
                          <a:ea typeface="Calibri"/>
                          <a:cs typeface="Calibri"/>
                        </a:rPr>
                        <a:t>Case and punctuation</a:t>
                      </a:r>
                    </a:p>
                  </a:txBody>
                  <a:tcPr>
                    <a:solidFill>
                      <a:srgbClr val="FFFFFF"/>
                    </a:solidFill>
                  </a:tcPr>
                </a:tc>
                <a:extLst>
                  <a:ext uri="{0D108BD9-81ED-4DB2-BD59-A6C34878D82A}">
                    <a16:rowId xmlns:a16="http://schemas.microsoft.com/office/drawing/2014/main" val="10002"/>
                  </a:ext>
                </a:extLst>
              </a:tr>
              <a:tr h="762000">
                <a:tc>
                  <a:txBody>
                    <a:bodyPr/>
                    <a:lstStyle/>
                    <a:p>
                      <a:r>
                        <a:rPr sz="2100" b="0">
                          <a:solidFill>
                            <a:srgbClr val="24323E"/>
                          </a:solidFill>
                          <a:latin typeface="Calibri"/>
                          <a:ea typeface="Calibri"/>
                          <a:cs typeface="Calibri"/>
                        </a:rPr>
                        <a:t>Apparel / Merch</a:t>
                      </a:r>
                    </a:p>
                  </a:txBody>
                  <a:tcPr>
                    <a:solidFill>
                      <a:srgbClr val="FBE5D6"/>
                    </a:solidFill>
                  </a:tcPr>
                </a:tc>
                <a:tc>
                  <a:txBody>
                    <a:bodyPr/>
                    <a:lstStyle/>
                    <a:p>
                      <a:r>
                        <a:rPr sz="2100" b="0">
                          <a:solidFill>
                            <a:srgbClr val="24323E"/>
                          </a:solidFill>
                          <a:latin typeface="Calibri"/>
                          <a:ea typeface="Calibri"/>
                          <a:cs typeface="Calibri"/>
                        </a:rPr>
                        <a:t>merch</a:t>
                      </a:r>
                    </a:p>
                  </a:txBody>
                  <a:tcPr>
                    <a:solidFill>
                      <a:srgbClr val="FBE5D6"/>
                    </a:solidFill>
                  </a:tcPr>
                </a:tc>
                <a:tc>
                  <a:txBody>
                    <a:bodyPr/>
                    <a:lstStyle/>
                    <a:p>
                      <a:r>
                        <a:rPr sz="2100" b="0">
                          <a:solidFill>
                            <a:srgbClr val="24323E"/>
                          </a:solidFill>
                          <a:latin typeface="Calibri"/>
                          <a:ea typeface="Calibri"/>
                          <a:cs typeface="Calibri"/>
                        </a:rPr>
                        <a:t>A business grouping decision</a:t>
                      </a:r>
                    </a:p>
                  </a:txBody>
                  <a:tcPr>
                    <a:solidFill>
                      <a:srgbClr val="FBE5D6"/>
                    </a:solidFill>
                  </a:tcPr>
                </a:tc>
                <a:extLst>
                  <a:ext uri="{0D108BD9-81ED-4DB2-BD59-A6C34878D82A}">
                    <a16:rowId xmlns:a16="http://schemas.microsoft.com/office/drawing/2014/main" val="10003"/>
                  </a:ext>
                </a:extLst>
              </a:tr>
              <a:tr h="762000">
                <a:tc>
                  <a:txBody>
                    <a:bodyPr/>
                    <a:lstStyle/>
                    <a:p>
                      <a:r>
                        <a:rPr sz="2100" b="0">
                          <a:solidFill>
                            <a:srgbClr val="24323E"/>
                          </a:solidFill>
                          <a:latin typeface="Calibri"/>
                          <a:ea typeface="Calibri"/>
                          <a:cs typeface="Calibri"/>
                        </a:rPr>
                        <a:t>cheese burger / Cheeseburger</a:t>
                      </a:r>
                    </a:p>
                  </a:txBody>
                  <a:tcPr>
                    <a:solidFill>
                      <a:srgbClr val="FFFFFF"/>
                    </a:solidFill>
                  </a:tcPr>
                </a:tc>
                <a:tc>
                  <a:txBody>
                    <a:bodyPr/>
                    <a:lstStyle/>
                    <a:p>
                      <a:r>
                        <a:rPr sz="2100" b="0">
                          <a:solidFill>
                            <a:srgbClr val="24323E"/>
                          </a:solidFill>
                          <a:latin typeface="Calibri"/>
                          <a:ea typeface="Calibri"/>
                          <a:cs typeface="Calibri"/>
                        </a:rPr>
                        <a:t>Cheeseburger</a:t>
                      </a:r>
                    </a:p>
                  </a:txBody>
                  <a:tcPr>
                    <a:solidFill>
                      <a:srgbClr val="FFFFFF"/>
                    </a:solidFill>
                  </a:tcPr>
                </a:tc>
                <a:tc>
                  <a:txBody>
                    <a:bodyPr/>
                    <a:lstStyle/>
                    <a:p>
                      <a:r>
                        <a:rPr sz="2100" b="0">
                          <a:solidFill>
                            <a:srgbClr val="24323E"/>
                          </a:solidFill>
                          <a:latin typeface="Calibri"/>
                          <a:ea typeface="Calibri"/>
                          <a:cs typeface="Calibri"/>
                        </a:rPr>
                        <a:t>An explicit item-name mapping</a:t>
                      </a:r>
                    </a:p>
                  </a:txBody>
                  <a:tcPr>
                    <a:solidFill>
                      <a:srgbClr val="FFFFFF"/>
                    </a:solidFill>
                  </a:tcPr>
                </a:tc>
                <a:extLst>
                  <a:ext uri="{0D108BD9-81ED-4DB2-BD59-A6C34878D82A}">
                    <a16:rowId xmlns:a16="http://schemas.microsoft.com/office/drawing/2014/main" val="10004"/>
                  </a:ext>
                </a:extLst>
              </a:tr>
            </a:tbl>
          </a:graphicData>
        </a:graphic>
      </p:graphicFrame>
      <p:sp>
        <p:nvSpPr>
          <p:cNvPr id="1002" name="Normalize spelling first. Put judgment calls in a named">
            <a:extLst>
              <a:ext uri="{FF2B5EF4-FFF2-40B4-BE49-F238E27FC236}">
                <a16:creationId xmlns:a16="http://schemas.microsoft.com/office/drawing/2014/main" id="{3FE25BE3-EE0D-47AD-A167-660A372465A7}"/>
              </a:ext>
            </a:extLst>
          </p:cNvPr>
          <p:cNvSpPr>
            <a:spLocks noGrp="1"/>
          </p:cNvSpPr>
          <p:nvPr/>
        </p:nvSpPr>
        <p:spPr>
          <a:xfrm>
            <a:off x="533400" y="5457825"/>
            <a:ext cx="11087100" cy="590550"/>
          </a:xfrm>
          <a:prstGeom prst="rect">
            <a:avLst/>
          </a:prstGeom>
          <a:noFill/>
          <a:ln w="0">
            <a:noFill/>
          </a:ln>
        </p:spPr>
        <p:txBody>
          <a:bodyPr lIns="0" tIns="0" rIns="0" bIns="0" anchor="t">
            <a:noAutofit/>
          </a:bodyPr>
          <a:lstStyle/>
          <a:p>
            <a:pPr algn="l">
              <a:buNone/>
              <a:defRPr sz="2175" b="1">
                <a:solidFill>
                  <a:srgbClr val="24323E"/>
                </a:solidFill>
                <a:latin typeface="Calibri"/>
                <a:ea typeface="Calibri"/>
                <a:cs typeface="Calibri"/>
              </a:defRPr>
            </a:pPr>
            <a:r>
              <a:rPr sz="2175" b="1">
                <a:solidFill>
                  <a:srgbClr val="24323E"/>
                </a:solidFill>
                <a:latin typeface="Calibri"/>
                <a:ea typeface="Calibri"/>
                <a:cs typeface="Calibri"/>
              </a:rPr>
              <a:t>Normalize spelling first. Put judgment calls in a named mapping.</a:t>
            </a:r>
          </a:p>
        </p:txBody>
      </p:sp>
    </p:spTree>
    <p:extLst>
      <p:ext uri="{BB962C8B-B14F-4D97-AF65-F5344CB8AC3E}">
        <p14:creationId xmlns:p14="http://schemas.microsoft.com/office/powerpoint/2010/main" val="2050741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Dates need parsing and a policy</a:t>
            </a:r>
          </a:p>
        </p:txBody>
      </p:sp>
      <p:graphicFrame>
        <p:nvGraphicFramePr>
          <p:cNvPr id="1006" name="Table 1005"/>
          <p:cNvGraphicFramePr/>
          <p:nvPr/>
        </p:nvGraphicFramePr>
        <p:xfrm>
          <a:off x="533400" y="1371600"/>
          <a:ext cx="10763250" cy="3048000"/>
        </p:xfrm>
        <a:graphic>
          <a:graphicData uri="http://schemas.openxmlformats.org/drawingml/2006/table">
            <a:tbl>
              <a:tblPr/>
              <a:tblGrid>
                <a:gridCol w="504825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62000">
                <a:tc>
                  <a:txBody>
                    <a:bodyPr/>
                    <a:lstStyle/>
                    <a:p>
                      <a:r>
                        <a:rPr sz="2175" b="1">
                          <a:solidFill>
                            <a:srgbClr val="FFFFFF"/>
                          </a:solidFill>
                          <a:latin typeface="Calibri"/>
                          <a:ea typeface="Calibri"/>
                          <a:cs typeface="Calibri"/>
                        </a:rPr>
                        <a:t>Input</a:t>
                      </a:r>
                    </a:p>
                  </a:txBody>
                  <a:tcPr>
                    <a:solidFill>
                      <a:srgbClr val="24323E"/>
                    </a:solidFill>
                  </a:tcPr>
                </a:tc>
                <a:tc>
                  <a:txBody>
                    <a:bodyPr/>
                    <a:lstStyle/>
                    <a:p>
                      <a:r>
                        <a:rPr sz="2175" b="1">
                          <a:solidFill>
                            <a:srgbClr val="FFFFFF"/>
                          </a:solidFill>
                          <a:latin typeface="Calibri"/>
                          <a:ea typeface="Calibri"/>
                          <a:cs typeface="Calibri"/>
                        </a:rPr>
                        <a:t>After parsing</a:t>
                      </a:r>
                    </a:p>
                  </a:txBody>
                  <a:tcPr>
                    <a:solidFill>
                      <a:srgbClr val="24323E"/>
                    </a:solidFill>
                  </a:tcPr>
                </a:tc>
                <a:extLst>
                  <a:ext uri="{0D108BD9-81ED-4DB2-BD59-A6C34878D82A}">
                    <a16:rowId xmlns:a16="http://schemas.microsoft.com/office/drawing/2014/main" val="10000"/>
                  </a:ext>
                </a:extLst>
              </a:tr>
              <a:tr h="762000">
                <a:tc>
                  <a:txBody>
                    <a:bodyPr/>
                    <a:lstStyle/>
                    <a:p>
                      <a:r>
                        <a:rPr sz="2175" b="0">
                          <a:solidFill>
                            <a:srgbClr val="24323E"/>
                          </a:solidFill>
                          <a:latin typeface="Calibri"/>
                          <a:ea typeface="Calibri"/>
                          <a:cs typeface="Calibri"/>
                        </a:rPr>
                        <a:t>2026-09-05T12:03:00</a:t>
                      </a:r>
                    </a:p>
                  </a:txBody>
                  <a:tcPr>
                    <a:solidFill>
                      <a:srgbClr val="FBE5D6"/>
                    </a:solidFill>
                  </a:tcPr>
                </a:tc>
                <a:tc>
                  <a:txBody>
                    <a:bodyPr/>
                    <a:lstStyle/>
                    <a:p>
                      <a:r>
                        <a:rPr sz="2175" b="0">
                          <a:solidFill>
                            <a:srgbClr val="24323E"/>
                          </a:solidFill>
                          <a:latin typeface="Calibri"/>
                          <a:ea typeface="Calibri"/>
                          <a:cs typeface="Calibri"/>
                        </a:rPr>
                        <a:t>A datetime value</a:t>
                      </a:r>
                    </a:p>
                  </a:txBody>
                  <a:tcPr>
                    <a:solidFill>
                      <a:srgbClr val="FBE5D6"/>
                    </a:solidFill>
                  </a:tcPr>
                </a:tc>
                <a:extLst>
                  <a:ext uri="{0D108BD9-81ED-4DB2-BD59-A6C34878D82A}">
                    <a16:rowId xmlns:a16="http://schemas.microsoft.com/office/drawing/2014/main" val="10001"/>
                  </a:ext>
                </a:extLst>
              </a:tr>
              <a:tr h="762000">
                <a:tc>
                  <a:txBody>
                    <a:bodyPr/>
                    <a:lstStyle/>
                    <a:p>
                      <a:r>
                        <a:rPr sz="2175" b="0">
                          <a:solidFill>
                            <a:srgbClr val="24323E"/>
                          </a:solidFill>
                          <a:latin typeface="Calibri"/>
                          <a:ea typeface="Calibri"/>
                          <a:cs typeface="Calibri"/>
                        </a:rPr>
                        <a:t>09/05/2026 12:40</a:t>
                      </a:r>
                    </a:p>
                  </a:txBody>
                  <a:tcPr>
                    <a:solidFill>
                      <a:srgbClr val="FFFFFF"/>
                    </a:solidFill>
                  </a:tcPr>
                </a:tc>
                <a:tc>
                  <a:txBody>
                    <a:bodyPr/>
                    <a:lstStyle/>
                    <a:p>
                      <a:r>
                        <a:rPr sz="2175" b="0">
                          <a:solidFill>
                            <a:srgbClr val="24323E"/>
                          </a:solidFill>
                          <a:latin typeface="Calibri"/>
                          <a:ea typeface="Calibri"/>
                          <a:cs typeface="Calibri"/>
                        </a:rPr>
                        <a:t>September 5, given the US convention</a:t>
                      </a:r>
                    </a:p>
                  </a:txBody>
                  <a:tcPr>
                    <a:solidFill>
                      <a:srgbClr val="FFFFFF"/>
                    </a:solidFill>
                  </a:tcPr>
                </a:tc>
                <a:extLst>
                  <a:ext uri="{0D108BD9-81ED-4DB2-BD59-A6C34878D82A}">
                    <a16:rowId xmlns:a16="http://schemas.microsoft.com/office/drawing/2014/main" val="10002"/>
                  </a:ext>
                </a:extLst>
              </a:tr>
              <a:tr h="762000">
                <a:tc>
                  <a:txBody>
                    <a:bodyPr/>
                    <a:lstStyle/>
                    <a:p>
                      <a:r>
                        <a:rPr sz="2175" b="0">
                          <a:solidFill>
                            <a:srgbClr val="24323E"/>
                          </a:solidFill>
                          <a:latin typeface="Calibri"/>
                          <a:ea typeface="Calibri"/>
                          <a:cs typeface="Calibri"/>
                        </a:rPr>
                        <a:t>(blank) or unparseable text</a:t>
                      </a:r>
                    </a:p>
                  </a:txBody>
                  <a:tcPr>
                    <a:solidFill>
                      <a:srgbClr val="FBE5D6"/>
                    </a:solidFill>
                  </a:tcPr>
                </a:tc>
                <a:tc>
                  <a:txBody>
                    <a:bodyPr/>
                    <a:lstStyle/>
                    <a:p>
                      <a:r>
                        <a:rPr sz="2175" b="0">
                          <a:solidFill>
                            <a:srgbClr val="24323E"/>
                          </a:solidFill>
                          <a:latin typeface="Calibri"/>
                          <a:ea typeface="Calibri"/>
                          <a:cs typeface="Calibri"/>
                        </a:rPr>
                        <a:t>NaT</a:t>
                      </a:r>
                    </a:p>
                  </a:txBody>
                  <a:tcPr>
                    <a:solidFill>
                      <a:srgbClr val="FBE5D6"/>
                    </a:solidFill>
                  </a:tcPr>
                </a:tc>
                <a:extLst>
                  <a:ext uri="{0D108BD9-81ED-4DB2-BD59-A6C34878D82A}">
                    <a16:rowId xmlns:a16="http://schemas.microsoft.com/office/drawing/2014/main" val="10003"/>
                  </a:ext>
                </a:extLst>
              </a:tr>
            </a:tbl>
          </a:graphicData>
        </a:graphic>
      </p:graphicFrame>
      <p:sp>
        <p:nvSpPr>
          <p:cNvPr id="1002" name="pd.to_datetime(clean['ts'],&#10;    format='mixed', errors=">
            <a:extLst>
              <a:ext uri="{FF2B5EF4-FFF2-40B4-BE49-F238E27FC236}">
                <a16:creationId xmlns:a16="http://schemas.microsoft.com/office/drawing/2014/main" id="{14B3D034-172C-4BDA-85B8-15DB26E2A6F8}"/>
              </a:ext>
            </a:extLst>
          </p:cNvPr>
          <p:cNvSpPr>
            <a:spLocks noGrp="1"/>
          </p:cNvSpPr>
          <p:nvPr/>
        </p:nvSpPr>
        <p:spPr>
          <a:xfrm>
            <a:off x="533400" y="4667250"/>
            <a:ext cx="10858500" cy="2000250"/>
          </a:xfrm>
          <a:prstGeom prst="rect">
            <a:avLst/>
          </a:prstGeom>
          <a:noFill/>
          <a:ln w="0">
            <a:noFill/>
          </a:ln>
        </p:spPr>
        <p:txBody>
          <a:bodyPr lIns="0" tIns="0" rIns="0" bIns="0" anchor="t">
            <a:noAutofit/>
          </a:bodyPr>
          <a:lstStyle/>
          <a:p>
            <a:pPr algn="l">
              <a:buNone/>
              <a:defRPr sz="2175" b="0">
                <a:solidFill>
                  <a:srgbClr val="24323E"/>
                </a:solidFill>
                <a:latin typeface="Calibri"/>
                <a:ea typeface="Calibri"/>
                <a:cs typeface="Calibri"/>
              </a:defRPr>
            </a:pPr>
            <a:r>
              <a:rPr sz="2175" b="0">
                <a:solidFill>
                  <a:srgbClr val="24323E"/>
                </a:solidFill>
                <a:latin typeface="Calibri"/>
                <a:ea typeface="Calibri"/>
                <a:cs typeface="Calibri"/>
              </a:rPr>
              <a:t>pd.to_datetime(clean['ts'],</a:t>
            </a:r>
          </a:p>
          <a:p>
            <a:pPr algn="l">
              <a:buNone/>
              <a:defRPr sz="2175" b="0">
                <a:solidFill>
                  <a:srgbClr val="24323E"/>
                </a:solidFill>
                <a:latin typeface="Calibri"/>
                <a:ea typeface="Calibri"/>
                <a:cs typeface="Calibri"/>
              </a:defRPr>
            </a:pPr>
            <a:r>
              <a:rPr sz="2175" b="0">
                <a:solidFill>
                  <a:srgbClr val="24323E"/>
                </a:solidFill>
                <a:latin typeface="Calibri"/>
                <a:ea typeface="Calibri"/>
                <a:cs typeface="Calibri"/>
              </a:rPr>
              <a:t>    format='mixed', errors='coerce')</a:t>
            </a:r>
          </a:p>
        </p:txBody>
      </p:sp>
      <p:sp>
        <p:nvSpPr>
          <p:cNvPr id="1003" name="A missing time can stay in totals. It cannot support an">
            <a:extLst>
              <a:ext uri="{FF2B5EF4-FFF2-40B4-BE49-F238E27FC236}">
                <a16:creationId xmlns:a16="http://schemas.microsoft.com/office/drawing/2014/main" id="{3F23328F-C808-460A-B49D-A2C4548D9E1A}"/>
              </a:ext>
            </a:extLst>
          </p:cNvPr>
          <p:cNvSpPr>
            <a:spLocks noGrp="1"/>
          </p:cNvSpPr>
          <p:nvPr/>
        </p:nvSpPr>
        <p:spPr>
          <a:xfrm>
            <a:off x="533400" y="5534025"/>
            <a:ext cx="11096625" cy="447675"/>
          </a:xfrm>
          <a:prstGeom prst="rect">
            <a:avLst/>
          </a:prstGeom>
          <a:noFill/>
          <a:ln w="0">
            <a:noFill/>
          </a:ln>
        </p:spPr>
        <p:txBody>
          <a:bodyPr lIns="0" tIns="0" rIns="0" bIns="0" anchor="t">
            <a:noAutofit/>
          </a:bodyPr>
          <a:lstStyle/>
          <a:p>
            <a:pPr algn="l">
              <a:buNone/>
              <a:defRPr sz="2100" b="1">
                <a:solidFill>
                  <a:srgbClr val="24323E"/>
                </a:solidFill>
                <a:latin typeface="Calibri"/>
                <a:ea typeface="Calibri"/>
                <a:cs typeface="Calibri"/>
              </a:defRPr>
            </a:pPr>
            <a:r>
              <a:rPr sz="2100" b="1">
                <a:solidFill>
                  <a:srgbClr val="24323E"/>
                </a:solidFill>
                <a:latin typeface="Calibri"/>
                <a:ea typeface="Calibri"/>
                <a:cs typeface="Calibri"/>
              </a:rPr>
              <a:t>A missing time can stay in totals. It cannot support an hourly analysis.</a:t>
            </a:r>
          </a:p>
        </p:txBody>
      </p:sp>
    </p:spTree>
    <p:extLst>
      <p:ext uri="{BB962C8B-B14F-4D97-AF65-F5344CB8AC3E}">
        <p14:creationId xmlns:p14="http://schemas.microsoft.com/office/powerpoint/2010/main" val="1917399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Why the repair order matters</a:t>
            </a:r>
          </a:p>
        </p:txBody>
      </p:sp>
      <p:graphicFrame>
        <p:nvGraphicFramePr>
          <p:cNvPr id="1003" name="Table 1002"/>
          <p:cNvGraphicFramePr/>
          <p:nvPr/>
        </p:nvGraphicFramePr>
        <p:xfrm>
          <a:off x="533400" y="1257300"/>
          <a:ext cx="10763250" cy="4343400"/>
        </p:xfrm>
        <a:graphic>
          <a:graphicData uri="http://schemas.openxmlformats.org/drawingml/2006/table">
            <a:tbl>
              <a:tblPr/>
              <a:tblGrid>
                <a:gridCol w="4905375">
                  <a:extLst>
                    <a:ext uri="{9D8B030D-6E8A-4147-A177-3AD203B41FA5}">
                      <a16:colId xmlns:a16="http://schemas.microsoft.com/office/drawing/2014/main" val="20000"/>
                    </a:ext>
                  </a:extLst>
                </a:gridCol>
                <a:gridCol w="5857875">
                  <a:extLst>
                    <a:ext uri="{9D8B030D-6E8A-4147-A177-3AD203B41FA5}">
                      <a16:colId xmlns:a16="http://schemas.microsoft.com/office/drawing/2014/main" val="20001"/>
                    </a:ext>
                  </a:extLst>
                </a:gridCol>
              </a:tblGrid>
              <a:tr h="723900">
                <a:tc>
                  <a:txBody>
                    <a:bodyPr/>
                    <a:lstStyle/>
                    <a:p>
                      <a:r>
                        <a:rPr sz="2100" b="1">
                          <a:solidFill>
                            <a:srgbClr val="FFFFFF"/>
                          </a:solidFill>
                          <a:latin typeface="Calibri"/>
                          <a:ea typeface="Calibri"/>
                          <a:cs typeface="Calibri"/>
                        </a:rPr>
                        <a:t>Step</a:t>
                      </a:r>
                    </a:p>
                  </a:txBody>
                  <a:tcPr>
                    <a:solidFill>
                      <a:srgbClr val="24323E"/>
                    </a:solidFill>
                  </a:tcPr>
                </a:tc>
                <a:tc>
                  <a:txBody>
                    <a:bodyPr/>
                    <a:lstStyle/>
                    <a:p>
                      <a:r>
                        <a:rPr sz="2100" b="1">
                          <a:solidFill>
                            <a:srgbClr val="FFFFFF"/>
                          </a:solidFill>
                          <a:latin typeface="Calibri"/>
                          <a:ea typeface="Calibri"/>
                          <a:cs typeface="Calibri"/>
                        </a:rPr>
                        <a:t>What depends on it</a:t>
                      </a:r>
                    </a:p>
                  </a:txBody>
                  <a:tcPr>
                    <a:solidFill>
                      <a:srgbClr val="24323E"/>
                    </a:solidFill>
                  </a:tcPr>
                </a:tc>
                <a:extLst>
                  <a:ext uri="{0D108BD9-81ED-4DB2-BD59-A6C34878D82A}">
                    <a16:rowId xmlns:a16="http://schemas.microsoft.com/office/drawing/2014/main" val="10000"/>
                  </a:ext>
                </a:extLst>
              </a:tr>
              <a:tr h="723900">
                <a:tc>
                  <a:txBody>
                    <a:bodyPr/>
                    <a:lstStyle/>
                    <a:p>
                      <a:r>
                        <a:rPr sz="2100" b="0">
                          <a:solidFill>
                            <a:srgbClr val="24323E"/>
                          </a:solidFill>
                          <a:latin typeface="Calibri"/>
                          <a:ea typeface="Calibri"/>
                          <a:cs typeface="Calibri"/>
                        </a:rPr>
                        <a:t>1. Remove known exact repeats</a:t>
                      </a:r>
                    </a:p>
                  </a:txBody>
                  <a:tcPr>
                    <a:solidFill>
                      <a:srgbClr val="FBE5D6"/>
                    </a:solidFill>
                  </a:tcPr>
                </a:tc>
                <a:tc>
                  <a:txBody>
                    <a:bodyPr/>
                    <a:lstStyle/>
                    <a:p>
                      <a:r>
                        <a:rPr sz="2100" b="0">
                          <a:solidFill>
                            <a:srgbClr val="24323E"/>
                          </a:solidFill>
                          <a:latin typeface="Calibri"/>
                          <a:ea typeface="Calibri"/>
                          <a:cs typeface="Calibri"/>
                        </a:rPr>
                        <a:t>Avoid processing the same exported record twice</a:t>
                      </a:r>
                    </a:p>
                  </a:txBody>
                  <a:tcPr>
                    <a:solidFill>
                      <a:srgbClr val="FBE5D6"/>
                    </a:solidFill>
                  </a:tcPr>
                </a:tc>
                <a:extLst>
                  <a:ext uri="{0D108BD9-81ED-4DB2-BD59-A6C34878D82A}">
                    <a16:rowId xmlns:a16="http://schemas.microsoft.com/office/drawing/2014/main" val="10001"/>
                  </a:ext>
                </a:extLst>
              </a:tr>
              <a:tr h="723900">
                <a:tc>
                  <a:txBody>
                    <a:bodyPr/>
                    <a:lstStyle/>
                    <a:p>
                      <a:r>
                        <a:rPr sz="2100" b="0">
                          <a:solidFill>
                            <a:srgbClr val="24323E"/>
                          </a:solidFill>
                          <a:latin typeface="Calibri"/>
                          <a:ea typeface="Calibri"/>
                          <a:cs typeface="Calibri"/>
                        </a:rPr>
                        <a:t>2. Convert numeric values</a:t>
                      </a:r>
                    </a:p>
                  </a:txBody>
                  <a:tcPr>
                    <a:solidFill>
                      <a:srgbClr val="FFFFFF"/>
                    </a:solidFill>
                  </a:tcPr>
                </a:tc>
                <a:tc>
                  <a:txBody>
                    <a:bodyPr/>
                    <a:lstStyle/>
                    <a:p>
                      <a:r>
                        <a:rPr sz="2100" b="0">
                          <a:solidFill>
                            <a:srgbClr val="24323E"/>
                          </a:solidFill>
                          <a:latin typeface="Calibri"/>
                          <a:ea typeface="Calibri"/>
                          <a:cs typeface="Calibri"/>
                        </a:rPr>
                        <a:t>Numeric comparisons require usable numbers</a:t>
                      </a:r>
                    </a:p>
                  </a:txBody>
                  <a:tcPr>
                    <a:solidFill>
                      <a:srgbClr val="FFFFFF"/>
                    </a:solidFill>
                  </a:tcPr>
                </a:tc>
                <a:extLst>
                  <a:ext uri="{0D108BD9-81ED-4DB2-BD59-A6C34878D82A}">
                    <a16:rowId xmlns:a16="http://schemas.microsoft.com/office/drawing/2014/main" val="10002"/>
                  </a:ext>
                </a:extLst>
              </a:tr>
              <a:tr h="723900">
                <a:tc>
                  <a:txBody>
                    <a:bodyPr/>
                    <a:lstStyle/>
                    <a:p>
                      <a:r>
                        <a:rPr sz="2100" b="0">
                          <a:solidFill>
                            <a:srgbClr val="24323E"/>
                          </a:solidFill>
                          <a:latin typeface="Calibri"/>
                          <a:ea typeface="Calibri"/>
                          <a:cs typeface="Calibri"/>
                        </a:rPr>
                        <a:t>3. Handle missing / invalid values</a:t>
                      </a:r>
                    </a:p>
                  </a:txBody>
                  <a:tcPr>
                    <a:solidFill>
                      <a:srgbClr val="FBE5D6"/>
                    </a:solidFill>
                  </a:tcPr>
                </a:tc>
                <a:tc>
                  <a:txBody>
                    <a:bodyPr/>
                    <a:lstStyle/>
                    <a:p>
                      <a:r>
                        <a:rPr sz="2100" b="0">
                          <a:solidFill>
                            <a:srgbClr val="24323E"/>
                          </a:solidFill>
                          <a:latin typeface="Calibri"/>
                          <a:ea typeface="Calibri"/>
                          <a:cs typeface="Calibri"/>
                        </a:rPr>
                        <a:t>Keep the rows that fit the stated question</a:t>
                      </a:r>
                    </a:p>
                  </a:txBody>
                  <a:tcPr>
                    <a:solidFill>
                      <a:srgbClr val="FBE5D6"/>
                    </a:solidFill>
                  </a:tcPr>
                </a:tc>
                <a:extLst>
                  <a:ext uri="{0D108BD9-81ED-4DB2-BD59-A6C34878D82A}">
                    <a16:rowId xmlns:a16="http://schemas.microsoft.com/office/drawing/2014/main" val="10003"/>
                  </a:ext>
                </a:extLst>
              </a:tr>
              <a:tr h="723900">
                <a:tc>
                  <a:txBody>
                    <a:bodyPr/>
                    <a:lstStyle/>
                    <a:p>
                      <a:r>
                        <a:rPr sz="2100" b="0">
                          <a:solidFill>
                            <a:srgbClr val="24323E"/>
                          </a:solidFill>
                          <a:latin typeface="Calibri"/>
                          <a:ea typeface="Calibri"/>
                          <a:cs typeface="Calibri"/>
                        </a:rPr>
                        <a:t>4. Normalize text and parse dates</a:t>
                      </a:r>
                    </a:p>
                  </a:txBody>
                  <a:tcPr>
                    <a:solidFill>
                      <a:srgbClr val="FFFFFF"/>
                    </a:solidFill>
                  </a:tcPr>
                </a:tc>
                <a:tc>
                  <a:txBody>
                    <a:bodyPr/>
                    <a:lstStyle/>
                    <a:p>
                      <a:r>
                        <a:rPr sz="2100" b="0">
                          <a:solidFill>
                            <a:srgbClr val="24323E"/>
                          </a:solidFill>
                          <a:latin typeface="Calibri"/>
                          <a:ea typeface="Calibri"/>
                          <a:cs typeface="Calibri"/>
                        </a:rPr>
                        <a:t>Make grouping and time operations meaningful</a:t>
                      </a:r>
                    </a:p>
                  </a:txBody>
                  <a:tcPr>
                    <a:solidFill>
                      <a:srgbClr val="FFFFFF"/>
                    </a:solidFill>
                  </a:tcPr>
                </a:tc>
                <a:extLst>
                  <a:ext uri="{0D108BD9-81ED-4DB2-BD59-A6C34878D82A}">
                    <a16:rowId xmlns:a16="http://schemas.microsoft.com/office/drawing/2014/main" val="10004"/>
                  </a:ext>
                </a:extLst>
              </a:tr>
              <a:tr h="723900">
                <a:tc>
                  <a:txBody>
                    <a:bodyPr/>
                    <a:lstStyle/>
                    <a:p>
                      <a:r>
                        <a:rPr sz="2100" b="0">
                          <a:solidFill>
                            <a:srgbClr val="24323E"/>
                          </a:solidFill>
                          <a:latin typeface="Calibri"/>
                          <a:ea typeface="Calibri"/>
                          <a:cs typeface="Calibri"/>
                        </a:rPr>
                        <a:t>5. Test the result</a:t>
                      </a:r>
                    </a:p>
                  </a:txBody>
                  <a:tcPr>
                    <a:solidFill>
                      <a:srgbClr val="FBE5D6"/>
                    </a:solidFill>
                  </a:tcPr>
                </a:tc>
                <a:tc>
                  <a:txBody>
                    <a:bodyPr/>
                    <a:lstStyle/>
                    <a:p>
                      <a:r>
                        <a:rPr sz="2100" b="0">
                          <a:solidFill>
                            <a:srgbClr val="24323E"/>
                          </a:solidFill>
                          <a:latin typeface="Calibri"/>
                          <a:ea typeface="Calibri"/>
                          <a:cs typeface="Calibri"/>
                        </a:rPr>
                        <a:t>Catch remaining or newly introduced problems</a:t>
                      </a:r>
                    </a:p>
                  </a:txBody>
                  <a:tcPr>
                    <a:solidFill>
                      <a:srgbClr val="FBE5D6"/>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07246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Assertions state what must be true</a:t>
            </a:r>
          </a:p>
        </p:txBody>
      </p:sp>
      <p:sp>
        <p:nvSpPr>
          <p:cNvPr id="1001" name="assert clean.duplicated().sum() == 0&#10;&#10;assert clean['pri">
            <a:extLst>
              <a:ext uri="{FF2B5EF4-FFF2-40B4-BE49-F238E27FC236}">
                <a16:creationId xmlns:a16="http://schemas.microsoft.com/office/drawing/2014/main" id="{2810ED86-971F-49E5-AC82-821FFEF96965}"/>
              </a:ext>
            </a:extLst>
          </p:cNvPr>
          <p:cNvSpPr>
            <a:spLocks noGrp="1"/>
          </p:cNvSpPr>
          <p:nvPr/>
        </p:nvSpPr>
        <p:spPr>
          <a:xfrm>
            <a:off x="533400" y="1504950"/>
            <a:ext cx="10953750" cy="2000250"/>
          </a:xfrm>
          <a:prstGeom prst="rect">
            <a:avLst/>
          </a:prstGeom>
          <a:noFill/>
          <a:ln w="0">
            <a:noFill/>
          </a:ln>
        </p:spPr>
        <p:txBody>
          <a:bodyPr lIns="0" tIns="0" rIns="0" bIns="0" anchor="t">
            <a:noAutofit/>
          </a:bodyPr>
          <a:lstStyle/>
          <a:p>
            <a:pPr algn="l">
              <a:buNone/>
              <a:defRPr sz="2400" b="0">
                <a:solidFill>
                  <a:srgbClr val="24323E"/>
                </a:solidFill>
                <a:latin typeface="Calibri"/>
                <a:ea typeface="Calibri"/>
                <a:cs typeface="Calibri"/>
              </a:defRPr>
            </a:pPr>
            <a:r>
              <a:rPr sz="2400" b="0">
                <a:solidFill>
                  <a:srgbClr val="24323E"/>
                </a:solidFill>
                <a:latin typeface="Calibri"/>
                <a:ea typeface="Calibri"/>
                <a:cs typeface="Calibri"/>
              </a:rPr>
              <a:t>assert clean.duplicated().sum() == 0</a:t>
            </a:r>
          </a:p>
          <a:p>
            <a:endParaRPr sz="2400" b="0">
              <a:solidFill>
                <a:srgbClr val="24323E"/>
              </a:solidFill>
              <a:latin typeface="Calibri"/>
              <a:ea typeface="Calibri"/>
              <a:cs typeface="Calibri"/>
            </a:endParaRPr>
          </a:p>
          <a:p>
            <a:pPr algn="l">
              <a:buNone/>
              <a:defRPr sz="2400" b="0">
                <a:solidFill>
                  <a:srgbClr val="24323E"/>
                </a:solidFill>
                <a:latin typeface="Calibri"/>
                <a:ea typeface="Calibri"/>
                <a:cs typeface="Calibri"/>
              </a:defRPr>
            </a:pPr>
            <a:r>
              <a:rPr sz="2400" b="0">
                <a:solidFill>
                  <a:srgbClr val="24323E"/>
                </a:solidFill>
                <a:latin typeface="Calibri"/>
                <a:ea typeface="Calibri"/>
                <a:cs typeface="Calibri"/>
              </a:rPr>
              <a:t>assert clean['price'].dtype == float</a:t>
            </a:r>
          </a:p>
          <a:p>
            <a:endParaRPr sz="2400" b="0">
              <a:solidFill>
                <a:srgbClr val="24323E"/>
              </a:solidFill>
              <a:latin typeface="Calibri"/>
              <a:ea typeface="Calibri"/>
              <a:cs typeface="Calibri"/>
            </a:endParaRPr>
          </a:p>
          <a:p>
            <a:pPr algn="l">
              <a:buNone/>
              <a:defRPr sz="2400" b="0">
                <a:solidFill>
                  <a:srgbClr val="24323E"/>
                </a:solidFill>
                <a:latin typeface="Calibri"/>
                <a:ea typeface="Calibri"/>
                <a:cs typeface="Calibri"/>
              </a:defRPr>
            </a:pPr>
            <a:r>
              <a:rPr sz="2400" b="0">
                <a:solidFill>
                  <a:srgbClr val="24323E"/>
                </a:solidFill>
                <a:latin typeface="Calibri"/>
                <a:ea typeface="Calibri"/>
                <a:cs typeface="Calibri"/>
              </a:rPr>
              <a:t>assert clean['qty'].min() &gt;= 1</a:t>
            </a:r>
          </a:p>
        </p:txBody>
      </p:sp>
      <p:sp>
        <p:nvSpPr>
          <p:cNvPr id="1002" name="A failed assertion stops the next calculation.">
            <a:extLst>
              <a:ext uri="{FF2B5EF4-FFF2-40B4-BE49-F238E27FC236}">
                <a16:creationId xmlns:a16="http://schemas.microsoft.com/office/drawing/2014/main" id="{7FD44C99-D2B6-4BB6-B415-BF28129E28CB}"/>
              </a:ext>
            </a:extLst>
          </p:cNvPr>
          <p:cNvSpPr>
            <a:spLocks noGrp="1"/>
          </p:cNvSpPr>
          <p:nvPr/>
        </p:nvSpPr>
        <p:spPr>
          <a:xfrm>
            <a:off x="533400" y="4438650"/>
            <a:ext cx="10858500" cy="466725"/>
          </a:xfrm>
          <a:prstGeom prst="rect">
            <a:avLst/>
          </a:prstGeom>
          <a:noFill/>
          <a:ln w="0">
            <a:noFill/>
          </a:ln>
        </p:spPr>
        <p:txBody>
          <a:bodyPr lIns="0" tIns="0" rIns="0" bIns="0" anchor="t">
            <a:noAutofit/>
          </a:bodyPr>
          <a:lstStyle/>
          <a:p>
            <a:pPr algn="l">
              <a:buNone/>
              <a:defRPr sz="2625" b="1">
                <a:solidFill>
                  <a:srgbClr val="F67132"/>
                </a:solidFill>
                <a:latin typeface="Calibri"/>
                <a:ea typeface="Calibri"/>
                <a:cs typeface="Calibri"/>
              </a:defRPr>
            </a:pPr>
            <a:r>
              <a:rPr sz="2625" b="1">
                <a:solidFill>
                  <a:srgbClr val="F67132"/>
                </a:solidFill>
                <a:latin typeface="Calibri"/>
                <a:ea typeface="Calibri"/>
                <a:cs typeface="Calibri"/>
              </a:rPr>
              <a:t>A failed assertion stops the next calculation.</a:t>
            </a:r>
          </a:p>
        </p:txBody>
      </p:sp>
      <p:sp>
        <p:nvSpPr>
          <p:cNvPr id="1003" name="The check only proves the condition you wrote.&#10;Positive">
            <a:extLst>
              <a:ext uri="{FF2B5EF4-FFF2-40B4-BE49-F238E27FC236}">
                <a16:creationId xmlns:a16="http://schemas.microsoft.com/office/drawing/2014/main" id="{33AA6F84-8991-4672-80A0-A406BD61952B}"/>
              </a:ext>
            </a:extLst>
          </p:cNvPr>
          <p:cNvSpPr>
            <a:spLocks noGrp="1"/>
          </p:cNvSpPr>
          <p:nvPr/>
        </p:nvSpPr>
        <p:spPr>
          <a:xfrm>
            <a:off x="533400" y="5162550"/>
            <a:ext cx="10953750" cy="781050"/>
          </a:xfrm>
          <a:prstGeom prst="rect">
            <a:avLst/>
          </a:prstGeom>
          <a:noFill/>
          <a:ln w="0">
            <a:noFill/>
          </a:ln>
        </p:spPr>
        <p:txBody>
          <a:bodyPr lIns="0" tIns="0" rIns="0" bIns="0" anchor="t">
            <a:noAutofit/>
          </a:bodyPr>
          <a:lstStyle/>
          <a:p>
            <a:pPr algn="l">
              <a:buNone/>
              <a:defRPr sz="2175" b="0">
                <a:solidFill>
                  <a:srgbClr val="24323E"/>
                </a:solidFill>
                <a:latin typeface="Calibri"/>
                <a:ea typeface="Calibri"/>
                <a:cs typeface="Calibri"/>
              </a:defRPr>
            </a:pPr>
            <a:r>
              <a:rPr sz="2175" b="0">
                <a:solidFill>
                  <a:srgbClr val="24323E"/>
                </a:solidFill>
                <a:latin typeface="Calibri"/>
                <a:ea typeface="Calibri"/>
                <a:cs typeface="Calibri"/>
              </a:rPr>
              <a:t>The check only proves the condition you wrote.</a:t>
            </a:r>
          </a:p>
          <a:p>
            <a:pPr algn="l">
              <a:buNone/>
              <a:defRPr sz="2175" b="0">
                <a:solidFill>
                  <a:srgbClr val="24323E"/>
                </a:solidFill>
                <a:latin typeface="Calibri"/>
                <a:ea typeface="Calibri"/>
                <a:cs typeface="Calibri"/>
              </a:defRPr>
            </a:pPr>
            <a:r>
              <a:rPr sz="2175" b="0">
                <a:solidFill>
                  <a:srgbClr val="24323E"/>
                </a:solidFill>
                <a:latin typeface="Calibri"/>
                <a:ea typeface="Calibri"/>
                <a:cs typeface="Calibri"/>
              </a:rPr>
              <a:t>Positive quantities do not prove every sale is accurate.</a:t>
            </a:r>
          </a:p>
        </p:txBody>
      </p:sp>
    </p:spTree>
    <p:extLst>
      <p:ext uri="{BB962C8B-B14F-4D97-AF65-F5344CB8AC3E}">
        <p14:creationId xmlns:p14="http://schemas.microsoft.com/office/powerpoint/2010/main" val="407575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The Chipotle cleaning report</a:t>
            </a:r>
          </a:p>
        </p:txBody>
      </p:sp>
      <p:graphicFrame>
        <p:nvGraphicFramePr>
          <p:cNvPr id="1005" name="Table 1004"/>
          <p:cNvGraphicFramePr/>
          <p:nvPr/>
        </p:nvGraphicFramePr>
        <p:xfrm>
          <a:off x="533400" y="1438275"/>
          <a:ext cx="10763250" cy="3352800"/>
        </p:xfrm>
        <a:graphic>
          <a:graphicData uri="http://schemas.openxmlformats.org/drawingml/2006/table">
            <a:tbl>
              <a:tblPr/>
              <a:tblGrid>
                <a:gridCol w="428625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838200">
                <a:tc>
                  <a:txBody>
                    <a:bodyPr/>
                    <a:lstStyle/>
                    <a:p>
                      <a:r>
                        <a:rPr sz="2550" b="1">
                          <a:solidFill>
                            <a:srgbClr val="FFFFFF"/>
                          </a:solidFill>
                          <a:latin typeface="Calibri"/>
                          <a:ea typeface="Calibri"/>
                          <a:cs typeface="Calibri"/>
                        </a:rPr>
                        <a:t>Measure</a:t>
                      </a:r>
                    </a:p>
                  </a:txBody>
                  <a:tcPr>
                    <a:solidFill>
                      <a:srgbClr val="24323E"/>
                    </a:solidFill>
                  </a:tcPr>
                </a:tc>
                <a:tc>
                  <a:txBody>
                    <a:bodyPr/>
                    <a:lstStyle/>
                    <a:p>
                      <a:r>
                        <a:rPr sz="2550" b="1">
                          <a:solidFill>
                            <a:srgbClr val="FFFFFF"/>
                          </a:solidFill>
                          <a:latin typeface="Calibri"/>
                          <a:ea typeface="Calibri"/>
                          <a:cs typeface="Calibri"/>
                        </a:rPr>
                        <a:t>Before</a:t>
                      </a:r>
                    </a:p>
                  </a:txBody>
                  <a:tcPr>
                    <a:solidFill>
                      <a:srgbClr val="24323E"/>
                    </a:solidFill>
                  </a:tcPr>
                </a:tc>
                <a:tc>
                  <a:txBody>
                    <a:bodyPr/>
                    <a:lstStyle/>
                    <a:p>
                      <a:r>
                        <a:rPr sz="2550" b="1">
                          <a:solidFill>
                            <a:srgbClr val="FFFFFF"/>
                          </a:solidFill>
                          <a:latin typeface="Calibri"/>
                          <a:ea typeface="Calibri"/>
                          <a:cs typeface="Calibri"/>
                        </a:rPr>
                        <a:t>After</a:t>
                      </a:r>
                    </a:p>
                  </a:txBody>
                  <a:tcPr>
                    <a:solidFill>
                      <a:srgbClr val="24323E"/>
                    </a:solidFill>
                  </a:tcPr>
                </a:tc>
                <a:extLst>
                  <a:ext uri="{0D108BD9-81ED-4DB2-BD59-A6C34878D82A}">
                    <a16:rowId xmlns:a16="http://schemas.microsoft.com/office/drawing/2014/main" val="10000"/>
                  </a:ext>
                </a:extLst>
              </a:tr>
              <a:tr h="838200">
                <a:tc>
                  <a:txBody>
                    <a:bodyPr/>
                    <a:lstStyle/>
                    <a:p>
                      <a:r>
                        <a:rPr sz="2550" b="0">
                          <a:solidFill>
                            <a:srgbClr val="24323E"/>
                          </a:solidFill>
                          <a:latin typeface="Calibri"/>
                          <a:ea typeface="Calibri"/>
                          <a:cs typeface="Calibri"/>
                        </a:rPr>
                        <a:t>Rows</a:t>
                      </a:r>
                    </a:p>
                  </a:txBody>
                  <a:tcPr>
                    <a:solidFill>
                      <a:srgbClr val="FBE5D6"/>
                    </a:solidFill>
                  </a:tcPr>
                </a:tc>
                <a:tc>
                  <a:txBody>
                    <a:bodyPr/>
                    <a:lstStyle/>
                    <a:p>
                      <a:r>
                        <a:rPr sz="2550" b="0">
                          <a:solidFill>
                            <a:srgbClr val="24323E"/>
                          </a:solidFill>
                          <a:latin typeface="Calibri"/>
                          <a:ea typeface="Calibri"/>
                          <a:cs typeface="Calibri"/>
                        </a:rPr>
                        <a:t>4,622</a:t>
                      </a:r>
                    </a:p>
                  </a:txBody>
                  <a:tcPr>
                    <a:solidFill>
                      <a:srgbClr val="FBE5D6"/>
                    </a:solidFill>
                  </a:tcPr>
                </a:tc>
                <a:tc>
                  <a:txBody>
                    <a:bodyPr/>
                    <a:lstStyle/>
                    <a:p>
                      <a:r>
                        <a:rPr sz="2550" b="0">
                          <a:solidFill>
                            <a:srgbClr val="24323E"/>
                          </a:solidFill>
                          <a:latin typeface="Calibri"/>
                          <a:ea typeface="Calibri"/>
                          <a:cs typeface="Calibri"/>
                        </a:rPr>
                        <a:t>4,563</a:t>
                      </a:r>
                    </a:p>
                  </a:txBody>
                  <a:tcPr>
                    <a:solidFill>
                      <a:srgbClr val="FBE5D6"/>
                    </a:solidFill>
                  </a:tcPr>
                </a:tc>
                <a:extLst>
                  <a:ext uri="{0D108BD9-81ED-4DB2-BD59-A6C34878D82A}">
                    <a16:rowId xmlns:a16="http://schemas.microsoft.com/office/drawing/2014/main" val="10001"/>
                  </a:ext>
                </a:extLst>
              </a:tr>
              <a:tr h="838200">
                <a:tc>
                  <a:txBody>
                    <a:bodyPr/>
                    <a:lstStyle/>
                    <a:p>
                      <a:r>
                        <a:rPr sz="2550" b="0">
                          <a:solidFill>
                            <a:srgbClr val="24323E"/>
                          </a:solidFill>
                          <a:latin typeface="Calibri"/>
                          <a:ea typeface="Calibri"/>
                          <a:cs typeface="Calibri"/>
                        </a:rPr>
                        <a:t>Item names</a:t>
                      </a:r>
                    </a:p>
                  </a:txBody>
                  <a:tcPr>
                    <a:solidFill>
                      <a:srgbClr val="FFFFFF"/>
                    </a:solidFill>
                  </a:tcPr>
                </a:tc>
                <a:tc>
                  <a:txBody>
                    <a:bodyPr/>
                    <a:lstStyle/>
                    <a:p>
                      <a:r>
                        <a:rPr sz="2550" b="0">
                          <a:solidFill>
                            <a:srgbClr val="24323E"/>
                          </a:solidFill>
                          <a:latin typeface="Calibri"/>
                          <a:ea typeface="Calibri"/>
                          <a:cs typeface="Calibri"/>
                        </a:rPr>
                        <a:t>50</a:t>
                      </a:r>
                    </a:p>
                  </a:txBody>
                  <a:tcPr>
                    <a:solidFill>
                      <a:srgbClr val="FFFFFF"/>
                    </a:solidFill>
                  </a:tcPr>
                </a:tc>
                <a:tc>
                  <a:txBody>
                    <a:bodyPr/>
                    <a:lstStyle/>
                    <a:p>
                      <a:r>
                        <a:rPr sz="2550" b="0">
                          <a:solidFill>
                            <a:srgbClr val="24323E"/>
                          </a:solidFill>
                          <a:latin typeface="Calibri"/>
                          <a:ea typeface="Calibri"/>
                          <a:cs typeface="Calibri"/>
                        </a:rPr>
                        <a:t>46</a:t>
                      </a:r>
                    </a:p>
                  </a:txBody>
                  <a:tcPr>
                    <a:solidFill>
                      <a:srgbClr val="FFFFFF"/>
                    </a:solidFill>
                  </a:tcPr>
                </a:tc>
                <a:extLst>
                  <a:ext uri="{0D108BD9-81ED-4DB2-BD59-A6C34878D82A}">
                    <a16:rowId xmlns:a16="http://schemas.microsoft.com/office/drawing/2014/main" val="10002"/>
                  </a:ext>
                </a:extLst>
              </a:tr>
              <a:tr h="838200">
                <a:tc>
                  <a:txBody>
                    <a:bodyPr/>
                    <a:lstStyle/>
                    <a:p>
                      <a:r>
                        <a:rPr sz="2550" b="0">
                          <a:solidFill>
                            <a:srgbClr val="24323E"/>
                          </a:solidFill>
                          <a:latin typeface="Calibri"/>
                          <a:ea typeface="Calibri"/>
                          <a:cs typeface="Calibri"/>
                        </a:rPr>
                        <a:t>Revenue</a:t>
                      </a:r>
                    </a:p>
                  </a:txBody>
                  <a:tcPr>
                    <a:solidFill>
                      <a:srgbClr val="FBE5D6"/>
                    </a:solidFill>
                  </a:tcPr>
                </a:tc>
                <a:tc>
                  <a:txBody>
                    <a:bodyPr/>
                    <a:lstStyle/>
                    <a:p>
                      <a:r>
                        <a:rPr sz="2550" b="0">
                          <a:solidFill>
                            <a:srgbClr val="24323E"/>
                          </a:solidFill>
                          <a:latin typeface="Calibri"/>
                          <a:ea typeface="Calibri"/>
                          <a:cs typeface="Calibri"/>
                        </a:rPr>
                        <a:t>$34,500.16</a:t>
                      </a:r>
                    </a:p>
                  </a:txBody>
                  <a:tcPr>
                    <a:solidFill>
                      <a:srgbClr val="FBE5D6"/>
                    </a:solidFill>
                  </a:tcPr>
                </a:tc>
                <a:tc>
                  <a:txBody>
                    <a:bodyPr/>
                    <a:lstStyle/>
                    <a:p>
                      <a:r>
                        <a:rPr sz="2550" b="0">
                          <a:solidFill>
                            <a:srgbClr val="24323E"/>
                          </a:solidFill>
                          <a:latin typeface="Calibri"/>
                          <a:ea typeface="Calibri"/>
                          <a:cs typeface="Calibri"/>
                        </a:rPr>
                        <a:t>$34,177.25</a:t>
                      </a:r>
                    </a:p>
                  </a:txBody>
                  <a:tcPr>
                    <a:solidFill>
                      <a:srgbClr val="FBE5D6"/>
                    </a:solidFill>
                  </a:tcPr>
                </a:tc>
                <a:extLst>
                  <a:ext uri="{0D108BD9-81ED-4DB2-BD59-A6C34878D82A}">
                    <a16:rowId xmlns:a16="http://schemas.microsoft.com/office/drawing/2014/main" val="10003"/>
                  </a:ext>
                </a:extLst>
              </a:tr>
            </a:tbl>
          </a:graphicData>
        </a:graphic>
      </p:graphicFrame>
      <p:sp>
        <p:nvSpPr>
          <p:cNvPr id="1002" name="$322.91 lower after removing 59 exact repeats">
            <a:extLst>
              <a:ext uri="{FF2B5EF4-FFF2-40B4-BE49-F238E27FC236}">
                <a16:creationId xmlns:a16="http://schemas.microsoft.com/office/drawing/2014/main" id="{BAE70BCD-1070-40D9-84E3-69DB74E2CA39}"/>
              </a:ext>
            </a:extLst>
          </p:cNvPr>
          <p:cNvSpPr>
            <a:spLocks noGrp="1"/>
          </p:cNvSpPr>
          <p:nvPr/>
        </p:nvSpPr>
        <p:spPr>
          <a:xfrm>
            <a:off x="533400" y="5133975"/>
            <a:ext cx="10953750" cy="504825"/>
          </a:xfrm>
          <a:prstGeom prst="rect">
            <a:avLst/>
          </a:prstGeom>
          <a:noFill/>
          <a:ln w="0">
            <a:noFill/>
          </a:ln>
        </p:spPr>
        <p:txBody>
          <a:bodyPr lIns="0" tIns="0" rIns="0" bIns="0" anchor="t">
            <a:noAutofit/>
          </a:bodyPr>
          <a:lstStyle/>
          <a:p>
            <a:pPr algn="l">
              <a:buNone/>
              <a:defRPr sz="2700" b="1">
                <a:solidFill>
                  <a:srgbClr val="F67132"/>
                </a:solidFill>
                <a:latin typeface="Calibri"/>
                <a:ea typeface="Calibri"/>
                <a:cs typeface="Calibri"/>
              </a:defRPr>
            </a:pPr>
            <a:r>
              <a:rPr sz="2700" b="1">
                <a:solidFill>
                  <a:srgbClr val="F67132"/>
                </a:solidFill>
                <a:latin typeface="Calibri"/>
                <a:ea typeface="Calibri"/>
                <a:cs typeface="Calibri"/>
              </a:rPr>
              <a:t>$322.91 lower after removing 59 exact repeats</a:t>
            </a:r>
          </a:p>
        </p:txBody>
      </p:sp>
    </p:spTree>
    <p:extLst>
      <p:ext uri="{BB962C8B-B14F-4D97-AF65-F5344CB8AC3E}">
        <p14:creationId xmlns:p14="http://schemas.microsoft.com/office/powerpoint/2010/main" val="1336372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Saving the result in Colab</a:t>
            </a:r>
          </a:p>
        </p:txBody>
      </p:sp>
      <p:sp>
        <p:nvSpPr>
          <p:cNvPr id="1001" name="Temporary runtime">
            <a:extLst>
              <a:ext uri="{FF2B5EF4-FFF2-40B4-BE49-F238E27FC236}">
                <a16:creationId xmlns:a16="http://schemas.microsoft.com/office/drawing/2014/main" id="{CBE746A9-789A-404B-AE73-328C52169802}"/>
              </a:ext>
            </a:extLst>
          </p:cNvPr>
          <p:cNvSpPr>
            <a:spLocks noGrp="1"/>
          </p:cNvSpPr>
          <p:nvPr/>
        </p:nvSpPr>
        <p:spPr>
          <a:xfrm>
            <a:off x="533400" y="1323975"/>
            <a:ext cx="4953000" cy="40005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Temporary runtime</a:t>
            </a:r>
          </a:p>
        </p:txBody>
      </p:sp>
      <p:sp>
        <p:nvSpPr>
          <p:cNvPr id="1002" name="Files under /content disappear when the runtime ends. A">
            <a:extLst>
              <a:ext uri="{FF2B5EF4-FFF2-40B4-BE49-F238E27FC236}">
                <a16:creationId xmlns:a16="http://schemas.microsoft.com/office/drawing/2014/main" id="{48EBF4FC-2AED-421F-856A-386B07FC19AD}"/>
              </a:ext>
            </a:extLst>
          </p:cNvPr>
          <p:cNvSpPr>
            <a:spLocks noGrp="1"/>
          </p:cNvSpPr>
          <p:nvPr/>
        </p:nvSpPr>
        <p:spPr>
          <a:xfrm>
            <a:off x="533400" y="1828800"/>
            <a:ext cx="4953000" cy="1381125"/>
          </a:xfrm>
          <a:prstGeom prst="rect">
            <a:avLst/>
          </a:prstGeom>
          <a:noFill/>
          <a:ln w="0">
            <a:noFill/>
          </a:ln>
        </p:spPr>
        <p:txBody>
          <a:bodyPr lIns="0" tIns="0" rIns="0" bIns="0" anchor="t">
            <a:noAutofit/>
          </a:bodyPr>
          <a:lstStyle/>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Files under /content disappear when the runtime ends. A saved notebook does not preserve those data files.</a:t>
            </a:r>
          </a:p>
        </p:txBody>
      </p:sp>
      <p:sp>
        <p:nvSpPr>
          <p:cNvPr id="1003" name="Your course data folder">
            <a:extLst>
              <a:ext uri="{FF2B5EF4-FFF2-40B4-BE49-F238E27FC236}">
                <a16:creationId xmlns:a16="http://schemas.microsoft.com/office/drawing/2014/main" id="{E5938680-3748-420E-B4C1-D30F986D27B3}"/>
              </a:ext>
            </a:extLst>
          </p:cNvPr>
          <p:cNvSpPr>
            <a:spLocks noGrp="1"/>
          </p:cNvSpPr>
          <p:nvPr/>
        </p:nvSpPr>
        <p:spPr>
          <a:xfrm>
            <a:off x="6467475" y="1323975"/>
            <a:ext cx="4972050" cy="40005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Your course data folder</a:t>
            </a:r>
          </a:p>
        </p:txBody>
      </p:sp>
      <p:sp>
        <p:nvSpPr>
          <p:cNvPr id="1004" name="Mount Google Drive and define DATA_DIR once. Save chipo">
            <a:extLst>
              <a:ext uri="{FF2B5EF4-FFF2-40B4-BE49-F238E27FC236}">
                <a16:creationId xmlns:a16="http://schemas.microsoft.com/office/drawing/2014/main" id="{B2ADADDA-5C50-48E4-B53A-CDA65BA107E9}"/>
              </a:ext>
            </a:extLst>
          </p:cNvPr>
          <p:cNvSpPr>
            <a:spLocks noGrp="1"/>
          </p:cNvSpPr>
          <p:nvPr/>
        </p:nvSpPr>
        <p:spPr>
          <a:xfrm>
            <a:off x="6467475" y="1828800"/>
            <a:ext cx="4972050" cy="1381125"/>
          </a:xfrm>
          <a:prstGeom prst="rect">
            <a:avLst/>
          </a:prstGeom>
          <a:noFill/>
          <a:ln w="0">
            <a:noFill/>
          </a:ln>
        </p:spPr>
        <p:txBody>
          <a:bodyPr lIns="0" tIns="0" rIns="0" bIns="0" anchor="t">
            <a:noAutofit/>
          </a:bodyPr>
          <a:lstStyle/>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Mount Google Drive and define DATA_DIR once. Save chipotle_clean.csv there with index=False.</a:t>
            </a:r>
          </a:p>
        </p:txBody>
      </p:sp>
      <p:sp>
        <p:nvSpPr>
          <p:cNvPr id="1005" name="out = DATA_DIR / 'chipotle_clean.csv'&#10;food.to_csv(out, ">
            <a:extLst>
              <a:ext uri="{FF2B5EF4-FFF2-40B4-BE49-F238E27FC236}">
                <a16:creationId xmlns:a16="http://schemas.microsoft.com/office/drawing/2014/main" id="{988B137E-EEA9-41AE-9403-346C4D8579E6}"/>
              </a:ext>
            </a:extLst>
          </p:cNvPr>
          <p:cNvSpPr>
            <a:spLocks noGrp="1"/>
          </p:cNvSpPr>
          <p:nvPr/>
        </p:nvSpPr>
        <p:spPr>
          <a:xfrm>
            <a:off x="533400" y="4143375"/>
            <a:ext cx="11049000" cy="2000250"/>
          </a:xfrm>
          <a:prstGeom prst="rect">
            <a:avLst/>
          </a:prstGeom>
          <a:noFill/>
          <a:ln w="0">
            <a:noFill/>
          </a:ln>
        </p:spPr>
        <p:txBody>
          <a:bodyPr lIns="0" tIns="0" rIns="0" bIns="0" anchor="t">
            <a:noAutofit/>
          </a:bodyPr>
          <a:lstStyle/>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out = DATA_DIR / 'chipotle_clean.csv'</a:t>
            </a:r>
          </a:p>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food.to_csv(out, index=False)</a:t>
            </a:r>
          </a:p>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check = pd.read_csv(out)</a:t>
            </a:r>
          </a:p>
        </p:txBody>
      </p:sp>
      <p:sp>
        <p:nvSpPr>
          <p:cNvPr id="1006" name="Read it back, compare row counts, and check inferred ty">
            <a:extLst>
              <a:ext uri="{FF2B5EF4-FFF2-40B4-BE49-F238E27FC236}">
                <a16:creationId xmlns:a16="http://schemas.microsoft.com/office/drawing/2014/main" id="{CEC55FD7-0053-47B1-83E7-D31911089F21}"/>
              </a:ext>
            </a:extLst>
          </p:cNvPr>
          <p:cNvSpPr>
            <a:spLocks noGrp="1"/>
          </p:cNvSpPr>
          <p:nvPr/>
        </p:nvSpPr>
        <p:spPr>
          <a:xfrm>
            <a:off x="533400" y="5581650"/>
            <a:ext cx="11049000" cy="409575"/>
          </a:xfrm>
          <a:prstGeom prst="rect">
            <a:avLst/>
          </a:prstGeom>
          <a:noFill/>
          <a:ln w="0">
            <a:noFill/>
          </a:ln>
        </p:spPr>
        <p:txBody>
          <a:bodyPr lIns="0" tIns="0" rIns="0" bIns="0" anchor="t">
            <a:noAutofit/>
          </a:bodyPr>
          <a:lstStyle/>
          <a:p>
            <a:pPr algn="l">
              <a:buNone/>
              <a:defRPr sz="2175" b="1">
                <a:solidFill>
                  <a:srgbClr val="F67132"/>
                </a:solidFill>
                <a:latin typeface="Calibri"/>
                <a:ea typeface="Calibri"/>
                <a:cs typeface="Calibri"/>
              </a:defRPr>
            </a:pPr>
            <a:r>
              <a:rPr sz="2175" b="1">
                <a:solidFill>
                  <a:srgbClr val="F67132"/>
                </a:solidFill>
                <a:latin typeface="Calibri"/>
                <a:ea typeface="Calibri"/>
                <a:cs typeface="Calibri"/>
              </a:rPr>
              <a:t>Read it back, compare row counts, and check inferred types.</a:t>
            </a:r>
          </a:p>
        </p:txBody>
      </p:sp>
    </p:spTree>
    <p:extLst>
      <p:ext uri="{BB962C8B-B14F-4D97-AF65-F5344CB8AC3E}">
        <p14:creationId xmlns:p14="http://schemas.microsoft.com/office/powerpoint/2010/main" val="1456296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81F51F9C-137D-EA4F-B351-EC2C9C061802}"/>
              </a:ext>
            </a:extLst>
          </p:cNvPr>
          <p:cNvSpPr>
            <a:spLocks noGrp="1"/>
          </p:cNvSpPr>
          <p:nvPr>
            <p:ph type="title"/>
          </p:nvPr>
        </p:nvSpPr>
        <p:spPr>
          <a:xfrm>
            <a:off x="514350" y="323850"/>
            <a:ext cx="10382250" cy="666750"/>
          </a:xfrm>
        </p:spPr>
        <p:txBody>
          <a:bodyPr lIns="0" tIns="0" rIns="0" bIns="0">
            <a:noAutofit/>
          </a:bodyPr>
          <a:lstStyle/>
          <a:p>
            <a:pPr>
              <a:buNone/>
              <a:defRPr sz="3600">
                <a:solidFill>
                  <a:srgbClr val="24323E"/>
                </a:solidFill>
                <a:latin typeface="Calibri"/>
                <a:ea typeface="Calibri"/>
                <a:cs typeface="Calibri"/>
              </a:defRPr>
            </a:pPr>
            <a:r>
              <a:rPr sz="3600">
                <a:solidFill>
                  <a:srgbClr val="24323E"/>
                </a:solidFill>
                <a:latin typeface="Calibri"/>
                <a:ea typeface="Calibri"/>
                <a:cs typeface="Calibri"/>
              </a:rPr>
              <a:t>Your turn: two questions to defend</a:t>
            </a:r>
          </a:p>
        </p:txBody>
      </p:sp>
      <p:sp>
        <p:nvSpPr>
          <p:cNvPr id="1001" name="Revenue by category">
            <a:extLst>
              <a:ext uri="{FF2B5EF4-FFF2-40B4-BE49-F238E27FC236}">
                <a16:creationId xmlns:a16="http://schemas.microsoft.com/office/drawing/2014/main" id="{46A481F3-6352-4C6B-9B9D-BE8369D1B6A9}"/>
              </a:ext>
            </a:extLst>
          </p:cNvPr>
          <p:cNvSpPr>
            <a:spLocks noGrp="1"/>
          </p:cNvSpPr>
          <p:nvPr/>
        </p:nvSpPr>
        <p:spPr>
          <a:xfrm>
            <a:off x="533400" y="1390650"/>
            <a:ext cx="5143500" cy="40005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Revenue by category</a:t>
            </a:r>
          </a:p>
        </p:txBody>
      </p:sp>
      <p:sp>
        <p:nvSpPr>
          <p:cNvPr id="1002" name="Using clean, calculate revenue by category and sort it ">
            <a:extLst>
              <a:ext uri="{FF2B5EF4-FFF2-40B4-BE49-F238E27FC236}">
                <a16:creationId xmlns:a16="http://schemas.microsoft.com/office/drawing/2014/main" id="{339441BA-1B10-47F1-865B-F1C7FF3CDC63}"/>
              </a:ext>
            </a:extLst>
          </p:cNvPr>
          <p:cNvSpPr>
            <a:spLocks noGrp="1"/>
          </p:cNvSpPr>
          <p:nvPr/>
        </p:nvSpPr>
        <p:spPr>
          <a:xfrm>
            <a:off x="533400" y="1895475"/>
            <a:ext cx="5143500" cy="1381125"/>
          </a:xfrm>
          <a:prstGeom prst="rect">
            <a:avLst/>
          </a:prstGeom>
          <a:noFill/>
          <a:ln w="0">
            <a:noFill/>
          </a:ln>
        </p:spPr>
        <p:txBody>
          <a:bodyPr lIns="0" tIns="0" rIns="0" bIns="0" anchor="t">
            <a:noAutofit/>
          </a:bodyPr>
          <a:lstStyle/>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Using clean, calculate revenue by category and sort it highest first.</a:t>
            </a:r>
          </a:p>
          <a:p>
            <a:endParaRPr sz="2250" b="0">
              <a:solidFill>
                <a:srgbClr val="24323E"/>
              </a:solidFill>
              <a:latin typeface="Calibri"/>
              <a:ea typeface="Calibri"/>
              <a:cs typeface="Calibri"/>
            </a:endParaRPr>
          </a:p>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Which category would you discuss with the vendor?</a:t>
            </a:r>
          </a:p>
        </p:txBody>
      </p:sp>
      <p:sp>
        <p:nvSpPr>
          <p:cNvPr id="1003" name="The refund question">
            <a:extLst>
              <a:ext uri="{FF2B5EF4-FFF2-40B4-BE49-F238E27FC236}">
                <a16:creationId xmlns:a16="http://schemas.microsoft.com/office/drawing/2014/main" id="{C9F164DB-8A8B-44AF-B516-E2A11C38575D}"/>
              </a:ext>
            </a:extLst>
          </p:cNvPr>
          <p:cNvSpPr>
            <a:spLocks noGrp="1"/>
          </p:cNvSpPr>
          <p:nvPr/>
        </p:nvSpPr>
        <p:spPr>
          <a:xfrm>
            <a:off x="6477000" y="1390650"/>
            <a:ext cx="4953000" cy="40005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The refund question</a:t>
            </a:r>
          </a:p>
        </p:txBody>
      </p:sp>
      <p:sp>
        <p:nvSpPr>
          <p:cNvPr id="1004" name="Start again from df. Keep the refund, handle the missin">
            <a:extLst>
              <a:ext uri="{FF2B5EF4-FFF2-40B4-BE49-F238E27FC236}">
                <a16:creationId xmlns:a16="http://schemas.microsoft.com/office/drawing/2014/main" id="{4B3D0B22-B3D2-4DA1-A86B-748A5E14D9C7}"/>
              </a:ext>
            </a:extLst>
          </p:cNvPr>
          <p:cNvSpPr>
            <a:spLocks noGrp="1"/>
          </p:cNvSpPr>
          <p:nvPr/>
        </p:nvSpPr>
        <p:spPr>
          <a:xfrm>
            <a:off x="6477000" y="1895475"/>
            <a:ext cx="4953000" cy="1381125"/>
          </a:xfrm>
          <a:prstGeom prst="rect">
            <a:avLst/>
          </a:prstGeom>
          <a:noFill/>
          <a:ln w="0">
            <a:noFill/>
          </a:ln>
        </p:spPr>
        <p:txBody>
          <a:bodyPr lIns="0" tIns="0" rIns="0" bIns="0" anchor="t">
            <a:noAutofit/>
          </a:bodyPr>
          <a:lstStyle/>
          <a:p>
            <a:pPr algn="l">
              <a:buNone/>
              <a:defRPr sz="2250" b="0">
                <a:solidFill>
                  <a:srgbClr val="24323E"/>
                </a:solidFill>
                <a:latin typeface="Calibri"/>
                <a:ea typeface="Calibri"/>
                <a:cs typeface="Calibri"/>
              </a:defRPr>
            </a:pPr>
            <a:r>
              <a:rPr sz="2250" b="0">
                <a:solidFill>
                  <a:srgbClr val="24323E"/>
                </a:solidFill>
                <a:latin typeface="Calibri"/>
                <a:ea typeface="Calibri"/>
                <a:cs typeface="Calibri"/>
              </a:rPr>
              <a:t>Start again from df. Keep the refund, handle the missing quantity, and calculate net units and net revenue.</a:t>
            </a:r>
          </a:p>
        </p:txBody>
      </p:sp>
      <p:sp>
        <p:nvSpPr>
          <p:cNvPr id="1005" name="What did you change? How many rows? How much did the an">
            <a:extLst>
              <a:ext uri="{FF2B5EF4-FFF2-40B4-BE49-F238E27FC236}">
                <a16:creationId xmlns:a16="http://schemas.microsoft.com/office/drawing/2014/main" id="{853A6A74-7E15-432B-9C28-E414036C91C6}"/>
              </a:ext>
            </a:extLst>
          </p:cNvPr>
          <p:cNvSpPr>
            <a:spLocks noGrp="1"/>
          </p:cNvSpPr>
          <p:nvPr/>
        </p:nvSpPr>
        <p:spPr>
          <a:xfrm>
            <a:off x="533400" y="5429250"/>
            <a:ext cx="10953750" cy="571500"/>
          </a:xfrm>
          <a:prstGeom prst="rect">
            <a:avLst/>
          </a:prstGeom>
          <a:noFill/>
          <a:ln w="0">
            <a:noFill/>
          </a:ln>
        </p:spPr>
        <p:txBody>
          <a:bodyPr lIns="0" tIns="0" rIns="0" bIns="0" anchor="t">
            <a:noAutofit/>
          </a:bodyPr>
          <a:lstStyle/>
          <a:p>
            <a:pPr algn="l">
              <a:buNone/>
              <a:defRPr sz="2325" b="1">
                <a:solidFill>
                  <a:srgbClr val="F67132"/>
                </a:solidFill>
                <a:latin typeface="Calibri"/>
                <a:ea typeface="Calibri"/>
                <a:cs typeface="Calibri"/>
              </a:defRPr>
            </a:pPr>
            <a:r>
              <a:rPr sz="2325" b="1">
                <a:solidFill>
                  <a:srgbClr val="F67132"/>
                </a:solidFill>
                <a:latin typeface="Calibri"/>
                <a:ea typeface="Calibri"/>
                <a:cs typeface="Calibri"/>
              </a:rPr>
              <a:t>What did you change? How many rows? How much did the answer move?</a:t>
            </a:r>
          </a:p>
        </p:txBody>
      </p:sp>
    </p:spTree>
    <p:extLst>
      <p:ext uri="{BB962C8B-B14F-4D97-AF65-F5344CB8AC3E}">
        <p14:creationId xmlns:p14="http://schemas.microsoft.com/office/powerpoint/2010/main" val="188983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Title 1">
            <a:extLst>
              <a:ext uri="{FF2B5EF4-FFF2-40B4-BE49-F238E27FC236}">
                <a16:creationId xmlns:a16="http://schemas.microsoft.com/office/drawing/2014/main" id="{18175B8F-1B82-4676-8A04-7DC1B1F2D8CB}"/>
              </a:ext>
            </a:extLst>
          </p:cNvPr>
          <p:cNvSpPr>
            <a:spLocks noGrp="1"/>
          </p:cNvSpPr>
          <p:nvPr>
            <p:ph type="ctrTitle"/>
          </p:nvPr>
        </p:nvSpPr>
        <p:spPr/>
        <p:txBody>
          <a:bodyPr/>
          <a:lstStyle/>
          <a:p>
            <a:endParaRPr/>
          </a:p>
        </p:txBody>
      </p:sp>
      <p:sp>
        <p:nvSpPr>
          <p:cNvPr id="1001" name="Subtitle 2">
            <a:extLst>
              <a:ext uri="{FF2B5EF4-FFF2-40B4-BE49-F238E27FC236}">
                <a16:creationId xmlns:a16="http://schemas.microsoft.com/office/drawing/2014/main" id="{C8AA2B34-D697-4EC5-B85D-23017F6154BC}"/>
              </a:ext>
            </a:extLst>
          </p:cNvPr>
          <p:cNvSpPr>
            <a:spLocks noGrp="1"/>
          </p:cNvSpPr>
          <p:nvPr>
            <p:ph type="subTitle" idx="1"/>
          </p:nvPr>
        </p:nvSpPr>
        <p:spPr/>
        <p:txBody>
          <a:bodyPr/>
          <a:lstStyle/>
          <a:p>
            <a:endParaRPr/>
          </a:p>
        </p:txBody>
      </p:sp>
      <p:sp>
        <p:nvSpPr>
          <p:cNvPr id="1002" name="Before trusting the answer">
            <a:extLst>
              <a:ext uri="{FF2B5EF4-FFF2-40B4-BE49-F238E27FC236}">
                <a16:creationId xmlns:a16="http://schemas.microsoft.com/office/drawing/2014/main" id="{9AFF7560-ADE1-4041-9BD5-867B88A1621B}"/>
              </a:ext>
            </a:extLst>
          </p:cNvPr>
          <p:cNvSpPr>
            <a:spLocks noGrp="1"/>
          </p:cNvSpPr>
          <p:nvPr/>
        </p:nvSpPr>
        <p:spPr>
          <a:xfrm>
            <a:off x="1238250" y="1447800"/>
            <a:ext cx="9715500" cy="742950"/>
          </a:xfrm>
          <a:prstGeom prst="rect">
            <a:avLst/>
          </a:prstGeom>
          <a:noFill/>
          <a:ln w="0">
            <a:noFill/>
          </a:ln>
        </p:spPr>
        <p:txBody>
          <a:bodyPr lIns="0" tIns="0" rIns="0" bIns="0" anchor="t">
            <a:noAutofit/>
          </a:bodyPr>
          <a:lstStyle/>
          <a:p>
            <a:pPr algn="ctr">
              <a:buNone/>
              <a:defRPr sz="4200" b="0">
                <a:solidFill>
                  <a:srgbClr val="24323E"/>
                </a:solidFill>
                <a:latin typeface="Calibri"/>
                <a:ea typeface="Calibri"/>
                <a:cs typeface="Calibri"/>
              </a:defRPr>
            </a:pPr>
            <a:r>
              <a:rPr sz="4200" b="0">
                <a:solidFill>
                  <a:srgbClr val="24323E"/>
                </a:solidFill>
                <a:latin typeface="Calibri"/>
                <a:ea typeface="Calibri"/>
                <a:cs typeface="Calibri"/>
              </a:rPr>
              <a:t>Before trusting the answer</a:t>
            </a:r>
          </a:p>
        </p:txBody>
      </p:sp>
      <p:sp>
        <p:nvSpPr>
          <p:cNvPr id="1003" name="What does a row mean?&#10;What did I change, and why?&#10;What ">
            <a:extLst>
              <a:ext uri="{FF2B5EF4-FFF2-40B4-BE49-F238E27FC236}">
                <a16:creationId xmlns:a16="http://schemas.microsoft.com/office/drawing/2014/main" id="{995CFCB5-C1BB-47C4-BFB9-329ED9EEFB72}"/>
              </a:ext>
            </a:extLst>
          </p:cNvPr>
          <p:cNvSpPr>
            <a:spLocks noGrp="1"/>
          </p:cNvSpPr>
          <p:nvPr/>
        </p:nvSpPr>
        <p:spPr>
          <a:xfrm>
            <a:off x="1619250" y="2686050"/>
            <a:ext cx="8953500" cy="1905000"/>
          </a:xfrm>
          <a:prstGeom prst="rect">
            <a:avLst/>
          </a:prstGeom>
          <a:noFill/>
          <a:ln w="0">
            <a:noFill/>
          </a:ln>
        </p:spPr>
        <p:txBody>
          <a:bodyPr lIns="0" tIns="0" rIns="0" bIns="0" anchor="t">
            <a:noAutofit/>
          </a:bodyPr>
          <a:lstStyle/>
          <a:p>
            <a:pPr algn="ctr">
              <a:buNone/>
              <a:defRPr sz="3000" b="0">
                <a:solidFill>
                  <a:srgbClr val="24323E"/>
                </a:solidFill>
                <a:latin typeface="Calibri"/>
                <a:ea typeface="Calibri"/>
                <a:cs typeface="Calibri"/>
              </a:defRPr>
            </a:pPr>
            <a:r>
              <a:rPr sz="3000" b="0">
                <a:solidFill>
                  <a:srgbClr val="24323E"/>
                </a:solidFill>
                <a:latin typeface="Calibri"/>
                <a:ea typeface="Calibri"/>
                <a:cs typeface="Calibri"/>
              </a:rPr>
              <a:t>What does a row mean?</a:t>
            </a:r>
          </a:p>
          <a:p>
            <a:pPr algn="ctr">
              <a:buNone/>
              <a:defRPr sz="3000" b="0">
                <a:solidFill>
                  <a:srgbClr val="24323E"/>
                </a:solidFill>
                <a:latin typeface="Calibri"/>
                <a:ea typeface="Calibri"/>
                <a:cs typeface="Calibri"/>
              </a:defRPr>
            </a:pPr>
            <a:r>
              <a:rPr sz="3000" b="0">
                <a:solidFill>
                  <a:srgbClr val="24323E"/>
                </a:solidFill>
                <a:latin typeface="Calibri"/>
                <a:ea typeface="Calibri"/>
                <a:cs typeface="Calibri"/>
              </a:rPr>
              <a:t>What did I change, and why?</a:t>
            </a:r>
          </a:p>
          <a:p>
            <a:pPr algn="ctr">
              <a:buNone/>
              <a:defRPr sz="3000" b="0">
                <a:solidFill>
                  <a:srgbClr val="24323E"/>
                </a:solidFill>
                <a:latin typeface="Calibri"/>
                <a:ea typeface="Calibri"/>
                <a:cs typeface="Calibri"/>
              </a:defRPr>
            </a:pPr>
            <a:r>
              <a:rPr sz="3000" b="0">
                <a:solidFill>
                  <a:srgbClr val="24323E"/>
                </a:solidFill>
                <a:latin typeface="Calibri"/>
                <a:ea typeface="Calibri"/>
                <a:cs typeface="Calibri"/>
              </a:rPr>
              <a:t>What did the checks prove?</a:t>
            </a:r>
          </a:p>
        </p:txBody>
      </p:sp>
      <p:sp>
        <p:nvSpPr>
          <p:cNvPr id="1004" name="Wednesday: Cleaning Clinic&#10;Friday: Cleaning Gauntlet">
            <a:extLst>
              <a:ext uri="{FF2B5EF4-FFF2-40B4-BE49-F238E27FC236}">
                <a16:creationId xmlns:a16="http://schemas.microsoft.com/office/drawing/2014/main" id="{D6DE9F3E-5EAD-434B-9875-8D2FE24644A1}"/>
              </a:ext>
            </a:extLst>
          </p:cNvPr>
          <p:cNvSpPr>
            <a:spLocks noGrp="1"/>
          </p:cNvSpPr>
          <p:nvPr/>
        </p:nvSpPr>
        <p:spPr>
          <a:xfrm>
            <a:off x="2000250" y="5048250"/>
            <a:ext cx="8191500" cy="790575"/>
          </a:xfrm>
          <a:prstGeom prst="rect">
            <a:avLst/>
          </a:prstGeom>
          <a:noFill/>
          <a:ln w="0">
            <a:noFill/>
          </a:ln>
        </p:spPr>
        <p:txBody>
          <a:bodyPr lIns="0" tIns="0" rIns="0" bIns="0" anchor="t">
            <a:noAutofit/>
          </a:bodyPr>
          <a:lstStyle/>
          <a:p>
            <a:pPr algn="ctr">
              <a:buNone/>
              <a:defRPr sz="2175" b="0">
                <a:solidFill>
                  <a:srgbClr val="24323E"/>
                </a:solidFill>
                <a:latin typeface="Calibri"/>
                <a:ea typeface="Calibri"/>
                <a:cs typeface="Calibri"/>
              </a:defRPr>
            </a:pPr>
            <a:r>
              <a:rPr sz="2175" b="0">
                <a:solidFill>
                  <a:srgbClr val="24323E"/>
                </a:solidFill>
                <a:latin typeface="Calibri"/>
                <a:ea typeface="Calibri"/>
                <a:cs typeface="Calibri"/>
              </a:rPr>
              <a:t>Wednesday: Cleaning Clinic</a:t>
            </a:r>
          </a:p>
          <a:p>
            <a:pPr algn="ctr">
              <a:buNone/>
              <a:defRPr sz="2175" b="0">
                <a:solidFill>
                  <a:srgbClr val="24323E"/>
                </a:solidFill>
                <a:latin typeface="Calibri"/>
                <a:ea typeface="Calibri"/>
                <a:cs typeface="Calibri"/>
              </a:defRPr>
            </a:pPr>
            <a:r>
              <a:rPr sz="2175" b="0">
                <a:solidFill>
                  <a:srgbClr val="24323E"/>
                </a:solidFill>
                <a:latin typeface="Calibri"/>
                <a:ea typeface="Calibri"/>
                <a:cs typeface="Calibri"/>
              </a:rPr>
              <a:t>Friday: Cleaning Gauntlet</a:t>
            </a:r>
          </a:p>
        </p:txBody>
      </p:sp>
    </p:spTree>
    <p:extLst>
      <p:ext uri="{BB962C8B-B14F-4D97-AF65-F5344CB8AC3E}">
        <p14:creationId xmlns:p14="http://schemas.microsoft.com/office/powerpoint/2010/main" val="1841581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4198</Words>
  <Application>Microsoft Macintosh PowerPoint</Application>
  <DocSecurity>0</DocSecurity>
  <PresentationFormat>Widescreen</PresentationFormat>
  <Paragraphs>405</Paragraphs>
  <Slides>24</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Wingdings</vt:lpstr>
      <vt:lpstr>Office Theme</vt:lpstr>
      <vt:lpstr>DS-2002: Data Cleaning</vt:lpstr>
      <vt:lpstr>What are we trying to do today?</vt:lpstr>
      <vt:lpstr>The data we’ll use</vt:lpstr>
      <vt:lpstr>The challenge</vt:lpstr>
      <vt:lpstr>Today’s work</vt:lpstr>
      <vt:lpstr>When the code runs and the answer is wrong</vt:lpstr>
      <vt:lpstr>The data-quality questions</vt:lpstr>
      <vt:lpstr>The inspection routine</vt:lpstr>
      <vt:lpstr>What does one row represent?</vt:lpstr>
      <vt:lpstr>Missing values need an explanation</vt:lpstr>
      <vt:lpstr>Two meanings of “duplicate”</vt:lpstr>
      <vt:lpstr>A price column still needs a definition</vt:lpstr>
      <vt:lpstr>PowerPoint Presentation</vt:lpstr>
      <vt:lpstr>Eight rows we can check by eye</vt:lpstr>
      <vt:lpstr>Type conversion and coercion</vt:lpstr>
      <vt:lpstr>Gross sales and net sales</vt:lpstr>
      <vt:lpstr>Text cleanup has two kinds of rules</vt:lpstr>
      <vt:lpstr>Dates need parsing and a policy</vt:lpstr>
      <vt:lpstr>Why the repair order matters</vt:lpstr>
      <vt:lpstr>Assertions state what must be true</vt:lpstr>
      <vt:lpstr>The Chipotle cleaning report</vt:lpstr>
      <vt:lpstr>Saving the result in Colab</vt:lpstr>
      <vt:lpstr>Your turn: two questions to defend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Jason Williamson</cp:lastModifiedBy>
  <cp:revision>1</cp:revision>
  <dcterms:created xsi:type="dcterms:W3CDTF">2026-09-21T03:51:39Z</dcterms:created>
  <dcterms:modified xsi:type="dcterms:W3CDTF">2026-09-21T13:04:03Z</dcterms:modified>
</cp:coreProperties>
</file>